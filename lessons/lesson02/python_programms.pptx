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1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6" r:id="rId18"/>
    <p:sldId id="315" r:id="rId19"/>
    <p:sldId id="317" r:id="rId20"/>
    <p:sldId id="318" r:id="rId21"/>
    <p:sldId id="319" r:id="rId22"/>
    <p:sldId id="320" r:id="rId23"/>
    <p:sldId id="281" r:id="rId24"/>
    <p:sldId id="321" r:id="rId25"/>
    <p:sldId id="322" r:id="rId26"/>
    <p:sldId id="323" r:id="rId27"/>
    <p:sldId id="324" r:id="rId28"/>
    <p:sldId id="283" r:id="rId29"/>
    <p:sldId id="285" r:id="rId30"/>
    <p:sldId id="286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292" r:id="rId39"/>
    <p:sldId id="293" r:id="rId40"/>
    <p:sldId id="295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04" r:id="rId54"/>
    <p:sldId id="306" r:id="rId55"/>
    <p:sldId id="307" r:id="rId56"/>
    <p:sldId id="308" r:id="rId57"/>
    <p:sldId id="309" r:id="rId58"/>
    <p:sldId id="311" r:id="rId59"/>
    <p:sldId id="314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7CB683"/>
    <a:srgbClr val="A05900"/>
    <a:srgbClr val="C09D2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commentAuthors" Target="commentAuthors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135" y="1450340"/>
            <a:ext cx="9269095" cy="2859405"/>
          </a:xfrm>
        </p:spPr>
        <p:txBody>
          <a:bodyPr>
            <a:normAutofit/>
          </a:bodyPr>
          <a:lstStyle/>
          <a:p>
            <a:r>
              <a:rPr lang="ru-RU"/>
              <a:t>Анатомия</a:t>
            </a:r>
            <a:br>
              <a:rPr lang="ru-RU"/>
            </a:br>
            <a:r>
              <a:t>Python</a:t>
            </a:r>
            <a:r>
              <a:rPr lang="ru-RU"/>
              <a:t>-программ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5260" y="4740275"/>
            <a:ext cx="5664835" cy="640715"/>
          </a:xfrm>
        </p:spPr>
        <p:txBody>
          <a:bodyPr>
            <a:noAutofit/>
          </a:bodyPr>
          <a:lstStyle/>
          <a:p>
            <a:r>
              <a:rPr sz="2200"/>
              <a:t>Докладчик: Евграфов Михаил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80" y="1729740"/>
            <a:ext cx="9799320" cy="2056765"/>
          </a:xfrm>
        </p:spPr>
        <p:txBody>
          <a:bodyPr/>
          <a:lstStyle/>
          <a:p>
            <a:r>
              <a:t>Запуск программ на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Режимы работы и</a:t>
            </a:r>
            <a:r>
              <a:t>нтерпретатор</a:t>
            </a:r>
            <a:r>
              <a:rPr lang="ru-RU"/>
              <a:t>а</a:t>
            </a:r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4636008" y="1691640"/>
            <a:ext cx="2926080" cy="9144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chemeClr val="lt1"/>
                </a:solidFill>
              </a:rPr>
              <a:t>python</a:t>
            </a:r>
            <a:endParaRPr sz="2400" b="1" i="0">
              <a:solidFill>
                <a:schemeClr val="lt1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 flipH="1">
            <a:off x="4178808" y="2588260"/>
            <a:ext cx="1199515" cy="84074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32888" y="3429000"/>
            <a:ext cx="3291840" cy="100584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ru-RU" sz="2400" b="1">
                <a:sym typeface="+mn-ea"/>
              </a:rPr>
              <a:t>И</a:t>
            </a:r>
            <a:r>
              <a:rPr sz="2400" b="1">
                <a:sym typeface="+mn-ea"/>
              </a:rPr>
              <a:t>нтерактивный</a:t>
            </a:r>
            <a:r>
              <a:rPr lang="ru-RU" sz="2400" b="1">
                <a:sym typeface="+mn-ea"/>
              </a:rPr>
              <a:t>:</a:t>
            </a:r>
            <a:endParaRPr sz="2400" b="1" i="0">
              <a:solidFill>
                <a:schemeClr val="lt1"/>
              </a:solidFill>
            </a:endParaRPr>
          </a:p>
          <a:p>
            <a:pPr algn="ctr"/>
            <a:r>
              <a:rPr sz="2400" b="1" i="0">
                <a:solidFill>
                  <a:schemeClr val="lt1"/>
                </a:solidFill>
              </a:rPr>
              <a:t>REPL</a:t>
            </a:r>
            <a:endParaRPr sz="2400" b="1" i="0">
              <a:solidFill>
                <a:schemeClr val="lt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817233" y="2553970"/>
            <a:ext cx="1202055" cy="87503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73368" y="3429000"/>
            <a:ext cx="3291840" cy="100584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ru-RU" sz="2400" b="1">
                <a:sym typeface="+mn-ea"/>
              </a:rPr>
              <a:t>П</a:t>
            </a:r>
            <a:r>
              <a:rPr sz="2400" b="1">
                <a:sym typeface="+mn-ea"/>
              </a:rPr>
              <a:t>акетный</a:t>
            </a:r>
            <a:endParaRPr sz="2400" b="1" i="0">
              <a:solidFill>
                <a:schemeClr val="lt1"/>
              </a:solidFill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7" grpId="0" bldLvl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REPL: Read – Eval – Print –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2697480"/>
            <a:ext cx="2503170" cy="10972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i="0">
                <a:solidFill>
                  <a:schemeClr val="lt1"/>
                </a:solidFill>
              </a:rPr>
              <a:t>Read</a:t>
            </a:r>
            <a:endParaRPr sz="2800" b="1" i="0">
              <a:solidFill>
                <a:schemeClr val="lt1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115818" y="324612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35858" y="2697480"/>
            <a:ext cx="2503170" cy="10972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i="0">
                <a:solidFill>
                  <a:schemeClr val="lt1"/>
                </a:solidFill>
              </a:rPr>
              <a:t>Eval</a:t>
            </a:r>
            <a:endParaRPr sz="2800" b="1" i="0">
              <a:solidFill>
                <a:schemeClr val="lt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39027" y="324612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59068" y="2697480"/>
            <a:ext cx="2503170" cy="109728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i="0">
                <a:solidFill>
                  <a:schemeClr val="lt1"/>
                </a:solidFill>
              </a:rPr>
              <a:t>Print</a:t>
            </a:r>
            <a:endParaRPr sz="2800" b="1" i="0">
              <a:solidFill>
                <a:schemeClr val="lt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762238" y="324612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82278" y="2697480"/>
            <a:ext cx="2503170" cy="10972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i="0">
                <a:solidFill>
                  <a:schemeClr val="lt1"/>
                </a:solidFill>
              </a:rPr>
              <a:t>Loop</a:t>
            </a:r>
            <a:endParaRPr sz="2800" b="1" i="0">
              <a:solidFill>
                <a:schemeClr val="lt1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64232" y="3794760"/>
            <a:ext cx="0" cy="548639"/>
          </a:xfrm>
          <a:prstGeom prst="bentConnector3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ое соединение 12"/>
          <p:cNvCxnSpPr>
            <a:stCxn id="9" idx="2"/>
          </p:cNvCxnSpPr>
          <p:nvPr/>
        </p:nvCxnSpPr>
        <p:spPr>
          <a:xfrm>
            <a:off x="10333990" y="3794760"/>
            <a:ext cx="0" cy="5562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ое соединение 13"/>
          <p:cNvCxnSpPr/>
          <p:nvPr/>
        </p:nvCxnSpPr>
        <p:spPr>
          <a:xfrm>
            <a:off x="1852295" y="4351020"/>
            <a:ext cx="8490585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Замещающий номер слайда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7" grpId="0" bldLvl="0" animBg="1"/>
      <p:bldP spid="7" grpId="1" animBg="1"/>
      <p:bldP spid="9" grpId="0" bldLvl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Что умеет REPL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8330" y="1556385"/>
            <a:ext cx="3780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вывод без </a:t>
            </a: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print()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2060575"/>
            <a:ext cx="1724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</a:t>
            </a:r>
            <a:r>
              <a:rPr>
                <a:solidFill>
                  <a:schemeClr val="tx1">
                    <a:lumMod val="55000"/>
                    <a:lumOff val="45000"/>
                  </a:schemeClr>
                </a:solidFill>
                <a:latin typeface="Consolas" panose="020B0609020204030204"/>
                <a:sym typeface="+mn-ea"/>
              </a:rPr>
              <a:t>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>
                <a:latin typeface="Consolas" panose="020B0609020204030204"/>
                <a:sym typeface="+mn-ea"/>
              </a:rPr>
              <a:t> +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3</a:t>
            </a:r>
            <a:endParaRPr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5</a:t>
            </a:r>
            <a:endParaRPr lang="ru-RU" altLang="en-US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08330" y="3506470"/>
            <a:ext cx="2551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переменная _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08330" y="4005580"/>
            <a:ext cx="17246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10</a:t>
            </a: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 *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5</a:t>
            </a:r>
            <a:endParaRPr>
              <a:solidFill>
                <a:schemeClr val="tx1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50</a:t>
            </a:r>
            <a:endParaRPr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 </a:t>
            </a:r>
            <a:r>
              <a:rPr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_</a:t>
            </a: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 +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1</a:t>
            </a:r>
            <a:endParaRPr>
              <a:solidFill>
                <a:schemeClr val="tx1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51</a:t>
            </a:r>
            <a:endParaRPr lang="ru-RU" altLang="en-US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961890" y="2060575"/>
            <a:ext cx="38144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 </a:t>
            </a:r>
            <a:r>
              <a:rPr>
                <a:solidFill>
                  <a:schemeClr val="accent6"/>
                </a:solidFill>
                <a:latin typeface="Consolas" panose="020B0609020204030204"/>
                <a:sym typeface="+mn-ea"/>
              </a:rPr>
              <a:t>if</a:t>
            </a: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3</a:t>
            </a: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 &gt; </a:t>
            </a:r>
            <a:r>
              <a:rPr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:</a:t>
            </a:r>
            <a:endParaRPr>
              <a:solidFill>
                <a:schemeClr val="tx1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...     </a:t>
            </a:r>
            <a:r>
              <a:rPr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>
                <a:solidFill>
                  <a:schemeClr val="accent5"/>
                </a:solidFill>
                <a:latin typeface="Consolas" panose="020B0609020204030204"/>
                <a:sym typeface="+mn-ea"/>
              </a:rPr>
              <a:t>"greater"</a:t>
            </a:r>
            <a:r>
              <a:rPr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>
              <a:solidFill>
                <a:schemeClr val="tx1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...</a:t>
            </a:r>
            <a:endParaRPr>
              <a:solidFill>
                <a:schemeClr val="tx1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  <a:latin typeface="Consolas" panose="020B0609020204030204"/>
                <a:sym typeface="+mn-ea"/>
              </a:rPr>
              <a:t>greater</a:t>
            </a:r>
            <a:endParaRPr lang="ru-RU" altLang="en-US">
              <a:solidFill>
                <a:schemeClr val="tx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4961890" y="3506470"/>
            <a:ext cx="2077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sz="2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help() / dir()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961890" y="4005580"/>
            <a:ext cx="63703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ru-RU"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 </a:t>
            </a:r>
            <a:r>
              <a:rPr lang="en-US" altLang="ru-RU">
                <a:solidFill>
                  <a:schemeClr val="accent3"/>
                </a:solidFill>
                <a:latin typeface="Consolas" panose="020B0609020204030204"/>
                <a:sym typeface="+mn-ea"/>
              </a:rPr>
              <a:t>help</a:t>
            </a:r>
            <a:r>
              <a:rPr lang="en-US" altLang="ru-RU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lang="en-US" altLang="ru-RU">
                <a:solidFill>
                  <a:schemeClr val="accent3"/>
                </a:solidFill>
                <a:latin typeface="Consolas" panose="020B0609020204030204"/>
                <a:sym typeface="+mn-ea"/>
              </a:rPr>
              <a:t>len</a:t>
            </a:r>
            <a:r>
              <a:rPr lang="en-US" altLang="ru-RU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lang="en-US" altLang="ru-RU">
              <a:solidFill>
                <a:schemeClr val="tx1"/>
              </a:solidFill>
              <a:latin typeface="Consolas" panose="020B0609020204030204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ru-RU">
                <a:solidFill>
                  <a:schemeClr val="tx1"/>
                </a:solidFill>
                <a:latin typeface="Consolas" panose="020B0609020204030204"/>
                <a:sym typeface="+mn-ea"/>
              </a:rPr>
              <a:t>Help on built-in function len in module builtins:</a:t>
            </a:r>
            <a:endParaRPr lang="en-US" altLang="ru-RU">
              <a:solidFill>
                <a:schemeClr val="tx1"/>
              </a:solidFill>
              <a:latin typeface="Consolas" panose="020B0609020204030204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ru-RU">
              <a:solidFill>
                <a:schemeClr val="tx1"/>
              </a:solidFill>
              <a:latin typeface="Consolas" panose="020B0609020204030204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ru-RU">
                <a:solidFill>
                  <a:schemeClr val="tx1"/>
                </a:solidFill>
                <a:latin typeface="Consolas" panose="020B0609020204030204"/>
                <a:sym typeface="+mn-ea"/>
              </a:rPr>
              <a:t>len(obj, /)</a:t>
            </a:r>
            <a:endParaRPr lang="en-US" altLang="ru-RU">
              <a:solidFill>
                <a:schemeClr val="tx1"/>
              </a:solidFill>
              <a:latin typeface="Consolas" panose="020B0609020204030204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ru-RU">
                <a:solidFill>
                  <a:schemeClr val="tx1"/>
                </a:solidFill>
                <a:latin typeface="Consolas" panose="020B0609020204030204"/>
                <a:sym typeface="+mn-ea"/>
              </a:rPr>
              <a:t>    Return the number of items in a container.</a:t>
            </a:r>
            <a:endParaRPr lang="en-US" altLang="ru-RU">
              <a:solidFill>
                <a:schemeClr val="tx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4961890" y="1556385"/>
            <a:ext cx="3780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>
                <a:solidFill>
                  <a:schemeClr val="tx1">
                    <a:lumMod val="65000"/>
                    <a:lumOff val="35000"/>
                  </a:schemeClr>
                </a:solidFill>
              </a:rPr>
              <a:t>многострочный ввод</a:t>
            </a:r>
            <a:endParaRPr lang="ru-RU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  <p:bldP spid="9" grpId="0"/>
      <p:bldP spid="10" grpId="0"/>
      <p:bldP spid="9" grpId="1"/>
      <p:bldP spid="10" grpId="1"/>
      <p:bldP spid="17" grpId="0"/>
      <p:bldP spid="12" grpId="0"/>
      <p:bldP spid="17" grpId="1"/>
      <p:bldP spid="12" grpId="1"/>
      <p:bldP spid="14" grpId="0"/>
      <p:bldP spid="16" grpId="0"/>
      <p:bldP spid="14" grpId="1"/>
      <p:bldP spid="1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REPL: плюсы и минусы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600200"/>
            <a:ext cx="5303520" cy="82296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 b="1" i="0">
                <a:solidFill>
                  <a:schemeClr val="lt1"/>
                </a:solidFill>
              </a:rPr>
              <a:t>Хорош для</a:t>
            </a:r>
            <a:endParaRPr sz="3200" b="1" i="0">
              <a:solidFill>
                <a:schemeClr val="lt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2606040"/>
            <a:ext cx="5303520" cy="1002792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эксперименты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3718560"/>
            <a:ext cx="5303520" cy="1002792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проверка поведения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4831080"/>
            <a:ext cx="5303520" cy="1002792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изучение объектов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81928" y="1600200"/>
            <a:ext cx="5303520" cy="82296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 b="1" i="0">
                <a:solidFill>
                  <a:schemeClr val="lt1"/>
                </a:solidFill>
              </a:rPr>
              <a:t>Не годится для</a:t>
            </a:r>
            <a:endParaRPr sz="3200" b="1" i="0">
              <a:solidFill>
                <a:schemeClr val="lt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81928" y="2606040"/>
            <a:ext cx="5303520" cy="100279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большие программы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81928" y="3718560"/>
            <a:ext cx="5303520" cy="100279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повторный запуск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81928" y="4831080"/>
            <a:ext cx="5303520" cy="100279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командная работа</a:t>
            </a:r>
            <a:endParaRPr sz="2400" b="0" i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Пакетный режим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8330" y="1625600"/>
            <a:ext cx="132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REPL</a:t>
            </a:r>
            <a:endParaRPr lang="en-US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2459355"/>
            <a:ext cx="43935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sz="2800">
                <a:solidFill>
                  <a:schemeClr val="tx1"/>
                </a:solidFill>
                <a:latin typeface="Consolas" panose="020B0609020204030204"/>
                <a:sym typeface="+mn-ea"/>
              </a:rPr>
              <a:t>&gt;&gt;&gt;</a:t>
            </a:r>
            <a:r>
              <a:rPr sz="2800">
                <a:solidFill>
                  <a:schemeClr val="tx1">
                    <a:lumMod val="55000"/>
                    <a:lumOff val="45000"/>
                  </a:schemeClr>
                </a:solidFill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+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3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5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endParaRPr lang="ru-RU" altLang="en-US" sz="2800">
              <a:solidFill>
                <a:schemeClr val="accent4"/>
              </a:solidFill>
              <a:latin typeface="Consolas" panose="020B0609020204030204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099810" y="1625600"/>
            <a:ext cx="2465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Скрипт </a:t>
            </a:r>
            <a:r>
              <a:rPr lang="en-US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.py</a:t>
            </a:r>
            <a:endParaRPr lang="en-US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099810" y="2459355"/>
            <a:ext cx="439356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#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содержимое 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five.py</a:t>
            </a:r>
            <a:endParaRPr sz="2800">
              <a:solidFill>
                <a:schemeClr val="accent4"/>
              </a:solidFill>
              <a:latin typeface="Consolas" panose="020B0609020204030204"/>
              <a:sym typeface="+mn-ea"/>
            </a:endParaRPr>
          </a:p>
          <a:p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+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  <a:p>
            <a:endParaRPr lang="ru-RU" altLang="en-US"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# </a:t>
            </a:r>
            <a:r>
              <a:rPr lang="ru-RU" altLang="en-US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вызов в терминале</a:t>
            </a:r>
            <a:endParaRPr lang="ru-RU" altLang="en-US" sz="2800">
              <a:solidFill>
                <a:schemeClr val="accent4"/>
              </a:solidFill>
              <a:latin typeface="Consolas" panose="020B0609020204030204"/>
              <a:sym typeface="+mn-ea"/>
            </a:endParaRPr>
          </a:p>
          <a:p>
            <a:r>
              <a:rPr sz="2800">
                <a:latin typeface="Consolas" panose="020B0609020204030204"/>
                <a:sym typeface="+mn-ea"/>
              </a:rPr>
              <a:t>$ python </a:t>
            </a:r>
            <a:r>
              <a:rPr lang="en-US" sz="2800">
                <a:latin typeface="Consolas" panose="020B0609020204030204"/>
                <a:sym typeface="+mn-ea"/>
              </a:rPr>
              <a:t>add</a:t>
            </a:r>
            <a:r>
              <a:rPr sz="2800">
                <a:latin typeface="Consolas" panose="020B0609020204030204"/>
                <a:sym typeface="+mn-ea"/>
              </a:rPr>
              <a:t>.py</a:t>
            </a:r>
            <a:endParaRPr sz="2800">
              <a:latin typeface="Consolas" panose="020B0609020204030204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Consolas" panose="020B0609020204030204"/>
                <a:sym typeface="+mn-ea"/>
              </a:rPr>
              <a:t>5</a:t>
            </a:r>
            <a:endParaRPr lang="ru-RU" altLang="en-US" sz="2800">
              <a:solidFill>
                <a:schemeClr val="tx1"/>
              </a:solidFill>
              <a:latin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Полезные способы запуска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64592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2800" b="1"/>
                        <a:t>Команда</a:t>
                      </a:r>
                      <a:endParaRPr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/>
                        <a:t>Что делает</a:t>
                      </a:r>
                      <a:endParaRPr sz="2800" b="1"/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python script.py</a:t>
                      </a:r>
                      <a:endParaRPr sz="2000">
                        <a:solidFill>
                          <a:schemeClr val="tx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выполнить файл-скрипт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python</a:t>
                      </a:r>
                      <a:endParaRPr sz="2000">
                        <a:solidFill>
                          <a:schemeClr val="tx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запустить REPL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python -c "print(2 + 3)"</a:t>
                      </a:r>
                      <a:endParaRPr sz="2000">
                        <a:solidFill>
                          <a:schemeClr val="tx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код прямо из командной строки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python -m http.server</a:t>
                      </a:r>
                      <a:endParaRPr sz="2000">
                        <a:solidFill>
                          <a:schemeClr val="tx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запустить модуль как программу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python -i script.py</a:t>
                      </a:r>
                      <a:endParaRPr sz="2000">
                        <a:solidFill>
                          <a:schemeClr val="tx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выполнить и остаться в REPL</a:t>
                      </a:r>
                      <a:endParaRPr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.pyc и __pycache__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68450" y="2434590"/>
            <a:ext cx="2978150" cy="185039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i="0">
                <a:solidFill>
                  <a:schemeClr val="lt1"/>
                </a:solidFill>
              </a:rPr>
              <a:t>hello.py</a:t>
            </a:r>
            <a:endParaRPr sz="2800" b="1" i="0">
              <a:solidFill>
                <a:schemeClr val="l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16825" y="2434590"/>
            <a:ext cx="2978150" cy="185039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 i="0">
                <a:solidFill>
                  <a:schemeClr val="lt1"/>
                </a:solidFill>
              </a:rPr>
              <a:t>__pycache__/</a:t>
            </a:r>
            <a:endParaRPr sz="2000" b="1" i="0">
              <a:solidFill>
                <a:schemeClr val="lt1"/>
              </a:solidFill>
            </a:endParaRPr>
          </a:p>
          <a:p>
            <a:pPr algn="ctr"/>
            <a:r>
              <a:rPr sz="2000" b="1" i="0">
                <a:solidFill>
                  <a:schemeClr val="lt1"/>
                </a:solidFill>
              </a:rPr>
              <a:t>hello.cpython.pyc</a:t>
            </a:r>
            <a:endParaRPr sz="2000" b="1" i="0">
              <a:solidFill>
                <a:schemeClr val="lt1"/>
              </a:solidFill>
            </a:endParaRPr>
          </a:p>
        </p:txBody>
      </p: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4546473" y="3360039"/>
            <a:ext cx="307022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72330" y="2869883"/>
            <a:ext cx="28194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python hello.py</a:t>
            </a:r>
            <a:endParaRPr sz="2000" b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ldLvl="0" animBg="1"/>
      <p:bldP spid="8" grpId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80" y="1818005"/>
            <a:ext cx="9799320" cy="1833880"/>
          </a:xfrm>
        </p:spPr>
        <p:txBody>
          <a:bodyPr/>
          <a:lstStyle/>
          <a:p>
            <a:r>
              <a:rPr sz="5400"/>
              <a:t>Как интерпретатор запускает программу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Конвейер: от текста к результату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2857500"/>
            <a:ext cx="2503170" cy="1188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chemeClr val="lt1"/>
                </a:solidFill>
              </a:rPr>
              <a:t>Чтение</a:t>
            </a:r>
            <a:endParaRPr sz="2400" b="1" i="0">
              <a:solidFill>
                <a:schemeClr val="l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4072065"/>
            <a:ext cx="250317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chemeClr val="tx1">
                    <a:lumMod val="55000"/>
                    <a:lumOff val="45000"/>
                  </a:schemeClr>
                </a:solidFill>
              </a:rPr>
              <a:t>текст</a:t>
            </a:r>
            <a:endParaRPr sz="2400" b="0" i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115818" y="345186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35858" y="2857500"/>
            <a:ext cx="250317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chemeClr val="lt1"/>
                </a:solidFill>
              </a:rPr>
              <a:t>Парсинг</a:t>
            </a:r>
            <a:endParaRPr sz="2400" b="1" i="0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5858" y="4072065"/>
            <a:ext cx="250317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chemeClr val="tx1">
                    <a:lumMod val="55000"/>
                    <a:lumOff val="45000"/>
                  </a:schemeClr>
                </a:solidFill>
              </a:rPr>
              <a:t>AST</a:t>
            </a:r>
            <a:endParaRPr sz="2400" b="0" i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939027" y="345186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59068" y="2857500"/>
            <a:ext cx="2503170" cy="1188720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chemeClr val="lt1"/>
                </a:solidFill>
              </a:rPr>
              <a:t>Компиляция</a:t>
            </a:r>
            <a:endParaRPr sz="2400" b="1" i="0"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9068" y="4072065"/>
            <a:ext cx="250317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chemeClr val="tx1">
                    <a:lumMod val="55000"/>
                    <a:lumOff val="45000"/>
                  </a:schemeClr>
                </a:solidFill>
              </a:rPr>
              <a:t>байткод</a:t>
            </a:r>
            <a:endParaRPr sz="2400" b="0" i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762238" y="3451860"/>
            <a:ext cx="3200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82278" y="2857500"/>
            <a:ext cx="250317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chemeClr val="lt1"/>
                </a:solidFill>
              </a:rPr>
              <a:t>Исполнение</a:t>
            </a:r>
            <a:endParaRPr sz="2400" b="1" i="0">
              <a:solidFill>
                <a:schemeClr val="l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82278" y="4072065"/>
            <a:ext cx="250317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chemeClr val="tx1">
                    <a:lumMod val="55000"/>
                    <a:lumOff val="45000"/>
                  </a:schemeClr>
                </a:solidFill>
              </a:rPr>
              <a:t>результат</a:t>
            </a:r>
            <a:endParaRPr sz="2400" b="0" i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4" name="Замещающий 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 animBg="1"/>
      <p:bldP spid="6" grpId="1" animBg="1"/>
      <p:bldP spid="7" grpId="0"/>
      <p:bldP spid="7" grpId="1"/>
      <p:bldP spid="9" grpId="0" bldLvl="0" animBg="1"/>
      <p:bldP spid="9" grpId="1" animBg="1"/>
      <p:bldP spid="10" grpId="0"/>
      <p:bldP spid="10" grpId="1"/>
      <p:bldP spid="12" grpId="0" bldLvl="0" animBg="1"/>
      <p:bldP spid="12" grpId="1" animBg="1"/>
      <p:bldP spid="13" grpId="0"/>
      <p:bldP spid="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Парсинг: </a:t>
            </a:r>
            <a:r>
              <a:t>Лексический анализ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330" y="1705610"/>
            <a:ext cx="5965825" cy="336359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sz="2400"/>
              <a:t>лексер </a:t>
            </a:r>
            <a:r>
              <a:rPr lang="ru-RU" sz="2400"/>
              <a:t>разбивает </a:t>
            </a:r>
            <a:r>
              <a:rPr sz="2400"/>
              <a:t>текст на токены</a:t>
            </a:r>
            <a:endParaRPr sz="2400"/>
          </a:p>
          <a:p>
            <a:pPr>
              <a:lnSpc>
                <a:spcPct val="200000"/>
              </a:lnSpc>
            </a:pPr>
            <a:r>
              <a:rPr sz="2400"/>
              <a:t>пробелы отбрасываются</a:t>
            </a:r>
            <a:endParaRPr sz="2400"/>
          </a:p>
          <a:p>
            <a:pPr>
              <a:lnSpc>
                <a:spcPct val="200000"/>
              </a:lnSpc>
            </a:pPr>
            <a:r>
              <a:rPr sz="2400"/>
              <a:t>отступы → INDENT / DEDENT</a:t>
            </a:r>
            <a:endParaRPr sz="2400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7129145" y="1654175"/>
            <a:ext cx="4176395" cy="4312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400">
                <a:solidFill>
                  <a:schemeClr val="accent4"/>
                </a:solidFill>
                <a:latin typeface="Consolas" panose="020B0609020204030204"/>
                <a:sym typeface="+mn-ea"/>
              </a:rPr>
              <a:t># </a:t>
            </a:r>
            <a:r>
              <a:rPr lang="ru-RU" sz="2400">
                <a:solidFill>
                  <a:schemeClr val="accent4"/>
                </a:solidFill>
                <a:latin typeface="Consolas" panose="020B0609020204030204"/>
                <a:sym typeface="+mn-ea"/>
              </a:rPr>
              <a:t>исходный код</a:t>
            </a:r>
            <a:endParaRPr sz="2400">
              <a:solidFill>
                <a:schemeClr val="accent4"/>
              </a:solidFill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total</a:t>
            </a:r>
            <a:r>
              <a:rPr sz="2400">
                <a:latin typeface="Consolas" panose="020B0609020204030204"/>
                <a:sym typeface="+mn-ea"/>
              </a:rPr>
              <a:t> = </a:t>
            </a: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r>
              <a:rPr sz="2400">
                <a:latin typeface="Consolas" panose="020B0609020204030204"/>
                <a:sym typeface="+mn-ea"/>
              </a:rPr>
              <a:t> *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endParaRPr sz="2400"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buNone/>
            </a:pPr>
            <a:endParaRPr sz="2400"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r>
              <a:rPr lang="en-US" sz="2400">
                <a:solidFill>
                  <a:schemeClr val="accent4"/>
                </a:solidFill>
                <a:latin typeface="Consolas" panose="020B0609020204030204"/>
              </a:rPr>
              <a:t># </a:t>
            </a:r>
            <a:r>
              <a:rPr lang="ru-RU" sz="2400">
                <a:solidFill>
                  <a:schemeClr val="accent4"/>
                </a:solidFill>
                <a:latin typeface="Consolas" panose="020B0609020204030204"/>
              </a:rPr>
              <a:t>токенизация</a:t>
            </a:r>
            <a:endParaRPr sz="2400"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NAME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sym typeface="+mn-ea"/>
              </a:rPr>
              <a:t>'total'</a:t>
            </a:r>
            <a:endParaRPr sz="24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OP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sym typeface="+mn-ea"/>
              </a:rPr>
              <a:t>'='</a:t>
            </a:r>
            <a:endParaRPr sz="24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NAME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sym typeface="+mn-ea"/>
              </a:rPr>
              <a:t>'price'</a:t>
            </a:r>
            <a:endParaRPr sz="24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OP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sym typeface="+mn-ea"/>
              </a:rPr>
              <a:t>'*'</a:t>
            </a:r>
            <a:endParaRPr sz="24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NUMBER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sym typeface="+mn-ea"/>
              </a:rPr>
              <a:t>'2'</a:t>
            </a:r>
            <a:endParaRPr sz="24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NEWLINE</a:t>
            </a:r>
            <a:endParaRPr sz="2400">
              <a:latin typeface="Consolas" panose="020B0609020204030204"/>
            </a:endParaRPr>
          </a:p>
          <a:p>
            <a:endParaRPr lang="ru-RU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Парсинг: </a:t>
            </a:r>
            <a:r>
              <a:t>Синтаксический анализ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330" y="1725930"/>
            <a:ext cx="8728710" cy="3164205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sz="3200"/>
              <a:t>парсер проверяет грамматику</a:t>
            </a:r>
            <a:endParaRPr sz="3200"/>
          </a:p>
          <a:p>
            <a:pPr>
              <a:lnSpc>
                <a:spcPct val="200000"/>
              </a:lnSpc>
            </a:pPr>
            <a:r>
              <a:rPr sz="3200"/>
              <a:t>строит дерево AST</a:t>
            </a:r>
            <a:endParaRPr sz="3200"/>
          </a:p>
          <a:p>
            <a:pPr>
              <a:lnSpc>
                <a:spcPct val="200000"/>
              </a:lnSpc>
            </a:pPr>
            <a:r>
              <a:rPr sz="3200"/>
              <a:t>ошибка → SyntaxError</a:t>
            </a:r>
            <a:endParaRPr sz="3200"/>
          </a:p>
        </p:txBody>
      </p:sp>
      <p:sp>
        <p:nvSpPr>
          <p:cNvPr id="8" name="Замещающий 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Компиляция в байткод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3162935"/>
            <a:ext cx="4419600" cy="968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400">
                <a:solidFill>
                  <a:schemeClr val="accent1"/>
                </a:solidFill>
                <a:latin typeface="Consolas" panose="020B0609020204030204"/>
                <a:sym typeface="+mn-ea"/>
              </a:rPr>
              <a:t>def</a:t>
            </a:r>
            <a:r>
              <a:rPr sz="2400">
                <a:latin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sym typeface="+mn-ea"/>
              </a:rPr>
              <a:t>total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r>
              <a:rPr sz="2400">
                <a:latin typeface="Consolas" panose="020B0609020204030204"/>
                <a:sym typeface="+mn-ea"/>
              </a:rPr>
              <a:t>:</a:t>
            </a:r>
            <a:endParaRPr sz="2400"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   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sym typeface="+mn-ea"/>
              </a:rPr>
              <a:t>return</a:t>
            </a:r>
            <a:r>
              <a:rPr sz="2400">
                <a:latin typeface="Consolas" panose="020B0609020204030204"/>
                <a:sym typeface="+mn-ea"/>
              </a:rPr>
              <a:t> </a:t>
            </a: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r>
              <a:rPr sz="2400">
                <a:latin typeface="Consolas" panose="020B0609020204030204"/>
                <a:sym typeface="+mn-ea"/>
              </a:rPr>
              <a:t> *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endParaRPr sz="2400">
              <a:solidFill>
                <a:schemeClr val="accent2"/>
              </a:solidFill>
              <a:latin typeface="Consolas" panose="020B0609020204030204"/>
            </a:endParaRPr>
          </a:p>
          <a:p>
            <a:endParaRPr lang="ru-RU" altLang="en-US" sz="240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837045" y="2879725"/>
            <a:ext cx="3768725" cy="174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LOAD_FAST     </a:t>
            </a: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endParaRPr sz="2400"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LOAD_CONST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endParaRPr sz="24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BINARY_OP     *</a:t>
            </a:r>
            <a:endParaRPr sz="2400">
              <a:latin typeface="Consolas" panose="020B0609020204030204"/>
            </a:endParaRPr>
          </a:p>
          <a:p>
            <a:pPr marL="0" indent="0">
              <a:buNone/>
            </a:pPr>
            <a:r>
              <a:rPr sz="2400">
                <a:latin typeface="Consolas" panose="020B0609020204030204"/>
                <a:sym typeface="+mn-ea"/>
              </a:rPr>
              <a:t>RETURN_VALUE</a:t>
            </a:r>
            <a:endParaRPr sz="2400">
              <a:latin typeface="Consolas" panose="020B0609020204030204"/>
            </a:endParaRPr>
          </a:p>
          <a:p>
            <a:endParaRPr lang="ru-RU" altLang="en-US" sz="240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608330" y="1660525"/>
            <a:ext cx="3596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Исходный код</a:t>
            </a:r>
            <a:endParaRPr lang="ru-RU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837045" y="1660525"/>
            <a:ext cx="3596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Байткод</a:t>
            </a:r>
            <a:endParaRPr lang="ru-RU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Connector 7"/>
          <p:cNvCxnSpPr/>
          <p:nvPr/>
        </p:nvCxnSpPr>
        <p:spPr>
          <a:xfrm>
            <a:off x="4755387" y="3650615"/>
            <a:ext cx="1681480" cy="317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Текстовое поле 14"/>
          <p:cNvSpPr txBox="1"/>
          <p:nvPr/>
        </p:nvSpPr>
        <p:spPr>
          <a:xfrm>
            <a:off x="4690745" y="3202305"/>
            <a:ext cx="1811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компиляция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9" grpId="0"/>
      <p:bldP spid="12" grpId="1"/>
      <p:bldP spid="15" grpId="1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Компилируемый и</a:t>
            </a:r>
            <a:r>
              <a:rPr lang="ru-RU"/>
              <a:t>ли</a:t>
            </a:r>
            <a:r>
              <a:t> интерпретируемый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2008505"/>
            <a:ext cx="10842625" cy="385826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sz="2800"/>
              <a:t>компилируется </a:t>
            </a:r>
            <a:r>
              <a:rPr lang="ru-RU" sz="2800"/>
              <a:t>в</a:t>
            </a:r>
            <a:r>
              <a:rPr sz="2800"/>
              <a:t> байткод (не машинный код)</a:t>
            </a:r>
            <a:endParaRPr sz="2800"/>
          </a:p>
          <a:p>
            <a:pPr>
              <a:lnSpc>
                <a:spcPct val="200000"/>
              </a:lnSpc>
            </a:pPr>
            <a:r>
              <a:rPr sz="2800"/>
              <a:t>интерпретируется</a:t>
            </a:r>
            <a:r>
              <a:rPr lang="ru-RU" sz="2800"/>
              <a:t>:</a:t>
            </a:r>
            <a:r>
              <a:rPr sz="2800"/>
              <a:t> PVM исполняет байткод</a:t>
            </a:r>
            <a:endParaRPr sz="2800"/>
          </a:p>
          <a:p>
            <a:pPr>
              <a:lnSpc>
                <a:spcPct val="200000"/>
              </a:lnSpc>
            </a:pPr>
            <a:r>
              <a:rPr sz="2800"/>
              <a:t>в C сразу машинный код, без VM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80" y="1800225"/>
            <a:ext cx="9799320" cy="1858010"/>
          </a:xfrm>
        </p:spPr>
        <p:txBody>
          <a:bodyPr>
            <a:normAutofit fontScale="90000"/>
          </a:bodyPr>
          <a:lstStyle/>
          <a:p>
            <a:r>
              <a:t>Анатомия</a:t>
            </a:r>
            <a:br/>
            <a:r>
              <a:t>Python-файла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Строки</a:t>
            </a:r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544955"/>
            <a:ext cx="4902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физическая строка</a:t>
            </a:r>
            <a:endParaRPr lang="ru-RU" altLang="ru-RU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08330" y="2168525"/>
            <a:ext cx="4277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light_velocity </a:t>
            </a:r>
            <a:r>
              <a:rPr lang="ru-RU" altLang="en-US" sz="28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3e8</a:t>
            </a:r>
            <a:endParaRPr lang="ru-RU" altLang="en-US" sz="280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08330" y="3126105"/>
            <a:ext cx="4902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логическая строка</a:t>
            </a:r>
            <a:endParaRPr lang="ru-RU" altLang="ru-RU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08330" y="3679190"/>
            <a:ext cx="4681855" cy="1965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numbers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[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2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4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5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6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7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8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</a:t>
            </a:r>
            <a:endParaRPr lang="ru-RU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330" y="2648585"/>
            <a:ext cx="109689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вся эта строка является комментарием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27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distance_max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72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1852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эта часть строки - комментарий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Комментарии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538" y="2045373"/>
            <a:ext cx="11053371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максимальная дальность обзора РЛС в морских милях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согласно протоколу использования РЛС, с.3 таб.1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distance_max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72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1852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43895" y="4670885"/>
            <a:ext cx="1059122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distance_max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72</a:t>
            </a:r>
            <a:r>
              <a:rPr lang="ru-RU" altLang="en-US" sz="27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ru-RU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1852 # определили переменную</a:t>
            </a:r>
            <a:endParaRPr lang="ru-RU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08335" y="1367327"/>
            <a:ext cx="9421930" cy="5461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955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правильное использование комментариев</a:t>
            </a:r>
            <a:endParaRPr lang="ru-RU" altLang="en-US" sz="2955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644208" y="3996594"/>
            <a:ext cx="10060551" cy="5461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955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неправильное использование комментариев</a:t>
            </a:r>
            <a:endParaRPr lang="ru-RU" altLang="en-US" sz="2955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Использование комментариев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595948" y="2158633"/>
            <a:ext cx="7561762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%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"even"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"odd"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 got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number"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>
            <a:off x="8295817" y="2187115"/>
            <a:ext cx="381733" cy="825107"/>
          </a:xfrm>
          <a:prstGeom prst="rightBrace">
            <a:avLst>
              <a:gd name="adj1" fmla="val 29730"/>
              <a:gd name="adj2" fmla="val 5107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12" name="Правая фигурная скобка 11"/>
          <p:cNvSpPr/>
          <p:nvPr/>
        </p:nvSpPr>
        <p:spPr>
          <a:xfrm>
            <a:off x="8295817" y="3038506"/>
            <a:ext cx="381733" cy="857336"/>
          </a:xfrm>
          <a:prstGeom prst="rightBrace">
            <a:avLst>
              <a:gd name="adj1" fmla="val 29768"/>
              <a:gd name="adj2" fmla="val 51073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13" name="Правая фигурная скобка 12"/>
          <p:cNvSpPr/>
          <p:nvPr/>
        </p:nvSpPr>
        <p:spPr>
          <a:xfrm>
            <a:off x="8295817" y="3922124"/>
            <a:ext cx="381733" cy="428668"/>
          </a:xfrm>
          <a:prstGeom prst="rightBrace">
            <a:avLst>
              <a:gd name="adj1" fmla="val 24191"/>
              <a:gd name="adj2" fmla="val 51073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8874362" y="2293500"/>
            <a:ext cx="3145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первый логический 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блок кода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8877804" y="3109533"/>
            <a:ext cx="30810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второй логический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блок кода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8877804" y="3783824"/>
            <a:ext cx="31712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третий логический блок кода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608330" y="5132070"/>
            <a:ext cx="107829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7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Вывод: без пустых строк читать код сложнее</a:t>
            </a:r>
            <a:endParaRPr lang="ru-RU" altLang="en-US" sz="27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Пустые строки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4" grpId="0"/>
      <p:bldP spid="11" grpId="1" animBg="1"/>
      <p:bldP spid="14" grpId="1"/>
      <p:bldP spid="12" grpId="0" bldLvl="0" animBg="1"/>
      <p:bldP spid="15" grpId="0"/>
      <p:bldP spid="12" grpId="1" animBg="1"/>
      <p:bldP spid="15" grpId="1"/>
      <p:bldP spid="13" grpId="0" bldLvl="0" animBg="1"/>
      <p:bldP spid="16" grpId="0"/>
      <p:bldP spid="13" grpId="1" animBg="1"/>
      <p:bldP spid="16" grpId="1"/>
      <p:bldP spid="17" grpId="0"/>
      <p:bldP spid="1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013" y="1548494"/>
            <a:ext cx="7561762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%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"even"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"odd"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 got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number"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08330" y="5132070"/>
            <a:ext cx="107829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7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Вывод: </a:t>
            </a:r>
            <a:r>
              <a:rPr lang="ru-RU" altLang="en-US" sz="27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с пустыми строками читать код легче</a:t>
            </a:r>
            <a:endParaRPr lang="ru-RU" altLang="en-US" sz="27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Пустые строки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Выражение vs Инструкция</a:t>
            </a: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7695" y="1980565"/>
            <a:ext cx="3043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Выражения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784850" y="1980565"/>
            <a:ext cx="3043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Инструкции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07695" y="3256915"/>
            <a:ext cx="3963670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+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# 4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len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"Python"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r>
              <a:rPr sz="2800">
                <a:latin typeface="Consolas" panose="020B0609020204030204"/>
                <a:sym typeface="+mn-ea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# 6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endParaRPr lang="ru-RU" altLang="en-US" sz="2800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784850" y="3256915"/>
            <a:ext cx="3963670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num</a:t>
            </a:r>
            <a:r>
              <a:rPr sz="2800">
                <a:latin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10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import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sym typeface="+mn-ea"/>
              </a:rPr>
              <a:t>math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return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x</a:t>
            </a:r>
            <a:endParaRPr lang="ru-RU" altLang="en-US" sz="2800">
              <a:solidFill>
                <a:schemeClr val="accent1">
                  <a:lumMod val="50000"/>
                </a:schemeClr>
              </a:solidFill>
              <a:latin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4345189" y="1761263"/>
            <a:ext cx="3501308" cy="1241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Инструкции</a:t>
            </a:r>
            <a:endParaRPr lang="ru-RU" altLang="en-US" sz="2660" b="1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43881" y="3890209"/>
            <a:ext cx="3501308" cy="12418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latin typeface="Arial Black" panose="020B0A04020102020204" charset="0"/>
                <a:cs typeface="Arial Black" panose="020B0A04020102020204" charset="0"/>
              </a:rPr>
              <a:t>Простые</a:t>
            </a:r>
            <a:endParaRPr lang="ru-RU" altLang="en-US" sz="266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909077" y="3890209"/>
            <a:ext cx="3501308" cy="12418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latin typeface="Arial Black" panose="020B0A04020102020204" charset="0"/>
                <a:cs typeface="Arial Black" panose="020B0A04020102020204" charset="0"/>
              </a:rPr>
              <a:t>Составные</a:t>
            </a:r>
            <a:endParaRPr lang="ru-RU" altLang="en-US" sz="2660" b="1"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6" name="Прямая со стрелкой 15"/>
          <p:cNvCxnSpPr>
            <a:endCxn id="7" idx="0"/>
          </p:cNvCxnSpPr>
          <p:nvPr/>
        </p:nvCxnSpPr>
        <p:spPr>
          <a:xfrm flipH="1">
            <a:off x="2594454" y="2997433"/>
            <a:ext cx="2571750" cy="892810"/>
          </a:xfrm>
          <a:prstGeom prst="straightConnector1">
            <a:avLst/>
          </a:prstGeom>
          <a:ln w="19050">
            <a:tailEnd type="triangle" w="sm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endCxn id="14" idx="0"/>
          </p:cNvCxnSpPr>
          <p:nvPr/>
        </p:nvCxnSpPr>
        <p:spPr>
          <a:xfrm>
            <a:off x="7052991" y="2997433"/>
            <a:ext cx="2606675" cy="892810"/>
          </a:xfrm>
          <a:prstGeom prst="straightConnector1">
            <a:avLst/>
          </a:prstGeom>
          <a:ln w="19050">
            <a:tailEnd type="triangle" w="sm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Инструкции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14" grpId="0" bldLvl="0" animBg="1"/>
      <p:bldP spid="1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е поле 2"/>
          <p:cNvSpPr txBox="1"/>
          <p:nvPr/>
        </p:nvSpPr>
        <p:spPr>
          <a:xfrm>
            <a:off x="608428" y="1583851"/>
            <a:ext cx="9724188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операция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связки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простая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инструкция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light_velocity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3e8</a:t>
            </a:r>
            <a:endParaRPr lang="en-US" altLang="ru-RU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арифметические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операции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простые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инструкции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endParaRPr lang="en-US" altLang="ru-RU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вызов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функции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простая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инструкция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"Hello, world!"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Простые инструкции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е поле 2"/>
          <p:cNvSpPr txBox="1"/>
          <p:nvPr/>
        </p:nvSpPr>
        <p:spPr>
          <a:xfrm>
            <a:off x="608630" y="1264697"/>
            <a:ext cx="873762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первый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сложной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инструкции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rgbClr val="002060"/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заголовок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первого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блока</a:t>
            </a:r>
            <a:endParaRPr lang="en-US" altLang="en-US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тело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первого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блока</a:t>
            </a:r>
            <a:endParaRPr lang="en-US" altLang="en-US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rgbClr val="002060"/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"even"</a:t>
            </a:r>
            <a:endParaRPr lang="en-US" altLang="ru-RU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второй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сложной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инструкции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else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заголовок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второго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блока</a:t>
            </a:r>
            <a:endParaRPr lang="en-US" altLang="en-US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тело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второго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блока</a:t>
            </a:r>
            <a:endParaRPr lang="en-US" altLang="en-US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rgbClr val="002060"/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"odd"</a:t>
            </a:r>
            <a:endParaRPr lang="en-US" altLang="ru-RU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этот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код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не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относится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к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сложной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инструкции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 got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400">
                <a:solidFill>
                  <a:srgbClr val="002060"/>
                </a:solidFill>
                <a:latin typeface="Consolas" panose="020B0609020204030204" charset="0"/>
                <a:cs typeface="Consolas" panose="020B0609020204030204" charset="0"/>
              </a:rPr>
              <a:t>number_type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number"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Составные инструкции</a:t>
            </a:r>
            <a:endParaRPr lang="ru-RU"/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ое поле 6"/>
          <p:cNvSpPr txBox="1"/>
          <p:nvPr/>
        </p:nvSpPr>
        <p:spPr>
          <a:xfrm>
            <a:off x="608105" y="1790425"/>
            <a:ext cx="6977272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factorial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endParaRPr lang="en-US" altLang="ru-RU" sz="27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27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"init value: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factorial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27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endParaRPr lang="en-US" altLang="ru-RU" sz="27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27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for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range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6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27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factorial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*=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endParaRPr lang="en-US" altLang="ru-RU" sz="27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7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"[ITER_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]:</a:t>
            </a:r>
            <a:r>
              <a:rPr lang="en-US" altLang="ru-RU" sz="27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27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factorial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27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260459" y="2047552"/>
            <a:ext cx="26865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первый блок кода</a:t>
            </a:r>
            <a:endParaRPr lang="ru-RU" altLang="ru-RU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>
            <a:off x="7781290" y="1818640"/>
            <a:ext cx="287020" cy="824865"/>
          </a:xfrm>
          <a:prstGeom prst="rightBrace">
            <a:avLst>
              <a:gd name="adj1" fmla="val 36639"/>
              <a:gd name="adj2" fmla="val 5107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7778750" y="3510915"/>
            <a:ext cx="289560" cy="824865"/>
          </a:xfrm>
          <a:prstGeom prst="rightBrace">
            <a:avLst>
              <a:gd name="adj1" fmla="val 42098"/>
              <a:gd name="adj2" fmla="val 5107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259824" y="3726572"/>
            <a:ext cx="26865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второй блок кода</a:t>
            </a:r>
            <a:endParaRPr lang="ru-RU" altLang="ru-RU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 rot="5400000">
            <a:off x="827405" y="4316095"/>
            <a:ext cx="204470" cy="640080"/>
          </a:xfrm>
          <a:prstGeom prst="rightBrace">
            <a:avLst>
              <a:gd name="adj1" fmla="val 44805"/>
              <a:gd name="adj2" fmla="val 5107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26415" y="4897120"/>
            <a:ext cx="2582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отступ - 4 пробела</a:t>
            </a:r>
            <a:endParaRPr lang="ru-RU" altLang="ru-RU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Отступы</a:t>
            </a:r>
            <a:endParaRPr lang="ru-RU"/>
          </a:p>
        </p:txBody>
      </p:sp>
      <p:sp>
        <p:nvSpPr>
          <p:cNvPr id="13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8" grpId="0"/>
      <p:bldP spid="11" grpId="1" animBg="1"/>
      <p:bldP spid="8" grpId="1"/>
      <p:bldP spid="3" grpId="0" bldLvl="0" animBg="1"/>
      <p:bldP spid="5" grpId="0"/>
      <p:bldP spid="3" grpId="1" animBg="1"/>
      <p:bldP spid="5" grpId="1"/>
      <p:bldP spid="9" grpId="0" bldLvl="0" animBg="1"/>
      <p:bldP spid="10" grpId="0"/>
      <p:bldP spid="9" grpId="1" animBg="1"/>
      <p:bldP spid="10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Значение отступов</a:t>
            </a:r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734695" y="1424940"/>
            <a:ext cx="3043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Вариант 1</a:t>
            </a:r>
            <a:endParaRPr lang="ru-RU" altLang="ru-RU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784850" y="1424940"/>
            <a:ext cx="3043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Вариант 2</a:t>
            </a:r>
            <a:endParaRPr lang="ru-RU" altLang="en-US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734695" y="1985010"/>
            <a:ext cx="3963670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for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i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in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i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"---"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lang="ru-RU" altLang="en-US"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784850" y="1985010"/>
            <a:ext cx="3963670" cy="138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for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i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in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i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"---"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lang="ru-RU" altLang="en-US"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734695" y="3538220"/>
            <a:ext cx="3043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Вывод 1</a:t>
            </a:r>
            <a:endParaRPr lang="ru-RU" altLang="ru-RU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734695" y="4060190"/>
            <a:ext cx="3963670" cy="178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0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---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---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5784850" y="3538220"/>
            <a:ext cx="3043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8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Вывод 2</a:t>
            </a:r>
            <a:endParaRPr lang="ru-RU" altLang="ru-RU" sz="28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5784850" y="4060190"/>
            <a:ext cx="3963670" cy="178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0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---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00" y="1881385"/>
            <a:ext cx="9799200" cy="1018800"/>
          </a:xfrm>
        </p:spPr>
        <p:txBody>
          <a:bodyPr/>
          <a:lstStyle/>
          <a:p>
            <a:r>
              <a:t>Токены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Токенезация</a:t>
            </a:r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720090" y="1576705"/>
            <a:ext cx="495617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#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исходный код</a:t>
            </a:r>
            <a:endParaRPr sz="2800">
              <a:solidFill>
                <a:schemeClr val="accent4"/>
              </a:solidFill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total</a:t>
            </a:r>
            <a:r>
              <a:rPr sz="2800">
                <a:latin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r>
              <a:rPr sz="2800">
                <a:latin typeface="Consolas" panose="020B0609020204030204"/>
                <a:sym typeface="+mn-ea"/>
              </a:rPr>
              <a:t> *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buNone/>
            </a:pP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accent4"/>
                </a:solidFill>
                <a:latin typeface="Consolas" panose="020B0609020204030204"/>
              </a:rPr>
              <a:t># </a:t>
            </a:r>
            <a:r>
              <a:rPr lang="ru-RU" altLang="en-US" sz="2800">
                <a:solidFill>
                  <a:schemeClr val="accent4"/>
                </a:solidFill>
                <a:latin typeface="Consolas" panose="020B0609020204030204"/>
              </a:rPr>
              <a:t>результат токенизации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total</a:t>
            </a:r>
            <a:r>
              <a:rPr sz="2800">
                <a:latin typeface="Consolas" panose="020B0609020204030204"/>
                <a:sym typeface="+mn-ea"/>
              </a:rPr>
              <a:t>     идентификатор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=         оператор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price</a:t>
            </a:r>
            <a:r>
              <a:rPr sz="2800">
                <a:latin typeface="Consolas" panose="020B0609020204030204"/>
                <a:sym typeface="+mn-ea"/>
              </a:rPr>
              <a:t>     идентификатор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*         оператор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        число</a:t>
            </a:r>
            <a:endParaRPr sz="2800">
              <a:latin typeface="Consolas" panose="020B0609020204030204"/>
            </a:endParaRPr>
          </a:p>
          <a:p>
            <a:endParaRPr lang="ru-RU" alt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330" y="888365"/>
            <a:ext cx="9987280" cy="4698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идентификаторы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ключевые слова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литералы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операторы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разделители</a:t>
            </a: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ru-RU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Токены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428" y="1725906"/>
            <a:ext cx="11293988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my_variable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5         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валидный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MyVariable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6          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валидный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_var1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               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валидный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             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валидный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_2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                  #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валидный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2var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                # SyntaxError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my_$uper_variable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   # SyntaxError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Идентификаторы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428" y="1229027"/>
            <a:ext cx="8494819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идентификаторы переменных в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snake_case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light_velocity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3e8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идентификаторы функций в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snake_case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get_filtered_data</a:t>
            </a:r>
            <a:r>
              <a:rPr lang="en-US" altLang="en-US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2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en-US" altLang="en-US" sz="2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идентификаторы модулей в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snake_case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numpy </a:t>
            </a:r>
            <a:r>
              <a:rPr lang="en-US" altLang="en-US" sz="2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as </a:t>
            </a:r>
            <a:r>
              <a:rPr lang="en-US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np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идентификаторы классов в 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PascalCase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DataSelector</a:t>
            </a:r>
            <a:r>
              <a:rPr lang="en-US" altLang="en-US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en-US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...</a:t>
            </a:r>
            <a:endParaRPr lang="en-US" altLang="en-US" sz="24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Соглашения об именовании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702765" y="1903318"/>
            <a:ext cx="1042132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await      else       import     pass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break      except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       class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finally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and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continue   for   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lambda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    try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 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nonlocal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while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assert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del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global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with</a:t>
            </a:r>
            <a:endParaRPr lang="ru-RU" altLang="en-US" sz="2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async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elif       if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lang="ru-RU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or</a:t>
            </a:r>
            <a:r>
              <a:rPr lang="ru-RU" altLang="en-US" sz="28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lang="ru-RU" altLang="en-US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yield</a:t>
            </a:r>
            <a:endParaRPr lang="ru-RU" altLang="en-US" sz="28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Ключевые слова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702765" y="2754709"/>
            <a:ext cx="10421320" cy="5461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955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match      case     </a:t>
            </a:r>
            <a:r>
              <a:rPr lang="en-US" altLang="ru-RU" sz="2955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        </a:t>
            </a:r>
            <a:r>
              <a:rPr lang="en-US" altLang="ru-RU" sz="2955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 </a:t>
            </a:r>
            <a:endParaRPr lang="en-US" altLang="ru-RU" sz="2955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Мягкие ключевые слова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330" y="1948815"/>
            <a:ext cx="104336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               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целочисленный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число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            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литерал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числа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плавающей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точкой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1.0j            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литерал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комплексного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числа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"Hello!"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    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строковый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литерал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3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   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списковый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литерал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"a"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1, </a:t>
            </a:r>
            <a:r>
              <a:rPr lang="en-US" altLang="ru-RU" sz="27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"b"</a:t>
            </a:r>
            <a:r>
              <a:rPr lang="en-US" altLang="ru-RU" sz="27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r>
              <a:rPr lang="en-US" altLang="ru-RU"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#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словарный</a:t>
            </a:r>
            <a:r>
              <a:rPr lang="en-US" altLang="ru-RU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7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литерал</a:t>
            </a:r>
            <a:endParaRPr lang="en-US" altLang="en-US" sz="27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Литералы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608428" y="1300054"/>
            <a:ext cx="86084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так делать не надо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get_random_number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seed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num_other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get_random_number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seed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лучше делать так</a:t>
            </a:r>
            <a:endParaRPr lang="ru-RU" altLang="en-US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seed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42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get_random_number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seed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seed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en-US" altLang="en-US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num_other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get_random_number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seed</a:t>
            </a:r>
            <a:r>
              <a:rPr lang="en-US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seed</a:t>
            </a:r>
            <a:r>
              <a:rPr lang="en-US" altLang="en-US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en-US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Магические константы</a:t>
            </a:r>
            <a:endParaRPr lang="ru-RU"/>
          </a:p>
        </p:txBody>
      </p:sp>
      <p:sp>
        <p:nvSpPr>
          <p:cNvPr id="11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Операторы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64592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2800" b="1"/>
                        <a:t>Группа</a:t>
                      </a:r>
                      <a:endParaRPr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/>
                        <a:t>Токены</a:t>
                      </a:r>
                      <a:endParaRPr sz="2800" b="1"/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Арифметические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+  -  *  **  /  //  %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Сравнение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&lt;  &gt;  &lt;=  &gt;=  ==  !=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Битовые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&amp;  |  ^  ~  &lt;&lt;  &gt;&gt;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Составное присваивание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+=  -=  *=  /=  ...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Морж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:=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Разделители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64592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ru-RU" sz="2800" b="1"/>
                        <a:t>Токены</a:t>
                      </a:r>
                      <a:endParaRPr lang="ru-R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/>
                        <a:t>Роль</a:t>
                      </a:r>
                      <a:endParaRPr sz="2800" b="1"/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( )  [ ]  { }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скобки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,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разделяет элементы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;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несколько инструкций в строке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: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срезы, словари, тело блока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-&gt;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тип возврата</a:t>
                      </a:r>
                      <a:endParaRPr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00" y="1958855"/>
            <a:ext cx="9799200" cy="1018800"/>
          </a:xfrm>
        </p:spPr>
        <p:txBody>
          <a:bodyPr>
            <a:normAutofit fontScale="90000"/>
          </a:bodyPr>
          <a:lstStyle/>
          <a:p>
            <a:r>
              <a:t>Объекты</a:t>
            </a:r>
            <a:r>
              <a:rPr lang="ru-RU"/>
              <a:t> </a:t>
            </a:r>
            <a:r>
              <a:rPr lang="en-US"/>
              <a:t>Python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 descr="cel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50" y="1371082"/>
            <a:ext cx="5626186" cy="2440590"/>
          </a:xfrm>
          <a:prstGeom prst="rect">
            <a:avLst/>
          </a:prstGeom>
        </p:spPr>
      </p:pic>
      <p:sp>
        <p:nvSpPr>
          <p:cNvPr id="13" name="Текстовое поле 12"/>
          <p:cNvSpPr txBox="1"/>
          <p:nvPr/>
        </p:nvSpPr>
        <p:spPr>
          <a:xfrm>
            <a:off x="1199644" y="2311335"/>
            <a:ext cx="902393" cy="78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355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ru-RU" altLang="en-US" sz="355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2193089" y="2311335"/>
            <a:ext cx="902393" cy="78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355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ru-RU" altLang="en-US" sz="355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108953" y="2311335"/>
            <a:ext cx="902393" cy="78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355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ru-RU" altLang="en-US" sz="355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3151178" y="2311335"/>
            <a:ext cx="902393" cy="78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355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355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5067041" y="2311335"/>
            <a:ext cx="902393" cy="785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355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355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773792" y="1477466"/>
            <a:ext cx="6246972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данные в памяти компьютера</a:t>
            </a:r>
            <a:endParaRPr lang="ru-RU" altLang="en-US" sz="266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Стрелка вниз 6"/>
          <p:cNvSpPr/>
          <p:nvPr/>
        </p:nvSpPr>
        <p:spPr>
          <a:xfrm>
            <a:off x="3399304" y="3476873"/>
            <a:ext cx="354824" cy="1028803"/>
          </a:xfrm>
          <a:prstGeom prst="downArrow">
            <a:avLst>
              <a:gd name="adj1" fmla="val 31746"/>
              <a:gd name="adj2" fmla="val 863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370502" y="5167451"/>
            <a:ext cx="2286332" cy="59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5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PyObject</a:t>
            </a:r>
            <a:endParaRPr lang="en-US" altLang="en-US" sz="3250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09150" y="4625828"/>
            <a:ext cx="5739455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данные в </a:t>
            </a:r>
            <a:r>
              <a:rPr lang="en-US" altLang="en-US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python-</a:t>
            </a:r>
            <a:r>
              <a:rPr lang="ru-RU" altLang="en-US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программе</a:t>
            </a:r>
            <a:endParaRPr lang="ru-RU" altLang="en-US" sz="266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Объекты</a:t>
            </a:r>
          </a:p>
        </p:txBody>
      </p:sp>
      <p:sp>
        <p:nvSpPr>
          <p:cNvPr id="11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  <p:bldP spid="8" grpId="0"/>
      <p:bldP spid="7" grpId="1" animBg="1"/>
      <p:bldP spid="9" grpId="1"/>
      <p:bldP spid="8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525353" y="1619208"/>
            <a:ext cx="9987021" cy="3369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355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идентичность</a:t>
            </a:r>
            <a:endParaRPr lang="ru-RU" altLang="en-US" sz="355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355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тип данных</a:t>
            </a:r>
            <a:endParaRPr lang="ru-RU" altLang="en-US" sz="355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355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значение</a:t>
            </a:r>
            <a:endParaRPr lang="ru-RU" altLang="en-US" sz="355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Характеристики объекта</a:t>
            </a:r>
            <a:endParaRPr lang="ru-RU" altLang="ru-RU" dirty="0">
              <a:sym typeface="+mn-ea"/>
            </a:endParaRPr>
          </a:p>
        </p:txBody>
      </p:sp>
      <p:sp>
        <p:nvSpPr>
          <p:cNvPr id="11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3674" y="324444"/>
            <a:ext cx="10782090" cy="86484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Идентичность в </a:t>
            </a:r>
            <a:r>
              <a:rPr lang="en-US" dirty="0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CPython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pic>
        <p:nvPicPr>
          <p:cNvPr id="3" name="Изображение 2" descr="cel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-452135" y="2774108"/>
            <a:ext cx="4580800" cy="1987204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33674" y="1189289"/>
            <a:ext cx="29690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ячейки памяти</a:t>
            </a:r>
            <a:endParaRPr lang="ru-RU" altLang="ru-RU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031684" y="1974033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xAAAA</a:t>
            </a:r>
            <a:endParaRPr lang="en-US" alt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031684" y="2765347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xBBBB</a:t>
            </a:r>
            <a:endParaRPr lang="en-US" alt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031684" y="3540704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xCCCC</a:t>
            </a:r>
            <a:endParaRPr lang="en-US" alt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5031684" y="4316061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xDDDD</a:t>
            </a:r>
            <a:endParaRPr lang="en-US" alt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5031684" y="5132094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xEEEE</a:t>
            </a:r>
            <a:endParaRPr lang="en-US" alt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380252" y="1193357"/>
            <a:ext cx="285142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адреса ячеек</a:t>
            </a:r>
            <a:endParaRPr lang="ru-RU" altLang="ru-RU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2689656" y="2222785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2689656" y="3003148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H="1">
            <a:off x="2689656" y="3783511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>
            <a:off x="2689656" y="456418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2689656" y="535925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Правая фигурная скобка 18"/>
          <p:cNvSpPr/>
          <p:nvPr/>
        </p:nvSpPr>
        <p:spPr>
          <a:xfrm>
            <a:off x="7231344" y="2045060"/>
            <a:ext cx="667408" cy="3547930"/>
          </a:xfrm>
          <a:prstGeom prst="rightBrace">
            <a:avLst>
              <a:gd name="adj1" fmla="val 85664"/>
              <a:gd name="adj2" fmla="val 50000"/>
            </a:avLst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 sz="885"/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8039122" y="3429083"/>
            <a:ext cx="282701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идентичности объектов</a:t>
            </a:r>
            <a:endParaRPr lang="ru-RU" altLang="en-US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9" grpId="0"/>
      <p:bldP spid="10" grpId="0"/>
      <p:bldP spid="11" grpId="0"/>
      <p:bldP spid="12" grpId="0"/>
      <p:bldP spid="13" grpId="1"/>
      <p:bldP spid="7" grpId="1"/>
      <p:bldP spid="9" grpId="1"/>
      <p:bldP spid="10" grpId="1"/>
      <p:bldP spid="11" grpId="1"/>
      <p:bldP spid="12" grpId="1"/>
      <p:bldP spid="20" grpId="0"/>
      <p:bldP spid="19" grpId="0" bldLvl="0" animBg="1"/>
      <p:bldP spid="20" grpId="1"/>
      <p:bldP spid="1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561023" y="1832291"/>
            <a:ext cx="10820889" cy="33877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en-US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п</a:t>
            </a:r>
            <a:r>
              <a:rPr lang="ru-RU" altLang="en-US" sz="2955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олучение</a:t>
            </a:r>
            <a:r>
              <a:rPr lang="ru-RU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идентичности объекта с помощью </a:t>
            </a:r>
            <a:r>
              <a:rPr lang="en-US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id()</a:t>
            </a:r>
            <a:endParaRPr lang="ru-RU" altLang="en-US" sz="2955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ru-RU" altLang="en-US" sz="2955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 </a:t>
            </a:r>
            <a:r>
              <a:rPr lang="ru-RU" altLang="en-US" sz="2955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id</a:t>
            </a:r>
            <a:r>
              <a:rPr lang="ru-RU" altLang="en-US" sz="2955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ru-RU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5</a:t>
            </a:r>
            <a:r>
              <a:rPr lang="ru-RU" altLang="en-US" sz="2955">
                <a:solidFill>
                  <a:srgbClr val="0072BC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ru-RU" altLang="en-US" sz="2955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ru-RU" altLang="en-US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140723671524264</a:t>
            </a:r>
            <a:endParaRPr lang="ru-RU" altLang="en-US" sz="2955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ru-RU" altLang="en-US" sz="2955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ru-RU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ru-RU" sz="2955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сравнение идентичностей объекта</a:t>
            </a:r>
            <a:endParaRPr lang="ru-RU" altLang="en-US" sz="2955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ru-RU" altLang="en-US" sz="2955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 </a:t>
            </a:r>
            <a:r>
              <a:rPr lang="ru-RU" altLang="en-US" sz="2955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ru-RU" altLang="en-US" sz="2955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ru-RU" altLang="en-US" sz="2955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955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is None</a:t>
            </a:r>
            <a:endParaRPr lang="ru-RU" altLang="en-US" sz="2955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ru-RU" altLang="en-US" sz="2955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ru-RU" altLang="en-US" sz="2955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ru-RU" altLang="en-US" sz="2955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3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ru-RU">
                <a:sym typeface="+mn-ea"/>
              </a:rPr>
              <a:t>Работа с идентичностью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 descr="cel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-452135" y="2774108"/>
            <a:ext cx="4580800" cy="1987204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33674" y="1189289"/>
            <a:ext cx="29690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ячейки памяти</a:t>
            </a:r>
            <a:endParaRPr lang="ru-RU" altLang="ru-RU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>
            <p:custDataLst>
              <p:tags r:id="rId2"/>
            </p:custDataLst>
          </p:nvPr>
        </p:nvSpPr>
        <p:spPr>
          <a:xfrm>
            <a:off x="5031684" y="1974033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>
            <p:custDataLst>
              <p:tags r:id="rId3"/>
            </p:custDataLst>
          </p:nvPr>
        </p:nvSpPr>
        <p:spPr>
          <a:xfrm>
            <a:off x="5031684" y="2765347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>
            <p:custDataLst>
              <p:tags r:id="rId4"/>
            </p:custDataLst>
          </p:nvPr>
        </p:nvSpPr>
        <p:spPr>
          <a:xfrm>
            <a:off x="5031684" y="3540704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>
            <p:custDataLst>
              <p:tags r:id="rId5"/>
            </p:custDataLst>
          </p:nvPr>
        </p:nvSpPr>
        <p:spPr>
          <a:xfrm>
            <a:off x="5031684" y="4316061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>
            <p:custDataLst>
              <p:tags r:id="rId6"/>
            </p:custDataLst>
          </p:nvPr>
        </p:nvSpPr>
        <p:spPr>
          <a:xfrm>
            <a:off x="5031740" y="5132070"/>
            <a:ext cx="1524635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complex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357392" y="1193357"/>
            <a:ext cx="285142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тип данных</a:t>
            </a:r>
            <a:endParaRPr lang="ru-RU" altLang="ru-RU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4" name="Прямая со стрелкой 13"/>
          <p:cNvCxnSpPr/>
          <p:nvPr>
            <p:custDataLst>
              <p:tags r:id="rId7"/>
            </p:custDataLst>
          </p:nvPr>
        </p:nvCxnSpPr>
        <p:spPr>
          <a:xfrm flipH="1">
            <a:off x="2689656" y="2222785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>
            <p:custDataLst>
              <p:tags r:id="rId8"/>
            </p:custDataLst>
          </p:nvPr>
        </p:nvCxnSpPr>
        <p:spPr>
          <a:xfrm flipH="1">
            <a:off x="2689656" y="3003148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>
            <p:custDataLst>
              <p:tags r:id="rId9"/>
            </p:custDataLst>
          </p:nvPr>
        </p:nvCxnSpPr>
        <p:spPr>
          <a:xfrm flipH="1">
            <a:off x="2689656" y="3783511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>
            <p:custDataLst>
              <p:tags r:id="rId10"/>
            </p:custDataLst>
          </p:nvPr>
        </p:nvCxnSpPr>
        <p:spPr>
          <a:xfrm flipH="1">
            <a:off x="2689656" y="456418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>
            <p:custDataLst>
              <p:tags r:id="rId11"/>
            </p:custDataLst>
          </p:nvPr>
        </p:nvCxnSpPr>
        <p:spPr>
          <a:xfrm flipH="1">
            <a:off x="2689656" y="535925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Текстовое поле 19"/>
          <p:cNvSpPr txBox="1"/>
          <p:nvPr/>
        </p:nvSpPr>
        <p:spPr>
          <a:xfrm>
            <a:off x="6777355" y="2504440"/>
            <a:ext cx="4450715" cy="254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200000"/>
              </a:lnSpc>
            </a:pPr>
            <a:r>
              <a:rPr lang="ru-RU" altLang="en-US" sz="2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тип данных определяет:</a:t>
            </a:r>
            <a:endParaRPr lang="ru-RU" altLang="en-US" sz="2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685800" indent="-6858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2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допустимые значения</a:t>
            </a:r>
            <a:endParaRPr lang="ru-RU" altLang="en-US" sz="2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685800" indent="-6858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2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допустимые операции</a:t>
            </a:r>
            <a:endParaRPr lang="ru-RU" altLang="en-US" sz="2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Тип данных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19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9" grpId="0"/>
      <p:bldP spid="10" grpId="0"/>
      <p:bldP spid="11" grpId="0"/>
      <p:bldP spid="12" grpId="0"/>
      <p:bldP spid="13" grpId="1"/>
      <p:bldP spid="7" grpId="1"/>
      <p:bldP spid="9" grpId="1"/>
      <p:bldP spid="10" grpId="1"/>
      <p:bldP spid="11" grpId="1"/>
      <p:bldP spid="12" grpId="1"/>
      <p:bldP spid="20" grpId="0"/>
      <p:bldP spid="20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е поле 2"/>
          <p:cNvSpPr txBox="1"/>
          <p:nvPr/>
        </p:nvSpPr>
        <p:spPr>
          <a:xfrm>
            <a:off x="560674" y="1316114"/>
            <a:ext cx="8378421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определение типа данных объекта с помощью </a:t>
            </a:r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endParaRPr lang="en-US" altLang="ru-RU" sz="2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(None)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'NoneType'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(None)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'NoneType'</a:t>
            </a:r>
            <a:endParaRPr lang="en-US" altLang="ru-RU" sz="2000">
              <a:solidFill>
                <a:schemeClr val="accent5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проверка типа данных объекта с помощью </a:t>
            </a:r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endParaRPr lang="en-US" altLang="ru-RU" sz="2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bool_flag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bool_flag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проверка типа данных объекта с помощью </a:t>
            </a:r>
            <a:r>
              <a:rPr lang="en-US" altLang="ru-RU" sz="2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isinstance()</a:t>
            </a:r>
            <a:endParaRPr lang="en-US" altLang="ru-RU" sz="2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bool_flag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bool_flag</a:t>
            </a:r>
            <a:r>
              <a:rPr lang="en-US" altLang="ru-RU" sz="2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Работа с типом данных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19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4345189" y="1761263"/>
            <a:ext cx="3501308" cy="1241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Типы данных</a:t>
            </a:r>
            <a:endParaRPr lang="ru-RU" altLang="en-US" sz="2660" b="1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43881" y="3890209"/>
            <a:ext cx="3501308" cy="12418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latin typeface="Arial Black" panose="020B0A04020102020204" charset="0"/>
                <a:cs typeface="Arial Black" panose="020B0A04020102020204" charset="0"/>
              </a:rPr>
              <a:t>Изменяемые</a:t>
            </a:r>
            <a:endParaRPr lang="ru-RU" altLang="en-US" sz="266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909077" y="3890209"/>
            <a:ext cx="3501308" cy="12418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2660" b="1">
                <a:latin typeface="Arial Black" panose="020B0A04020102020204" charset="0"/>
                <a:cs typeface="Arial Black" panose="020B0A04020102020204" charset="0"/>
              </a:rPr>
              <a:t>Неизменяемые</a:t>
            </a:r>
            <a:endParaRPr lang="ru-RU" altLang="en-US" sz="2660" b="1"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6" name="Прямая со стрелкой 15"/>
          <p:cNvCxnSpPr>
            <a:endCxn id="7" idx="0"/>
          </p:cNvCxnSpPr>
          <p:nvPr/>
        </p:nvCxnSpPr>
        <p:spPr>
          <a:xfrm flipH="1">
            <a:off x="2594454" y="2975208"/>
            <a:ext cx="2586355" cy="915035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endCxn id="14" idx="0"/>
          </p:cNvCxnSpPr>
          <p:nvPr/>
        </p:nvCxnSpPr>
        <p:spPr>
          <a:xfrm>
            <a:off x="6985046" y="2970128"/>
            <a:ext cx="2674620" cy="920115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Разновидности типов данных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19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14" grpId="0" bldLvl="0" animBg="1"/>
      <p:bldP spid="1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 descr="cel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-452135" y="2774108"/>
            <a:ext cx="4580800" cy="1987204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33674" y="1189289"/>
            <a:ext cx="29690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ячейки памяти</a:t>
            </a:r>
            <a:endParaRPr lang="ru-RU" altLang="ru-RU" sz="2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>
            <p:custDataLst>
              <p:tags r:id="rId2"/>
            </p:custDataLst>
          </p:nvPr>
        </p:nvSpPr>
        <p:spPr>
          <a:xfrm>
            <a:off x="5031684" y="1974033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>
            <p:custDataLst>
              <p:tags r:id="rId3"/>
            </p:custDataLst>
          </p:nvPr>
        </p:nvSpPr>
        <p:spPr>
          <a:xfrm>
            <a:off x="5031684" y="2765347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>
            <p:custDataLst>
              <p:tags r:id="rId4"/>
            </p:custDataLst>
          </p:nvPr>
        </p:nvSpPr>
        <p:spPr>
          <a:xfrm>
            <a:off x="5031684" y="3540704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>
            <p:custDataLst>
              <p:tags r:id="rId5"/>
            </p:custDataLst>
          </p:nvPr>
        </p:nvSpPr>
        <p:spPr>
          <a:xfrm>
            <a:off x="5031684" y="4316061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>
            <p:custDataLst>
              <p:tags r:id="rId6"/>
            </p:custDataLst>
          </p:nvPr>
        </p:nvSpPr>
        <p:spPr>
          <a:xfrm>
            <a:off x="5031740" y="5132070"/>
            <a:ext cx="1515745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complex</a:t>
            </a:r>
            <a:endParaRPr lang="en-US" sz="266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357392" y="1193357"/>
            <a:ext cx="2851423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тип данных</a:t>
            </a:r>
            <a:endParaRPr lang="ru-RU" altLang="ru-RU" sz="266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4" name="Прямая со стрелкой 13"/>
          <p:cNvCxnSpPr/>
          <p:nvPr>
            <p:custDataLst>
              <p:tags r:id="rId7"/>
            </p:custDataLst>
          </p:nvPr>
        </p:nvCxnSpPr>
        <p:spPr>
          <a:xfrm flipH="1">
            <a:off x="2689656" y="2222785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>
            <p:custDataLst>
              <p:tags r:id="rId8"/>
            </p:custDataLst>
          </p:nvPr>
        </p:nvCxnSpPr>
        <p:spPr>
          <a:xfrm flipH="1">
            <a:off x="2689656" y="3003148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>
            <p:custDataLst>
              <p:tags r:id="rId9"/>
            </p:custDataLst>
          </p:nvPr>
        </p:nvCxnSpPr>
        <p:spPr>
          <a:xfrm flipH="1">
            <a:off x="2689656" y="3783511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>
            <p:custDataLst>
              <p:tags r:id="rId10"/>
            </p:custDataLst>
          </p:nvPr>
        </p:nvCxnSpPr>
        <p:spPr>
          <a:xfrm flipH="1">
            <a:off x="2689656" y="456418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>
            <p:custDataLst>
              <p:tags r:id="rId11"/>
            </p:custDataLst>
          </p:nvPr>
        </p:nvCxnSpPr>
        <p:spPr>
          <a:xfrm flipH="1">
            <a:off x="2689656" y="535925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>
            <p:custDataLst>
              <p:tags r:id="rId12"/>
            </p:custDataLst>
          </p:nvPr>
        </p:nvSpPr>
        <p:spPr>
          <a:xfrm>
            <a:off x="9184442" y="1974033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266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"abc"</a:t>
            </a:r>
            <a:endParaRPr lang="en-US" altLang="ru-RU" sz="2660">
              <a:solidFill>
                <a:schemeClr val="accent5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>
            <p:custDataLst>
              <p:tags r:id="rId13"/>
            </p:custDataLst>
          </p:nvPr>
        </p:nvSpPr>
        <p:spPr>
          <a:xfrm>
            <a:off x="9181939" y="2765347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sz="266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Текстовое поле 18"/>
          <p:cNvSpPr txBox="1"/>
          <p:nvPr>
            <p:custDataLst>
              <p:tags r:id="rId14"/>
            </p:custDataLst>
          </p:nvPr>
        </p:nvSpPr>
        <p:spPr>
          <a:xfrm>
            <a:off x="9184442" y="3538827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sz="266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1" name="Текстовое поле 20"/>
          <p:cNvSpPr txBox="1"/>
          <p:nvPr>
            <p:custDataLst>
              <p:tags r:id="rId15"/>
            </p:custDataLst>
          </p:nvPr>
        </p:nvSpPr>
        <p:spPr>
          <a:xfrm>
            <a:off x="9182877" y="4312306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sz="266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22" name="Прямая со стрелкой 21"/>
          <p:cNvCxnSpPr/>
          <p:nvPr>
            <p:custDataLst>
              <p:tags r:id="rId16"/>
            </p:custDataLst>
          </p:nvPr>
        </p:nvCxnSpPr>
        <p:spPr>
          <a:xfrm flipH="1">
            <a:off x="6842414" y="2222785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>
            <p:custDataLst>
              <p:tags r:id="rId17"/>
            </p:custDataLst>
          </p:nvPr>
        </p:nvCxnSpPr>
        <p:spPr>
          <a:xfrm flipH="1">
            <a:off x="6841162" y="3003148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>
            <p:custDataLst>
              <p:tags r:id="rId18"/>
            </p:custDataLst>
          </p:nvPr>
        </p:nvCxnSpPr>
        <p:spPr>
          <a:xfrm flipH="1">
            <a:off x="6842414" y="3783824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>
            <p:custDataLst>
              <p:tags r:id="rId19"/>
            </p:custDataLst>
          </p:nvPr>
        </p:nvCxnSpPr>
        <p:spPr>
          <a:xfrm flipH="1">
            <a:off x="6842414" y="4564500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>
            <p:custDataLst>
              <p:tags r:id="rId20"/>
            </p:custDataLst>
          </p:nvPr>
        </p:nvCxnSpPr>
        <p:spPr>
          <a:xfrm flipH="1">
            <a:off x="6841162" y="5361447"/>
            <a:ext cx="1987204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Текстовое поле 26"/>
          <p:cNvSpPr txBox="1"/>
          <p:nvPr>
            <p:custDataLst>
              <p:tags r:id="rId21"/>
            </p:custDataLst>
          </p:nvPr>
        </p:nvSpPr>
        <p:spPr>
          <a:xfrm>
            <a:off x="9184479" y="5103620"/>
            <a:ext cx="1455906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66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266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sz="266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266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1j</a:t>
            </a:r>
            <a:endParaRPr lang="en-US" sz="266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8" name="Текстовое поле 27"/>
          <p:cNvSpPr txBox="1"/>
          <p:nvPr/>
        </p:nvSpPr>
        <p:spPr>
          <a:xfrm>
            <a:off x="8508586" y="1194295"/>
            <a:ext cx="2851423" cy="500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66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значения</a:t>
            </a:r>
            <a:endParaRPr lang="ru-RU" altLang="ru-RU" sz="266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Значения объектов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0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9" grpId="0"/>
      <p:bldP spid="21" grpId="0"/>
      <p:bldP spid="27" grpId="0"/>
      <p:bldP spid="28" grpId="0"/>
      <p:bldP spid="5" grpId="1"/>
      <p:bldP spid="8" grpId="1"/>
      <p:bldP spid="19" grpId="1"/>
      <p:bldP spid="21" grpId="1"/>
      <p:bldP spid="27" grpId="1"/>
      <p:bldP spid="28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560705" y="1938655"/>
            <a:ext cx="980376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создание переменных с помощью оператора =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5</a:t>
            </a:r>
            <a:endParaRPr lang="ru-RU" altLang="en-US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num2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endParaRPr lang="ru-RU" altLang="en-US" sz="2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ru-RU" altLang="en-US" sz="2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перепривязка переменной с помощью оператора =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"spam"</a:t>
            </a:r>
            <a:endParaRPr lang="en-US" altLang="ru-RU" sz="2800">
              <a:solidFill>
                <a:schemeClr val="accent5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Переменные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0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525353" y="2724045"/>
            <a:ext cx="246405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endParaRPr lang="ru-RU" altLang="en-US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endParaRPr lang="ru-RU" altLang="en-US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6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3664889" y="1584164"/>
            <a:ext cx="219215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9891891" y="1335724"/>
            <a:ext cx="1028803" cy="9934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800" b="1">
                <a:latin typeface="Arial Black" panose="020B0A04020102020204" charset="0"/>
                <a:cs typeface="Arial Black" panose="020B0A04020102020204" charset="0"/>
              </a:rPr>
              <a:t>36</a:t>
            </a:r>
            <a:r>
              <a:rPr lang="ru-RU" altLang="en-US" sz="2800" b="1">
                <a:latin typeface="Arial Black" panose="020B0A04020102020204" charset="0"/>
                <a:cs typeface="Arial Black" panose="020B0A04020102020204" charset="0"/>
              </a:rPr>
              <a:t>5</a:t>
            </a:r>
            <a:endParaRPr lang="ru-RU" altLang="en-US" sz="280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946912" y="1584164"/>
            <a:ext cx="9818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8" name="Прямая со стрелкой 7"/>
          <p:cNvCxnSpPr>
            <a:stCxn id="7" idx="3"/>
            <a:endCxn id="5" idx="1"/>
          </p:cNvCxnSpPr>
          <p:nvPr/>
        </p:nvCxnSpPr>
        <p:spPr>
          <a:xfrm flipV="1">
            <a:off x="7928590" y="1832922"/>
            <a:ext cx="1963420" cy="1270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Текстовое поле 8"/>
          <p:cNvSpPr txBox="1"/>
          <p:nvPr/>
        </p:nvSpPr>
        <p:spPr>
          <a:xfrm>
            <a:off x="3664889" y="3178996"/>
            <a:ext cx="24928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num2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946912" y="3178996"/>
            <a:ext cx="9818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1" name="Прямая со стрелкой 10"/>
          <p:cNvCxnSpPr>
            <a:stCxn id="10" idx="3"/>
          </p:cNvCxnSpPr>
          <p:nvPr/>
        </p:nvCxnSpPr>
        <p:spPr>
          <a:xfrm flipV="1">
            <a:off x="7928590" y="1878308"/>
            <a:ext cx="1963111" cy="156135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Работа с переменными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0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 bldLvl="0" animBg="1"/>
      <p:bldP spid="5" grpId="1" animBg="1"/>
      <p:bldP spid="7" grpId="0"/>
      <p:bldP spid="7" grpId="1"/>
      <p:bldP spid="9" grpId="0"/>
      <p:bldP spid="9" grpId="1"/>
      <p:bldP spid="10" grpId="0"/>
      <p:bldP spid="10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525353" y="2724045"/>
            <a:ext cx="246405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endParaRPr lang="ru-RU" altLang="en-US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endParaRPr lang="ru-RU" altLang="en-US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6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9892526" y="1335724"/>
            <a:ext cx="1028803" cy="9934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800" b="1">
                <a:latin typeface="Arial Black" panose="020B0A04020102020204" charset="0"/>
                <a:cs typeface="Arial Black" panose="020B0A04020102020204" charset="0"/>
              </a:rPr>
              <a:t>36</a:t>
            </a:r>
            <a:r>
              <a:rPr lang="ru-RU" altLang="en-US" sz="2800" b="1">
                <a:latin typeface="Arial Black" panose="020B0A04020102020204" charset="0"/>
                <a:cs typeface="Arial Black" panose="020B0A04020102020204" charset="0"/>
              </a:rPr>
              <a:t>5</a:t>
            </a:r>
            <a:endParaRPr lang="ru-RU" altLang="en-US" sz="280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947547" y="1584164"/>
            <a:ext cx="9818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endParaRPr lang="ru-RU" altLang="en-US" sz="2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7929415" y="1832604"/>
            <a:ext cx="1963111" cy="15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Текстовое поле 9"/>
          <p:cNvSpPr txBox="1"/>
          <p:nvPr/>
        </p:nvSpPr>
        <p:spPr>
          <a:xfrm>
            <a:off x="6947547" y="3178996"/>
            <a:ext cx="9818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endParaRPr lang="ru-RU" altLang="en-US" sz="2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1" name="Прямая со стрелкой 10"/>
          <p:cNvCxnSpPr>
            <a:stCxn id="10" idx="3"/>
          </p:cNvCxnSpPr>
          <p:nvPr/>
        </p:nvCxnSpPr>
        <p:spPr>
          <a:xfrm flipV="1">
            <a:off x="7929225" y="1878308"/>
            <a:ext cx="1963111" cy="156135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Текстовое поле 11"/>
          <p:cNvSpPr txBox="1"/>
          <p:nvPr/>
        </p:nvSpPr>
        <p:spPr>
          <a:xfrm>
            <a:off x="3664889" y="4732229"/>
            <a:ext cx="24928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6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9892526" y="4706242"/>
            <a:ext cx="1028803" cy="9934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2800" b="1">
                <a:latin typeface="Arial Black" panose="020B0A04020102020204" charset="0"/>
                <a:cs typeface="Arial Black" panose="020B0A04020102020204" charset="0"/>
              </a:rPr>
              <a:t>36</a:t>
            </a:r>
            <a:r>
              <a:rPr lang="ru-RU" altLang="en-US" sz="2800" b="1">
                <a:latin typeface="Arial Black" panose="020B0A04020102020204" charset="0"/>
                <a:cs typeface="Arial Black" panose="020B0A04020102020204" charset="0"/>
              </a:rPr>
              <a:t>6</a:t>
            </a:r>
            <a:endParaRPr lang="ru-RU" altLang="en-US" sz="2800" b="1">
              <a:latin typeface="Arial Black" panose="020B0A04020102020204" charset="0"/>
              <a:cs typeface="Arial Black" panose="020B0A04020102020204" charset="0"/>
            </a:endParaRPr>
          </a:p>
        </p:txBody>
      </p:sp>
      <p:cxnSp>
        <p:nvCxnSpPr>
          <p:cNvPr id="14" name="Прямая со стрелкой 13"/>
          <p:cNvCxnSpPr>
            <a:stCxn id="7" idx="3"/>
            <a:endCxn id="13" idx="1"/>
          </p:cNvCxnSpPr>
          <p:nvPr/>
        </p:nvCxnSpPr>
        <p:spPr>
          <a:xfrm>
            <a:off x="7929225" y="1845622"/>
            <a:ext cx="1963420" cy="3357245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Работа с переменными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0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3664889" y="1584164"/>
            <a:ext cx="219215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</a:t>
            </a:r>
            <a:r>
              <a:rPr lang="ru-RU" altLang="en-US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3664889" y="3178996"/>
            <a:ext cx="24928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num2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ru-RU" altLang="en-US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num1</a:t>
            </a:r>
            <a:endParaRPr lang="ru-RU" altLang="en-US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560803" y="1583851"/>
            <a:ext cx="5228182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365</a:t>
            </a: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</a:t>
            </a: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366</a:t>
            </a: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num1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/>
        </p:nvSpPr>
        <p:spPr>
          <a:xfrm>
            <a:off x="560674" y="451444"/>
            <a:ext cx="10782090" cy="864845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kern="1200" cap="none" spc="300" normalizeH="0" baseline="0" dirty="0">
                <a:solidFill>
                  <a:srgbClr val="0072BC"/>
                </a:solidFill>
                <a:uFillTx/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</a:lvl2pPr>
            <a:lvl3pPr>
              <a:spcBef>
                <a:spcPct val="0"/>
              </a:spcBef>
            </a:lvl3pPr>
            <a:lvl4pPr>
              <a:spcBef>
                <a:spcPct val="0"/>
              </a:spcBef>
            </a:lvl4pPr>
            <a:lvl5pPr>
              <a:spcBef>
                <a:spcPct val="0"/>
              </a:spcBef>
            </a:lvl5pPr>
            <a:lvl6pPr>
              <a:spcBef>
                <a:spcPct val="0"/>
              </a:spcBef>
            </a:lvl6pPr>
            <a:lvl7pPr>
              <a:spcBef>
                <a:spcPct val="0"/>
              </a:spcBef>
            </a:lvl7pPr>
            <a:lvl8pPr>
              <a:spcBef>
                <a:spcPct val="0"/>
              </a:spcBef>
            </a:lvl8pPr>
            <a:lvl9pPr>
              <a:spcBef>
                <a:spcPct val="0"/>
              </a:spcBef>
            </a:lvl9pPr>
          </a:lstStyle>
          <a:p>
            <a:r>
              <a:rPr lang="ru-RU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Проверка</a:t>
            </a:r>
            <a:endParaRPr lang="en-US" dirty="0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0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80" y="1730375"/>
            <a:ext cx="9799320" cy="2018030"/>
          </a:xfrm>
        </p:spPr>
        <p:txBody>
          <a:bodyPr/>
          <a:lstStyle/>
          <a:p>
            <a:r>
              <a:t>Управляющие конструкции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Истинность условия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600200"/>
            <a:ext cx="5303520" cy="82296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 b="1" i="0">
                <a:solidFill>
                  <a:schemeClr val="lt1"/>
                </a:solidFill>
              </a:rPr>
              <a:t>Ложно (falsy)</a:t>
            </a:r>
            <a:endParaRPr sz="3200" b="1" i="0">
              <a:solidFill>
                <a:schemeClr val="lt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2606040"/>
            <a:ext cx="5303520" cy="72466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r>
              <a:rPr sz="2400" b="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 b="0" i="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endParaRPr sz="2400" b="0" i="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3440430"/>
            <a:ext cx="5303520" cy="72466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   0.0   0j</a:t>
            </a:r>
            <a:endParaRPr sz="2400" b="0" i="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4274820"/>
            <a:ext cx="5303520" cy="72466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""</a:t>
            </a:r>
            <a:endParaRPr sz="2400" b="0" i="0">
              <a:solidFill>
                <a:schemeClr val="accent5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" y="5109210"/>
            <a:ext cx="5303520" cy="724662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0" i="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[]  {}</a:t>
            </a:r>
            <a:r>
              <a: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sz="2400" b="0" i="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set</a:t>
            </a:r>
            <a:r>
              <a:rPr sz="2400" b="0" i="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 ()</a:t>
            </a:r>
            <a:endParaRPr sz="2400" b="0" i="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81928" y="1600200"/>
            <a:ext cx="5303520" cy="82296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 b="1" i="0">
                <a:solidFill>
                  <a:schemeClr val="lt1"/>
                </a:solidFill>
              </a:rPr>
              <a:t>Истинно (truthy)</a:t>
            </a:r>
            <a:endParaRPr sz="3200" b="1" i="0">
              <a:solidFill>
                <a:schemeClr val="lt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81928" y="2606040"/>
            <a:ext cx="5303520" cy="3227832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/>
              <a:t>всё остальное</a:t>
            </a:r>
            <a:endParaRPr sz="1500" b="0" i="0"/>
          </a:p>
        </p:txBody>
      </p:sp>
      <p:sp>
        <p:nvSpPr>
          <p:cNvPr id="10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7222490" y="3928110"/>
            <a:ext cx="36334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Все остальное</a:t>
            </a:r>
            <a:endParaRPr lang="ru-RU" altLang="ru-RU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Ветвление</a:t>
            </a:r>
          </a:p>
        </p:txBody>
      </p:sp>
      <p:sp>
        <p:nvSpPr>
          <p:cNvPr id="5" name="Diamond 4"/>
          <p:cNvSpPr/>
          <p:nvPr/>
        </p:nvSpPr>
        <p:spPr>
          <a:xfrm>
            <a:off x="1189990" y="1591310"/>
            <a:ext cx="3167380" cy="100584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temperature</a:t>
            </a: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&gt; </a:t>
            </a:r>
            <a:r>
              <a:rPr sz="1300">
                <a:solidFill>
                  <a:schemeClr val="accent4"/>
                </a:solidFill>
                <a:latin typeface="Consolas" panose="020B0609020204030204"/>
                <a:sym typeface="+mn-ea"/>
              </a:rPr>
              <a:t>30</a:t>
            </a:r>
            <a:endParaRPr sz="1300" b="1" i="0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773680" y="2596896"/>
            <a:ext cx="0" cy="59436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73807" y="2675953"/>
            <a:ext cx="91440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6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22120" y="3191256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too hot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 b="1" i="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57370" y="3419793"/>
            <a:ext cx="82994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6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0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1" name="Rounded Rectangle 7"/>
          <p:cNvSpPr/>
          <p:nvPr/>
        </p:nvSpPr>
        <p:spPr>
          <a:xfrm>
            <a:off x="1722120" y="4654296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marL="0" indent="0" algn="ctr">
              <a:buNone/>
            </a:pPr>
            <a:r>
              <a:rPr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the end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 b="1" i="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cxnSp>
        <p:nvCxnSpPr>
          <p:cNvPr id="12" name="Connector 5"/>
          <p:cNvCxnSpPr/>
          <p:nvPr/>
        </p:nvCxnSpPr>
        <p:spPr>
          <a:xfrm>
            <a:off x="2773680" y="4059936"/>
            <a:ext cx="0" cy="59436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ое соединение 12"/>
          <p:cNvCxnSpPr>
            <a:stCxn id="5" idx="3"/>
          </p:cNvCxnSpPr>
          <p:nvPr/>
        </p:nvCxnSpPr>
        <p:spPr>
          <a:xfrm>
            <a:off x="4357370" y="2094230"/>
            <a:ext cx="15875" cy="298767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Connector 5"/>
          <p:cNvCxnSpPr/>
          <p:nvPr/>
        </p:nvCxnSpPr>
        <p:spPr>
          <a:xfrm flipH="1">
            <a:off x="3825240" y="5086096"/>
            <a:ext cx="556260" cy="63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Текстовое поле 14"/>
          <p:cNvSpPr txBox="1"/>
          <p:nvPr/>
        </p:nvSpPr>
        <p:spPr>
          <a:xfrm>
            <a:off x="6383655" y="2035175"/>
            <a:ext cx="478853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temperature</a:t>
            </a:r>
            <a:r>
              <a:rPr sz="2800">
                <a:latin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35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if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temperature</a:t>
            </a:r>
            <a:r>
              <a:rPr sz="2800">
                <a:latin typeface="Consolas" panose="020B0609020204030204"/>
                <a:sym typeface="+mn-ea"/>
              </a:rPr>
              <a:t> &gt;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30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too hot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the end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</a:endParaRPr>
          </a:p>
          <a:p>
            <a:endParaRPr lang="ru-RU" altLang="en-US" sz="2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if</a:t>
            </a:r>
            <a:r>
              <a:rPr lang="en-US"/>
              <a:t>-</a:t>
            </a:r>
            <a:r>
              <a:t>else</a:t>
            </a:r>
          </a:p>
        </p:txBody>
      </p:sp>
      <p:sp>
        <p:nvSpPr>
          <p:cNvPr id="5" name="Diamond 4"/>
          <p:cNvSpPr/>
          <p:nvPr/>
        </p:nvSpPr>
        <p:spPr>
          <a:xfrm>
            <a:off x="1837690" y="2195830"/>
            <a:ext cx="2967990" cy="100584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number</a:t>
            </a: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% </a:t>
            </a:r>
            <a:r>
              <a:rPr sz="13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== </a:t>
            </a:r>
            <a:r>
              <a:rPr sz="1300">
                <a:solidFill>
                  <a:schemeClr val="accent4"/>
                </a:solidFill>
                <a:latin typeface="Consolas" panose="020B0609020204030204"/>
                <a:sym typeface="+mn-ea"/>
              </a:rPr>
              <a:t>0</a:t>
            </a:r>
            <a:endParaRPr sz="1300" b="1" i="0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cxnSp>
        <p:nvCxnSpPr>
          <p:cNvPr id="6" name="Connector 5"/>
          <p:cNvCxnSpPr>
            <a:stCxn id="5" idx="3"/>
            <a:endCxn id="11" idx="0"/>
          </p:cNvCxnSpPr>
          <p:nvPr/>
        </p:nvCxnSpPr>
        <p:spPr>
          <a:xfrm flipH="1">
            <a:off x="4801870" y="2698496"/>
            <a:ext cx="3810" cy="140398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5" idx="1"/>
            <a:endCxn id="10" idx="0"/>
          </p:cNvCxnSpPr>
          <p:nvPr/>
        </p:nvCxnSpPr>
        <p:spPr>
          <a:xfrm flipH="1">
            <a:off x="1828165" y="2698496"/>
            <a:ext cx="9525" cy="140398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325" y="373799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1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9029" y="373799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1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6478" y="4102481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even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 b="1" i="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50437" y="4102481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marL="0" indent="0" algn="ctr">
              <a:buNone/>
            </a:pP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odd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 b="1" i="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12" name="Замещающий 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6383655" y="1796415"/>
            <a:ext cx="4788535" cy="3352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number</a:t>
            </a:r>
            <a:r>
              <a:rPr sz="2800">
                <a:latin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7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if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number</a:t>
            </a:r>
            <a:r>
              <a:rPr sz="2800">
                <a:latin typeface="Consolas" panose="020B0609020204030204"/>
                <a:sym typeface="+mn-ea"/>
              </a:rPr>
              <a:t> %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2</a:t>
            </a:r>
            <a:r>
              <a:rPr sz="2800">
                <a:latin typeface="Consolas" panose="020B0609020204030204"/>
                <a:sym typeface="+mn-ea"/>
              </a:rPr>
              <a:t> ==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0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even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else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odd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lang="ru-RU" altLang="en-US"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if</a:t>
            </a:r>
            <a:r>
              <a:rPr lang="en-US"/>
              <a:t>-</a:t>
            </a:r>
            <a:r>
              <a:t>elif</a:t>
            </a:r>
            <a:r>
              <a:rPr lang="en-US"/>
              <a:t>-</a:t>
            </a:r>
            <a:r>
              <a:t>else</a:t>
            </a:r>
          </a:p>
        </p:txBody>
      </p:sp>
      <p:sp>
        <p:nvSpPr>
          <p:cNvPr id="5" name="Diamond 4"/>
          <p:cNvSpPr/>
          <p:nvPr/>
        </p:nvSpPr>
        <p:spPr>
          <a:xfrm>
            <a:off x="620395" y="1408430"/>
            <a:ext cx="2095500" cy="82296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i="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score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&gt;=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90</a:t>
            </a:r>
            <a:endParaRPr sz="1200" i="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715768" y="1819656"/>
            <a:ext cx="969263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61487" y="1545336"/>
            <a:ext cx="87782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85031" y="1408176"/>
            <a:ext cx="19659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A</a:t>
            </a:r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lang="en-US" sz="1200" b="1" i="0">
              <a:solidFill>
                <a:schemeClr val="tx1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692148" y="2231136"/>
            <a:ext cx="0" cy="4572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4228" y="2249424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1" name="Diamond 10"/>
          <p:cNvSpPr/>
          <p:nvPr/>
        </p:nvSpPr>
        <p:spPr>
          <a:xfrm>
            <a:off x="621030" y="2688590"/>
            <a:ext cx="2094865" cy="82296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i="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score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&gt;=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75</a:t>
            </a:r>
            <a:endParaRPr sz="1200" i="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715768" y="3099816"/>
            <a:ext cx="969263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61487" y="2825496"/>
            <a:ext cx="87782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85031" y="2688336"/>
            <a:ext cx="19659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B</a:t>
            </a:r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1200" b="1" i="0">
              <a:solidFill>
                <a:schemeClr val="tx1"/>
              </a:solidFill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692148" y="3511296"/>
            <a:ext cx="0" cy="4572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4228" y="3529584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17" name="Diamond 16"/>
          <p:cNvSpPr/>
          <p:nvPr/>
        </p:nvSpPr>
        <p:spPr>
          <a:xfrm>
            <a:off x="621030" y="3968750"/>
            <a:ext cx="2094865" cy="82296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i="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score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&gt;=</a:t>
            </a:r>
            <a:r>
              <a:rPr lang="en-US" sz="1200" i="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1200" i="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60</a:t>
            </a:r>
            <a:endParaRPr sz="1200" i="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715768" y="4379976"/>
            <a:ext cx="969263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61487" y="4105656"/>
            <a:ext cx="87782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85031" y="3968496"/>
            <a:ext cx="19659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C</a:t>
            </a:r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1200" b="1" i="0">
              <a:solidFill>
                <a:schemeClr val="tx1"/>
              </a:solidFill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692148" y="4791456"/>
            <a:ext cx="0" cy="45720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4228" y="4809744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0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9168" y="5248656"/>
            <a:ext cx="19659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D</a:t>
            </a:r>
            <a:r>
              <a:rPr sz="1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1200" b="1" i="0">
              <a:solidFill>
                <a:schemeClr val="tx1"/>
              </a:solidFill>
            </a:endParaRPr>
          </a:p>
        </p:txBody>
      </p:sp>
      <p:sp>
        <p:nvSpPr>
          <p:cNvPr id="24" name="Замещающий номер слайда 2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6383655" y="1377950"/>
            <a:ext cx="4860925" cy="4559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score</a:t>
            </a:r>
            <a:r>
              <a:rPr sz="2200">
                <a:latin typeface="Consolas" panose="020B0609020204030204"/>
                <a:sym typeface="+mn-ea"/>
              </a:rPr>
              <a:t> =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sym typeface="+mn-ea"/>
              </a:rPr>
              <a:t>78</a:t>
            </a:r>
            <a:endParaRPr sz="22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latin typeface="Consolas" panose="020B0609020204030204"/>
                <a:sym typeface="+mn-ea"/>
              </a:rPr>
              <a:t> </a:t>
            </a:r>
            <a:endParaRPr sz="2200"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solidFill>
                  <a:schemeClr val="accent6"/>
                </a:solidFill>
                <a:latin typeface="Consolas" panose="020B0609020204030204"/>
                <a:sym typeface="+mn-ea"/>
              </a:rPr>
              <a:t>if</a:t>
            </a:r>
            <a:r>
              <a:rPr sz="2200">
                <a:latin typeface="Consolas" panose="020B0609020204030204"/>
                <a:sym typeface="+mn-ea"/>
              </a:rPr>
              <a:t>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score</a:t>
            </a:r>
            <a:r>
              <a:rPr sz="2200">
                <a:latin typeface="Consolas" panose="020B0609020204030204"/>
                <a:sym typeface="+mn-ea"/>
              </a:rPr>
              <a:t> &gt;=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sym typeface="+mn-ea"/>
              </a:rPr>
              <a:t>90</a:t>
            </a:r>
            <a:r>
              <a:rPr sz="2200">
                <a:latin typeface="Consolas" panose="020B0609020204030204"/>
                <a:sym typeface="+mn-ea"/>
              </a:rPr>
              <a:t>:</a:t>
            </a:r>
            <a:endParaRPr sz="2200"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latin typeface="Consolas" panose="020B0609020204030204"/>
                <a:sym typeface="+mn-ea"/>
              </a:rPr>
              <a:t>   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grade</a:t>
            </a:r>
            <a:r>
              <a:rPr sz="2200">
                <a:latin typeface="Consolas" panose="020B0609020204030204"/>
                <a:sym typeface="+mn-ea"/>
              </a:rPr>
              <a:t> =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A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2200">
              <a:solidFill>
                <a:schemeClr val="accent5"/>
              </a:solidFill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endParaRPr sz="22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solidFill>
                  <a:schemeClr val="accent6"/>
                </a:solidFill>
                <a:latin typeface="Consolas" panose="020B0609020204030204"/>
                <a:sym typeface="+mn-ea"/>
              </a:rPr>
              <a:t>elif</a:t>
            </a:r>
            <a:r>
              <a:rPr sz="2200">
                <a:latin typeface="Consolas" panose="020B0609020204030204"/>
                <a:sym typeface="+mn-ea"/>
              </a:rPr>
              <a:t>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score</a:t>
            </a:r>
            <a:r>
              <a:rPr sz="2200">
                <a:latin typeface="Consolas" panose="020B0609020204030204"/>
                <a:sym typeface="+mn-ea"/>
              </a:rPr>
              <a:t> &gt;=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sym typeface="+mn-ea"/>
              </a:rPr>
              <a:t>75</a:t>
            </a:r>
            <a:r>
              <a:rPr sz="2200">
                <a:latin typeface="Consolas" panose="020B0609020204030204"/>
                <a:sym typeface="+mn-ea"/>
              </a:rPr>
              <a:t>:</a:t>
            </a:r>
            <a:endParaRPr sz="2200"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latin typeface="Consolas" panose="020B0609020204030204"/>
                <a:sym typeface="+mn-ea"/>
              </a:rPr>
              <a:t>   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grade</a:t>
            </a:r>
            <a:r>
              <a:rPr sz="2200">
                <a:latin typeface="Consolas" panose="020B0609020204030204"/>
                <a:sym typeface="+mn-ea"/>
              </a:rPr>
              <a:t> =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B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2200">
              <a:solidFill>
                <a:schemeClr val="accent5"/>
              </a:solidFill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endParaRPr sz="22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solidFill>
                  <a:schemeClr val="accent6"/>
                </a:solidFill>
                <a:latin typeface="Consolas" panose="020B0609020204030204"/>
                <a:sym typeface="+mn-ea"/>
              </a:rPr>
              <a:t>elif</a:t>
            </a:r>
            <a:r>
              <a:rPr sz="2200">
                <a:latin typeface="Consolas" panose="020B0609020204030204"/>
                <a:sym typeface="+mn-ea"/>
              </a:rPr>
              <a:t>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score</a:t>
            </a:r>
            <a:r>
              <a:rPr sz="2200">
                <a:latin typeface="Consolas" panose="020B0609020204030204"/>
                <a:sym typeface="+mn-ea"/>
              </a:rPr>
              <a:t> &gt;=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sym typeface="+mn-ea"/>
              </a:rPr>
              <a:t>60</a:t>
            </a:r>
            <a:r>
              <a:rPr sz="2200">
                <a:latin typeface="Consolas" panose="020B0609020204030204"/>
                <a:sym typeface="+mn-ea"/>
              </a:rPr>
              <a:t>:</a:t>
            </a:r>
            <a:endParaRPr sz="2200"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latin typeface="Consolas" panose="020B0609020204030204"/>
                <a:sym typeface="+mn-ea"/>
              </a:rPr>
              <a:t>   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grade</a:t>
            </a:r>
            <a:r>
              <a:rPr sz="2200">
                <a:latin typeface="Consolas" panose="020B0609020204030204"/>
                <a:sym typeface="+mn-ea"/>
              </a:rPr>
              <a:t> =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C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sz="2200">
              <a:solidFill>
                <a:schemeClr val="accent5"/>
              </a:solidFill>
              <a:latin typeface="Consolas" panose="020B0609020204030204"/>
              <a:sym typeface="+mn-ea"/>
            </a:endParaRPr>
          </a:p>
          <a:p>
            <a:pPr marL="0" indent="0">
              <a:buNone/>
            </a:pPr>
            <a:endParaRPr sz="2200">
              <a:solidFill>
                <a:schemeClr val="accent5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solidFill>
                  <a:schemeClr val="accent6"/>
                </a:solidFill>
                <a:latin typeface="Consolas" panose="020B0609020204030204"/>
                <a:sym typeface="+mn-ea"/>
              </a:rPr>
              <a:t>else</a:t>
            </a:r>
            <a:r>
              <a:rPr sz="2200">
                <a:latin typeface="Consolas" panose="020B0609020204030204"/>
                <a:sym typeface="+mn-ea"/>
              </a:rPr>
              <a:t>:</a:t>
            </a:r>
            <a:endParaRPr sz="2200">
              <a:latin typeface="Consolas" panose="020B0609020204030204"/>
            </a:endParaRPr>
          </a:p>
          <a:p>
            <a:pPr marL="0" indent="0">
              <a:buNone/>
            </a:pPr>
            <a:r>
              <a:rPr sz="2200">
                <a:latin typeface="Consolas" panose="020B0609020204030204"/>
                <a:sym typeface="+mn-ea"/>
              </a:rPr>
              <a:t>    </a:t>
            </a:r>
            <a:r>
              <a:rPr sz="2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grade</a:t>
            </a:r>
            <a:r>
              <a:rPr sz="2200">
                <a:latin typeface="Consolas" panose="020B0609020204030204"/>
                <a:sym typeface="+mn-ea"/>
              </a:rPr>
              <a:t> =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grade D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endParaRPr lang="ru-RU" altLang="en-US" sz="220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Цикл while</a:t>
            </a:r>
          </a:p>
        </p:txBody>
      </p:sp>
      <p:sp>
        <p:nvSpPr>
          <p:cNvPr id="11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1" name="Diamond 4"/>
          <p:cNvSpPr/>
          <p:nvPr/>
        </p:nvSpPr>
        <p:spPr>
          <a:xfrm>
            <a:off x="1189990" y="1591310"/>
            <a:ext cx="3167380" cy="1005840"/>
          </a:xfrm>
          <a:prstGeom prst="diamond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3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</a:t>
            </a:r>
            <a:r>
              <a:rPr lang="en-US" sz="1300">
                <a:solidFill>
                  <a:schemeClr val="tx1"/>
                </a:solidFill>
                <a:latin typeface="Consolas" panose="020B0609020204030204"/>
                <a:sym typeface="+mn-ea"/>
              </a:rPr>
              <a:t>&lt;=</a:t>
            </a:r>
            <a:r>
              <a:rPr sz="1300">
                <a:solidFill>
                  <a:schemeClr val="tx1"/>
                </a:solidFill>
                <a:latin typeface="Consolas" panose="020B0609020204030204"/>
                <a:sym typeface="+mn-ea"/>
              </a:rPr>
              <a:t> </a:t>
            </a:r>
            <a:r>
              <a:rPr lang="en-US" sz="1300">
                <a:solidFill>
                  <a:schemeClr val="accent4"/>
                </a:solidFill>
                <a:latin typeface="Consolas" panose="020B0609020204030204"/>
                <a:sym typeface="+mn-ea"/>
              </a:rPr>
              <a:t>5</a:t>
            </a:r>
            <a:endParaRPr lang="en-US" sz="1300" b="1" i="0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cxnSp>
        <p:nvCxnSpPr>
          <p:cNvPr id="22" name="Connector 5"/>
          <p:cNvCxnSpPr/>
          <p:nvPr/>
        </p:nvCxnSpPr>
        <p:spPr>
          <a:xfrm>
            <a:off x="2773680" y="2596896"/>
            <a:ext cx="0" cy="59436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Box 6"/>
          <p:cNvSpPr txBox="1"/>
          <p:nvPr/>
        </p:nvSpPr>
        <p:spPr>
          <a:xfrm>
            <a:off x="2773807" y="2675953"/>
            <a:ext cx="91440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chemeClr val="tx1">
                    <a:lumMod val="55000"/>
                    <a:lumOff val="45000"/>
                  </a:schemeClr>
                </a:solidFill>
              </a:rPr>
              <a:t>Да</a:t>
            </a:r>
            <a:endParaRPr sz="16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24" name="Rounded Rectangle 7"/>
          <p:cNvSpPr/>
          <p:nvPr/>
        </p:nvSpPr>
        <p:spPr>
          <a:xfrm>
            <a:off x="1722120" y="3191256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en-US"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    </a:t>
            </a:r>
            <a:r>
              <a:rPr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lang="en-US" sz="13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>
              <a:solidFill>
                <a:schemeClr val="accent1"/>
              </a:solidFill>
              <a:latin typeface="Consolas" panose="020B0609020204030204"/>
              <a:sym typeface="+mn-ea"/>
            </a:endParaRPr>
          </a:p>
          <a:p>
            <a:pPr algn="l"/>
            <a:r>
              <a:rPr lang="en-US" sz="1300" i="0">
                <a:solidFill>
                  <a:schemeClr val="accent1"/>
                </a:solidFill>
                <a:latin typeface="Consolas" panose="020B0609020204030204"/>
                <a:sym typeface="+mn-ea"/>
              </a:rPr>
              <a:t>    </a:t>
            </a:r>
            <a:r>
              <a:rPr lang="en-US" sz="1300" i="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lang="en-US" sz="1300" i="0">
                <a:solidFill>
                  <a:schemeClr val="accent1"/>
                </a:solidFill>
                <a:latin typeface="Consolas" panose="020B0609020204030204"/>
                <a:sym typeface="+mn-ea"/>
              </a:rPr>
              <a:t> </a:t>
            </a:r>
            <a:r>
              <a:rPr lang="en-US" sz="1300" i="0">
                <a:solidFill>
                  <a:schemeClr val="tx1"/>
                </a:solidFill>
                <a:latin typeface="Consolas" panose="020B0609020204030204"/>
                <a:sym typeface="+mn-ea"/>
              </a:rPr>
              <a:t>+=</a:t>
            </a:r>
            <a:r>
              <a:rPr lang="en-US" sz="1300" i="0">
                <a:solidFill>
                  <a:schemeClr val="accent1"/>
                </a:solidFill>
                <a:latin typeface="Consolas" panose="020B0609020204030204"/>
                <a:sym typeface="+mn-ea"/>
              </a:rPr>
              <a:t> </a:t>
            </a:r>
            <a:r>
              <a:rPr lang="en-US" sz="1300" i="0">
                <a:solidFill>
                  <a:schemeClr val="accent4"/>
                </a:solidFill>
                <a:latin typeface="Consolas" panose="020B0609020204030204"/>
                <a:sym typeface="+mn-ea"/>
              </a:rPr>
              <a:t>1</a:t>
            </a:r>
            <a:endParaRPr lang="en-US" sz="1300" i="0">
              <a:solidFill>
                <a:schemeClr val="accent4"/>
              </a:solidFill>
              <a:latin typeface="Consolas" panose="020B0609020204030204"/>
              <a:sym typeface="+mn-ea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4357370" y="3419793"/>
            <a:ext cx="82994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chemeClr val="tx1">
                    <a:lumMod val="55000"/>
                    <a:lumOff val="45000"/>
                  </a:schemeClr>
                </a:solidFill>
              </a:rPr>
              <a:t>Нет</a:t>
            </a:r>
            <a:endParaRPr sz="1600" b="0">
              <a:solidFill>
                <a:schemeClr val="tx1">
                  <a:lumMod val="55000"/>
                  <a:lumOff val="45000"/>
                </a:schemeClr>
              </a:solidFill>
            </a:endParaRPr>
          </a:p>
        </p:txBody>
      </p:sp>
      <p:sp>
        <p:nvSpPr>
          <p:cNvPr id="26" name="Rounded Rectangle 7"/>
          <p:cNvSpPr/>
          <p:nvPr/>
        </p:nvSpPr>
        <p:spPr>
          <a:xfrm>
            <a:off x="1722120" y="4654296"/>
            <a:ext cx="2103120" cy="8686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marL="0" indent="0" algn="ctr">
              <a:buNone/>
            </a:pPr>
            <a:r>
              <a:rPr sz="13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done</a:t>
            </a:r>
            <a:r>
              <a:rPr sz="13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13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1300" b="1" i="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  <p:cxnSp>
        <p:nvCxnSpPr>
          <p:cNvPr id="27" name="Connector 5"/>
          <p:cNvCxnSpPr/>
          <p:nvPr/>
        </p:nvCxnSpPr>
        <p:spPr>
          <a:xfrm flipH="1" flipV="1">
            <a:off x="1186815" y="2093976"/>
            <a:ext cx="3810" cy="153797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Прямое соединение 27"/>
          <p:cNvCxnSpPr>
            <a:stCxn id="21" idx="3"/>
          </p:cNvCxnSpPr>
          <p:nvPr/>
        </p:nvCxnSpPr>
        <p:spPr>
          <a:xfrm>
            <a:off x="4357370" y="2094230"/>
            <a:ext cx="15875" cy="298767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Connector 5"/>
          <p:cNvCxnSpPr/>
          <p:nvPr/>
        </p:nvCxnSpPr>
        <p:spPr>
          <a:xfrm flipH="1">
            <a:off x="3825240" y="5086096"/>
            <a:ext cx="556260" cy="635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Прямое соединение 29"/>
          <p:cNvCxnSpPr>
            <a:endCxn id="24" idx="1"/>
          </p:cNvCxnSpPr>
          <p:nvPr/>
        </p:nvCxnSpPr>
        <p:spPr>
          <a:xfrm flipV="1">
            <a:off x="1186815" y="3625850"/>
            <a:ext cx="535305" cy="25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Текстовое поле 30"/>
          <p:cNvSpPr txBox="1"/>
          <p:nvPr/>
        </p:nvSpPr>
        <p:spPr>
          <a:xfrm>
            <a:off x="6383655" y="1796415"/>
            <a:ext cx="4231640" cy="3352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2800">
                <a:latin typeface="Consolas" panose="020B0609020204030204"/>
                <a:sym typeface="+mn-ea"/>
              </a:rPr>
              <a:t> 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1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6"/>
                </a:solidFill>
                <a:latin typeface="Consolas" panose="020B0609020204030204"/>
                <a:sym typeface="+mn-ea"/>
              </a:rPr>
              <a:t>while</a:t>
            </a:r>
            <a:r>
              <a:rPr sz="2800">
                <a:latin typeface="Consolas" panose="020B0609020204030204"/>
                <a:sym typeface="+mn-ea"/>
              </a:rPr>
              <a:t>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2800">
                <a:latin typeface="Consolas" panose="020B0609020204030204"/>
                <a:sym typeface="+mn-ea"/>
              </a:rPr>
              <a:t> &lt;=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5</a:t>
            </a:r>
            <a:r>
              <a:rPr sz="2800">
                <a:latin typeface="Consolas" panose="020B0609020204030204"/>
                <a:sym typeface="+mn-ea"/>
              </a:rPr>
              <a:t>: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   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sym typeface="+mn-ea"/>
              </a:rPr>
              <a:t>count</a:t>
            </a:r>
            <a:r>
              <a:rPr sz="2800">
                <a:latin typeface="Consolas" panose="020B0609020204030204"/>
                <a:sym typeface="+mn-ea"/>
              </a:rPr>
              <a:t> +=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sym typeface="+mn-ea"/>
              </a:rPr>
              <a:t>1</a:t>
            </a:r>
            <a:endParaRPr sz="2800">
              <a:solidFill>
                <a:schemeClr val="accent2"/>
              </a:solidFill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latin typeface="Consolas" panose="020B0609020204030204"/>
                <a:sym typeface="+mn-ea"/>
              </a:rPr>
              <a:t> </a:t>
            </a:r>
            <a:endParaRPr sz="2800">
              <a:latin typeface="Consolas" panose="020B0609020204030204"/>
            </a:endParaRPr>
          </a:p>
          <a:p>
            <a:pPr marL="0" indent="0">
              <a:buNone/>
            </a:pPr>
            <a:r>
              <a:rPr sz="2800">
                <a:solidFill>
                  <a:schemeClr val="accent3"/>
                </a:solidFill>
                <a:latin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lang="en-US"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done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sym typeface="+mn-ea"/>
              </a:rPr>
              <a:t>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sym typeface="+mn-ea"/>
              </a:rPr>
              <a:t>)</a:t>
            </a:r>
            <a:endParaRPr lang="ru-RU" altLang="en-US" sz="2800">
              <a:solidFill>
                <a:schemeClr val="accent1"/>
              </a:solidFill>
              <a:latin typeface="Consolas" panose="020B0609020204030204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8880" y="2772410"/>
            <a:ext cx="10221595" cy="1313180"/>
          </a:xfrm>
        </p:spPr>
        <p:txBody>
          <a:bodyPr>
            <a:normAutofit fontScale="90000"/>
          </a:bodyPr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2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3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4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5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6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7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8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39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0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1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2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3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4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5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6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7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8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49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0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1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2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3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4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5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6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7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8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59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ags/tag60.xml><?xml version="1.0" encoding="utf-8"?>
<p:tagLst xmlns:p="http://schemas.openxmlformats.org/presentationml/2006/main">
  <p:tag name="KSO_WM_DIAGRAM_VIRTUALLY_FRAME" val="{&quot;height&quot;:577.25,&quot;left&quot;:798.35,&quot;top&quot;:307.5,&quot;width&quot;:238.35}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7900</Words>
  <Application>WPS Presentation</Application>
  <PresentationFormat>Широкоэкранный</PresentationFormat>
  <Paragraphs>894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SimSun</vt:lpstr>
      <vt:lpstr>Wingdings</vt:lpstr>
      <vt:lpstr>Wingdings</vt:lpstr>
      <vt:lpstr>Consolas</vt:lpstr>
      <vt:lpstr>Consolas</vt:lpstr>
      <vt:lpstr>Arial Black</vt:lpstr>
      <vt:lpstr>Microsoft YaHei</vt:lpstr>
      <vt:lpstr>Arial Unicode MS</vt:lpstr>
      <vt:lpstr>Calibri</vt:lpstr>
      <vt:lpstr>Tahoma</vt:lpstr>
      <vt:lpstr>Arial</vt:lpstr>
      <vt:lpstr>Segoe UI</vt:lpstr>
      <vt:lpstr>WPS</vt:lpstr>
      <vt:lpstr>Анатомия Python-программ</vt:lpstr>
      <vt:lpstr>Запуск программ на Python</vt:lpstr>
      <vt:lpstr>Режимы работы интерпретатора</vt:lpstr>
      <vt:lpstr>REPL: Read – Eval – Print – Loop</vt:lpstr>
      <vt:lpstr>Что умеет REPL</vt:lpstr>
      <vt:lpstr>REPL: плюсы и минусы</vt:lpstr>
      <vt:lpstr>Пакетный режим</vt:lpstr>
      <vt:lpstr>Полезные способы запуска</vt:lpstr>
      <vt:lpstr>.pyc и __pycache__</vt:lpstr>
      <vt:lpstr>Как интерпретатор запускает программу</vt:lpstr>
      <vt:lpstr>Конвейер: от текста к результату</vt:lpstr>
      <vt:lpstr>Парсинг: Лексический анализ</vt:lpstr>
      <vt:lpstr>Парсинг: Синтаксический анализ</vt:lpstr>
      <vt:lpstr>Компиляция в байткод</vt:lpstr>
      <vt:lpstr>Компилируемый или интерпретируемый</vt:lpstr>
      <vt:lpstr>Анатомия Python-файла</vt:lpstr>
      <vt:lpstr>Физические строки, пустые строки, комментарии</vt:lpstr>
      <vt:lpstr>Строки</vt:lpstr>
      <vt:lpstr>Использование комментариев</vt:lpstr>
      <vt:lpstr>Пустые строки</vt:lpstr>
      <vt:lpstr>Пустые строки</vt:lpstr>
      <vt:lpstr>Выражение vs Инструкция</vt:lpstr>
      <vt:lpstr>Инструкции</vt:lpstr>
      <vt:lpstr>Простые инструкции</vt:lpstr>
      <vt:lpstr>Составные инструкции</vt:lpstr>
      <vt:lpstr>Отступы</vt:lpstr>
      <vt:lpstr>Отступы задают смысл программы</vt:lpstr>
      <vt:lpstr>Токены: из чего состоит строка кода</vt:lpstr>
      <vt:lpstr>Что такое токен</vt:lpstr>
      <vt:lpstr>Токенезация</vt:lpstr>
      <vt:lpstr>Идентификаторы</vt:lpstr>
      <vt:lpstr>Соглашения об именовании</vt:lpstr>
      <vt:lpstr>Ключевые слова</vt:lpstr>
      <vt:lpstr>Мягкие ключевые слова</vt:lpstr>
      <vt:lpstr>Литералы</vt:lpstr>
      <vt:lpstr>Магические константы</vt:lpstr>
      <vt:lpstr>Операторы</vt:lpstr>
      <vt:lpstr>Разделители</vt:lpstr>
      <vt:lpstr>Объекты: идентичность, тип данных и значение</vt:lpstr>
      <vt:lpstr>Разделители</vt:lpstr>
      <vt:lpstr>Характеристики объекта</vt:lpstr>
      <vt:lpstr>Идентичность в CPython</vt:lpstr>
      <vt:lpstr>Идентичность в CPython</vt:lpstr>
      <vt:lpstr>Идентичность в CPython</vt:lpstr>
      <vt:lpstr>Работа с типом данных</vt:lpstr>
      <vt:lpstr>Разновидности типов данных</vt:lpstr>
      <vt:lpstr>Значения объектов</vt:lpstr>
      <vt:lpstr>Переменные</vt:lpstr>
      <vt:lpstr>Работа с переменными</vt:lpstr>
      <vt:lpstr>Работа с переменными</vt:lpstr>
      <vt:lpstr>Проверка</vt:lpstr>
      <vt:lpstr>Управляющие конструкции: ветвление и цикл while</vt:lpstr>
      <vt:lpstr>Истинность условия</vt:lpstr>
      <vt:lpstr>Ветвление: if</vt:lpstr>
      <vt:lpstr>if / else</vt:lpstr>
      <vt:lpstr>if / elif / else</vt:lpstr>
      <vt:lpstr>Цикл while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</cp:lastModifiedBy>
  <cp:revision>442</cp:revision>
  <dcterms:created xsi:type="dcterms:W3CDTF">2026-09-01T18:40:00Z</dcterms:created>
  <dcterms:modified xsi:type="dcterms:W3CDTF">2026-09-11T20:57:10Z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