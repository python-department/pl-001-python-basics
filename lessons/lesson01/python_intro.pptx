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media/image10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7"/>
  </p:notesMasterIdLst>
  <p:sldIdLst>
    <p:sldId id="256" r:id="rId3"/>
    <p:sldId id="263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303" r:id="rId12"/>
    <p:sldId id="302" r:id="rId13"/>
    <p:sldId id="274" r:id="rId14"/>
    <p:sldId id="275" r:id="rId15"/>
    <p:sldId id="304" r:id="rId16"/>
    <p:sldId id="276" r:id="rId17"/>
    <p:sldId id="277" r:id="rId18"/>
    <p:sldId id="278" r:id="rId19"/>
    <p:sldId id="279" r:id="rId20"/>
    <p:sldId id="306" r:id="rId21"/>
    <p:sldId id="281" r:id="rId22"/>
    <p:sldId id="282" r:id="rId23"/>
    <p:sldId id="307" r:id="rId24"/>
    <p:sldId id="284" r:id="rId25"/>
    <p:sldId id="285" r:id="rId26"/>
    <p:sldId id="308" r:id="rId27"/>
    <p:sldId id="309" r:id="rId28"/>
    <p:sldId id="310" r:id="rId29"/>
    <p:sldId id="287" r:id="rId30"/>
    <p:sldId id="288" r:id="rId31"/>
    <p:sldId id="262" r:id="rId32"/>
    <p:sldId id="290" r:id="rId33"/>
    <p:sldId id="291" r:id="rId34"/>
    <p:sldId id="311" r:id="rId35"/>
    <p:sldId id="292" r:id="rId36"/>
    <p:sldId id="294" r:id="rId37"/>
    <p:sldId id="26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265" r:id="rId4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7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5900"/>
    <a:srgbClr val="7CB683"/>
    <a:srgbClr val="C09D29"/>
    <a:srgbClr val="FFFFFF"/>
    <a:srgbClr val="7030A0"/>
    <a:srgbClr val="DCDCDC"/>
    <a:srgbClr val="F0F0F0"/>
    <a:srgbClr val="E6E6E6"/>
    <a:srgbClr val="C8C8C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67"/>
        <p:guide pos="384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0" Type="http://schemas.openxmlformats.org/officeDocument/2006/relationships/tableStyles" Target="tableStyles.xml"/><Relationship Id="rId5" Type="http://schemas.openxmlformats.org/officeDocument/2006/relationships/slide" Target="slides/slide3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notesMaster" Target="notesMasters/notesMaster1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B9D8EF"/>
              </a:solidFill>
            </c:spPr>
          </c:dPt>
          <c:dPt>
            <c:idx val="1"/>
            <c:invertIfNegative val="0"/>
            <c:bubble3D val="0"/>
            <c:spPr>
              <a:solidFill>
                <a:srgbClr val="0070C0"/>
              </a:solidFill>
            </c:spPr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ru-RU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 c:formatCode="&quot;О&quot;&quot;с&quot;&quot;н&quot;&quot;о&quot;&quot;в&quot;&quot;н&quot;&quot;о&quot;&quot;й&quot;">
                  <c:v>2024</c:v>
                </c:pt>
                <c:pt idx="1" c:formatCode="&quot;О&quot;&quot;с&quot;&quot;н&quot;&quot;о&quot;&quot;в&quot;&quot;н&quot;&quot;о&quot;&quot;й&quot;">
                  <c:v>2025</c:v>
                </c:pt>
              </c:strCache>
            </c:strRef>
          </c:cat>
          <c:val>
            <c:numRef>
              <c:f>Sheet1!$B$2:$B$3</c:f>
              <c:numCache>
                <c:formatCode>"О""с""н""о""в""н""о""й"</c:formatCode>
                <c:ptCount val="2"/>
                <c:pt idx="0">
                  <c:v>51</c:v>
                </c:pt>
                <c:pt idx="1">
                  <c:v>58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12700" cap="flat" cmpd="sng" algn="ctr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ru-RU" sz="1600" b="1" i="0" u="none" strike="noStrike" kern="1200" baseline="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72.5"/>
          <c:min val="0"/>
        </c:scaling>
        <c:delete val="1"/>
        <c:axPos val="l"/>
        <c:numFmt formatCode="&quot;О&quot;&quot;с&quot;&quot;н&quot;&quot;о&quot;&quot;в&quot;&quot;н&quot;&quot;о&quot;&quot;й&quot;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ru-RU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63dd4598-beb5-4c0b-913f-cb8297f60ec2}"/>
      </c:ext>
    </c:extLst>
  </c:chart>
  <c:txPr>
    <a:bodyPr/>
    <a:lstStyle/>
    <a:p>
      <a:pPr>
        <a:defRPr lang="ru-RU" sz="1800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от, тыс ₽</c:v>
                </c:pt>
              </c:strCache>
            </c:strRef>
          </c:tx>
          <c:spPr>
            <a:solidFill>
              <a:srgbClr val="9DC3E6"/>
            </a:solidFill>
            <a:ln>
              <a:noFill/>
            </a:ln>
          </c:spPr>
          <c:invertIfNegative val="0"/>
          <c:dLbls>
            <c:numFmt formatCode="0&quot; тыс ₽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ru-RU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 c:formatCode="&quot;О&quot;&quot;с&quot;&quot;н&quot;&quot;о&quot;&quot;в&quot;&quot;н&quot;&quot;о&quot;&quot;й&quot;">
                  <c:v>Junior</c:v>
                </c:pt>
                <c:pt idx="1" c:formatCode="&quot;О&quot;&quot;с&quot;&quot;н&quot;&quot;о&quot;&quot;в&quot;&quot;н&quot;&quot;о&quot;&quot;й&quot;">
                  <c:v>Middle</c:v>
                </c:pt>
                <c:pt idx="2" c:formatCode="&quot;О&quot;&quot;с&quot;&quot;н&quot;&quot;о&quot;&quot;в&quot;&quot;н&quot;&quot;о&quot;&quot;й&quot;">
                  <c:v>Senior</c:v>
                </c:pt>
              </c:strCache>
            </c:strRef>
          </c:cat>
          <c:val>
            <c:numRef>
              <c:f>Sheet1!$B$2:$B$4</c:f>
              <c:numCache>
                <c:formatCode>"О""с""н""о""в""н""о""й"</c:formatCode>
                <c:ptCount val="3"/>
                <c:pt idx="0">
                  <c:v>60</c:v>
                </c:pt>
                <c:pt idx="1">
                  <c:v>165</c:v>
                </c:pt>
                <c:pt idx="2">
                  <c:v>260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до, тыс ₽</c:v>
                </c:pt>
              </c:strCache>
            </c:strRef>
          </c:tx>
          <c:spPr>
            <a:solidFill>
              <a:srgbClr val="2E75B6"/>
            </a:solidFill>
            <a:ln>
              <a:noFill/>
            </a:ln>
          </c:spPr>
          <c:invertIfNegative val="0"/>
          <c:dLbls>
            <c:numFmt formatCode="0&quot; тыс ₽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ru-RU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 c:formatCode="&quot;О&quot;&quot;с&quot;&quot;н&quot;&quot;о&quot;&quot;в&quot;&quot;н&quot;&quot;о&quot;&quot;й&quot;">
                  <c:v>Junior</c:v>
                </c:pt>
                <c:pt idx="1" c:formatCode="&quot;О&quot;&quot;с&quot;&quot;н&quot;&quot;о&quot;&quot;в&quot;&quot;н&quot;&quot;о&quot;&quot;й&quot;">
                  <c:v>Middle</c:v>
                </c:pt>
                <c:pt idx="2" c:formatCode="&quot;О&quot;&quot;с&quot;&quot;н&quot;&quot;о&quot;&quot;в&quot;&quot;н&quot;&quot;о&quot;&quot;й&quot;">
                  <c:v>Senior</c:v>
                </c:pt>
              </c:strCache>
            </c:strRef>
          </c:cat>
          <c:val>
            <c:numRef>
              <c:f>Sheet1!$C$2:$C$4</c:f>
              <c:numCache>
                <c:formatCode>"О""с""н""о""в""н""о""й"</c:formatCode>
                <c:ptCount val="3"/>
                <c:pt idx="0">
                  <c:v>70</c:v>
                </c:pt>
                <c:pt idx="1">
                  <c:v>200</c:v>
                </c:pt>
                <c:pt idx="2">
                  <c:v>300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12700" cap="flat" cmpd="sng" algn="ctr">
            <a:solidFill>
              <a:srgbClr val="BFBFBF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ru-RU" sz="16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20"/>
          <c:min val="0"/>
        </c:scaling>
        <c:delete val="0"/>
        <c:axPos val="l"/>
        <c:majorGridlines>
          <c:spPr>
            <a:ln w="12700" cap="flat" cmpd="sng" algn="ctr">
              <a:solidFill>
                <a:srgbClr val="E7E6E6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ru-RU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  <c:majorUnit val="50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ru-RU" sz="1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c4dfa9d7-f27b-46d6-a586-0639a0b9a4a9}"/>
      </c:ext>
    </c:extLst>
  </c:chart>
  <c:txPr>
    <a:bodyPr/>
    <a:lstStyle/>
    <a:p>
      <a:pPr>
        <a:defRPr lang="ru-RU" sz="1800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ий 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Замещающая 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ru-RU" smtClean="0"/>
            </a:fld>
            <a:endParaRPr lang="ru-RU"/>
          </a:p>
        </p:txBody>
      </p:sp>
      <p:sp>
        <p:nvSpPr>
          <p:cNvPr id="4" name="Замещающий 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полнитель примечаний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Щелкните, чтобы изменить стиль образца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Слайд заголовка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1198880" y="2772410"/>
            <a:ext cx="9799320" cy="131318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6048375" y="4392295"/>
            <a:ext cx="4949825" cy="640715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RU" dirty="0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ечный слайд">
    <p:bg>
      <p:bgPr>
        <a:blipFill rotWithShape="1">
          <a:blip r:embed="rId2"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smtClean="0"/>
              <a:t>Заголовок</a:t>
            </a:r>
            <a:endParaRPr lang="ru-RU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содержимо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содержимого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Содержимое в двух колонка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содержимого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Заполнитель содержимого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5" name="Заполнитель даты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6" name="Заполнитель колонтитула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Заполнитель номера слайда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даты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4" name="Заполнитель колонтитула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полнитель номера слайда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е и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полнитель изображения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ru-RU"/>
          </a:p>
        </p:txBody>
      </p:sp>
      <p:sp>
        <p:nvSpPr>
          <p:cNvPr id="4" name="Текстовый заполнитель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ru-RU" smtClean="0"/>
              <a:t>Образец текста</a:t>
            </a:r>
            <a:endParaRPr lang="ru-RU"/>
          </a:p>
        </p:txBody>
      </p:sp>
      <p:sp>
        <p:nvSpPr>
          <p:cNvPr id="5" name="Заполнитель даты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ru-RU" smtClean="0"/>
            </a:fld>
            <a:endParaRPr lang="ru-RU" dirty="0"/>
          </a:p>
        </p:txBody>
      </p:sp>
      <p:sp>
        <p:nvSpPr>
          <p:cNvPr id="6" name="Заполнитель колонтитула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Заполнитель номера слайда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ru-RU" smtClean="0"/>
            </a:fld>
            <a:endParaRPr lang="ru-RU"/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ru-RU"/>
              <a:t>Образец заголовка</a:t>
            </a:r>
            <a:endParaRPr lang="ru-RU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ы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ая 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3" name="Замещающий 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-заполнитель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/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3" name="Текстовый заполнитель 2"/>
          <p:cNvSpPr>
            <a:spLocks noGrp="1"/>
          </p:cNvSpPr>
          <p:nvPr>
            <p:ph type="body" idx="1"/>
            <p:custDataLst>
              <p:tags r:id="rId9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59549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ru-RU" smtClean="0"/>
            </a:fld>
            <a:endParaRPr lang="ru-RU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4000" b="0" u="none" strike="noStrike" kern="1200" cap="none" spc="300" normalizeH="0" baseline="0">
          <a:solidFill>
            <a:srgbClr val="0070C0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5.xml"/><Relationship Id="rId1" Type="http://schemas.openxmlformats.org/officeDocument/2006/relationships/tags" Target="../tags/tag34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46.xml"/><Relationship Id="rId1" Type="http://schemas.openxmlformats.org/officeDocument/2006/relationships/tags" Target="../tags/tag4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48.xml"/><Relationship Id="rId1" Type="http://schemas.openxmlformats.org/officeDocument/2006/relationships/tags" Target="../tags/tag4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50.xml"/><Relationship Id="rId1" Type="http://schemas.openxmlformats.org/officeDocument/2006/relationships/tags" Target="../tags/tag49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tags" Target="../tags/tag5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5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image" Target="../media/image11.jpe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tags" Target="../tags/tag5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7.xml"/><Relationship Id="rId1" Type="http://schemas.openxmlformats.org/officeDocument/2006/relationships/tags" Target="../tags/tag5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4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9.xml"/><Relationship Id="rId1" Type="http://schemas.openxmlformats.org/officeDocument/2006/relationships/tags" Target="../tags/tag5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chart" Target="../charts/char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chart" Target="../charts/char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1.xml"/><Relationship Id="rId1" Type="http://schemas.openxmlformats.org/officeDocument/2006/relationships/tags" Target="../tags/tag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ru-RU" altLang="ru-RU"/>
              <a:t>Введение в </a:t>
            </a:r>
            <a:r>
              <a:rPr lang="en-US" altLang="ru-RU"/>
              <a:t>Python</a:t>
            </a:r>
            <a:endParaRPr lang="en-US" alt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164455" y="4740910"/>
            <a:ext cx="5833745" cy="640715"/>
          </a:xfrm>
        </p:spPr>
        <p:txBody>
          <a:bodyPr>
            <a:normAutofit fontScale="90000"/>
          </a:bodyPr>
          <a:p>
            <a:r>
              <a:rPr lang="ru-RU"/>
              <a:t>Докладчик: Евграфов Михаил</a:t>
            </a:r>
            <a:endParaRPr lang="en-US" altLang="ru-RU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Заголовок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ru-RU" altLang="ru-RU"/>
              <a:t>Что такое </a:t>
            </a:r>
            <a:r>
              <a:rPr lang="en-US" altLang="ru-RU"/>
              <a:t>Python?</a:t>
            </a:r>
            <a:endParaRPr lang="en-US" altLang="ru-RU"/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Изображение 4"/>
          <p:cNvPicPr/>
          <p:nvPr/>
        </p:nvPicPr>
        <p:blipFill>
          <a:blip r:embed="rId1"/>
          <a:stretch>
            <a:fillRect/>
          </a:stretch>
        </p:blipFill>
        <p:spPr>
          <a:xfrm>
            <a:off x="8739505" y="3672840"/>
            <a:ext cx="2837815" cy="26416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ru-RU" altLang="en-US"/>
              <a:t>Определение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330" y="1490345"/>
            <a:ext cx="10968990" cy="3325495"/>
          </a:xfrm>
        </p:spPr>
        <p:txBody>
          <a:bodyPr>
            <a:normAutofit lnSpcReduction="10000"/>
          </a:bodyPr>
          <a:p>
            <a:pPr marL="0" indent="0" algn="just">
              <a:buNone/>
            </a:pPr>
            <a:r>
              <a:rPr lang="en-US" altLang="ru-RU" sz="3200"/>
              <a:t>Python - </a:t>
            </a:r>
            <a:r>
              <a:rPr lang="en-US" altLang="en-US" sz="3200"/>
              <a:t>это мультипарадигмальный высокоуровневый язык программирования общего назначения с динамической строгой типизацией и автоматическим управлением памятью</a:t>
            </a:r>
            <a:endParaRPr lang="en-US" altLang="en-US" sz="3200"/>
          </a:p>
          <a:p>
            <a:pPr marL="0" indent="0" algn="just">
              <a:buNone/>
            </a:pPr>
            <a:endParaRPr lang="en-US" altLang="en-US" sz="32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ru-RU" altLang="en-US"/>
              <a:t>Определение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10968990" cy="3325495"/>
          </a:xfrm>
        </p:spPr>
        <p:txBody>
          <a:bodyPr>
            <a:normAutofit lnSpcReduction="10000"/>
          </a:bodyPr>
          <a:p>
            <a:pPr marL="0" indent="0" algn="just">
              <a:buNone/>
            </a:pPr>
            <a:r>
              <a:rPr lang="en-US" altLang="ru-RU" sz="3200">
                <a:solidFill>
                  <a:schemeClr val="tx2">
                    <a:lumMod val="60000"/>
                    <a:lumOff val="40000"/>
                  </a:schemeClr>
                </a:solidFill>
              </a:rPr>
              <a:t>Python - </a:t>
            </a:r>
            <a:r>
              <a:rPr lang="en-US" altLang="en-US" sz="3200">
                <a:solidFill>
                  <a:schemeClr val="tx2">
                    <a:lumMod val="60000"/>
                    <a:lumOff val="40000"/>
                  </a:schemeClr>
                </a:solidFill>
              </a:rPr>
              <a:t>это </a:t>
            </a:r>
            <a:r>
              <a:rPr lang="en-US" altLang="en-US" sz="3200">
                <a:solidFill>
                  <a:schemeClr val="tx1">
                    <a:lumMod val="65000"/>
                    <a:lumOff val="35000"/>
                  </a:schemeClr>
                </a:solidFill>
              </a:rPr>
              <a:t>мультипарадигмальный</a:t>
            </a:r>
            <a:r>
              <a:rPr lang="en-US" altLang="en-US" sz="3200">
                <a:solidFill>
                  <a:schemeClr val="tx2">
                    <a:lumMod val="60000"/>
                    <a:lumOff val="40000"/>
                  </a:schemeClr>
                </a:solidFill>
              </a:rPr>
              <a:t> высокоуровневый язык программирования общего назначения с динамической строгой типизацией и автоматическим управлением памятью</a:t>
            </a:r>
            <a:endParaRPr lang="en-US" altLang="en-US" sz="320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 algn="just">
              <a:buNone/>
            </a:pPr>
            <a:endParaRPr lang="en-US" altLang="en-US" sz="320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ru-RU" altLang="en-US"/>
              <a:t>Парадигмы программирования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1747520" y="1981835"/>
            <a:ext cx="8690610" cy="796925"/>
          </a:xfrm>
        </p:spPr>
        <p:txBody>
          <a:bodyPr/>
          <a:p>
            <a:pPr marL="0" indent="0" algn="ctr">
              <a:buNone/>
            </a:pPr>
            <a:r>
              <a:rPr lang="en-US" altLang="en-US" sz="3200"/>
              <a:t>Парадигмы программирования</a:t>
            </a:r>
            <a:endParaRPr lang="en-US" altLang="en-US" sz="32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608330" y="3460115"/>
            <a:ext cx="36106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2800">
                <a:solidFill>
                  <a:schemeClr val="tx1">
                    <a:lumMod val="65000"/>
                    <a:lumOff val="35000"/>
                  </a:schemeClr>
                </a:solidFill>
              </a:rPr>
              <a:t>императивная</a:t>
            </a:r>
            <a:endParaRPr lang="ru-RU" altLang="en-US" sz="28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7966710" y="3460115"/>
            <a:ext cx="36106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2800">
                <a:solidFill>
                  <a:schemeClr val="tx1">
                    <a:lumMod val="65000"/>
                    <a:lumOff val="35000"/>
                  </a:schemeClr>
                </a:solidFill>
              </a:rPr>
              <a:t>декларативная</a:t>
            </a:r>
            <a:endParaRPr lang="ru-RU" altLang="en-US" sz="28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Стрелка вниз 6"/>
          <p:cNvSpPr/>
          <p:nvPr/>
        </p:nvSpPr>
        <p:spPr>
          <a:xfrm rot="3180000">
            <a:off x="2355850" y="2647950"/>
            <a:ext cx="133350" cy="986790"/>
          </a:xfrm>
          <a:prstGeom prst="downArrow">
            <a:avLst>
              <a:gd name="adj1" fmla="val 50000"/>
              <a:gd name="adj2" fmla="val 128423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8" name="Стрелка вниз 7"/>
          <p:cNvSpPr/>
          <p:nvPr/>
        </p:nvSpPr>
        <p:spPr>
          <a:xfrm rot="18480000">
            <a:off x="9705340" y="2641600"/>
            <a:ext cx="133350" cy="986790"/>
          </a:xfrm>
          <a:prstGeom prst="downArrow">
            <a:avLst>
              <a:gd name="adj1" fmla="val 50000"/>
              <a:gd name="adj2" fmla="val 128423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/>
      <p:bldP spid="7" grpId="1" animBg="1"/>
      <p:bldP spid="5" grpId="1"/>
      <p:bldP spid="8" grpId="0" animBg="1"/>
      <p:bldP spid="6" grpId="0"/>
      <p:bldP spid="8" grpId="1" animBg="1"/>
      <p:bldP spid="6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ru-RU" altLang="en-US"/>
              <a:t>Императивный </a:t>
            </a:r>
            <a:r>
              <a:rPr lang="en-US" altLang="en-US"/>
              <a:t>Python</a:t>
            </a:r>
            <a:endParaRPr lang="en-US" altLang="en-US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608965" y="1454150"/>
            <a:ext cx="10488295" cy="4860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36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total</a:t>
            </a:r>
            <a:r>
              <a:rPr lang="en-US" altLang="ru-RU" sz="36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36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0</a:t>
            </a:r>
            <a:endParaRPr lang="en-US" altLang="ru-RU" sz="3600"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36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600">
                <a:solidFill>
                  <a:schemeClr val="accent6"/>
                </a:solidFill>
                <a:latin typeface="Consolas" panose="020B0609020204030204" charset="0"/>
                <a:cs typeface="Consolas" panose="020B0609020204030204" charset="0"/>
              </a:rPr>
              <a:t>for </a:t>
            </a:r>
            <a:r>
              <a:rPr lang="en-US" altLang="ru-RU" sz="36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number </a:t>
            </a:r>
            <a:r>
              <a:rPr lang="en-US" altLang="ru-RU" sz="3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lang="en-US" altLang="ru-RU" sz="36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3600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range</a:t>
            </a:r>
            <a:r>
              <a:rPr lang="en-US" altLang="ru-RU" sz="3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36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1</a:t>
            </a:r>
            <a:r>
              <a:rPr lang="en-US" altLang="ru-RU" sz="3600"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36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11</a:t>
            </a:r>
            <a:r>
              <a:rPr lang="en-US" altLang="ru-RU" sz="3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36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36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6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3600">
                <a:solidFill>
                  <a:schemeClr val="accent6"/>
                </a:solidFill>
                <a:latin typeface="Consolas" panose="020B0609020204030204" charset="0"/>
                <a:cs typeface="Consolas" panose="020B0609020204030204" charset="0"/>
              </a:rPr>
              <a:t>if</a:t>
            </a:r>
            <a:r>
              <a:rPr lang="en-US" altLang="ru-RU" sz="36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36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number </a:t>
            </a:r>
            <a:r>
              <a:rPr lang="en-US" altLang="ru-RU" sz="3600">
                <a:latin typeface="Consolas" panose="020B0609020204030204" charset="0"/>
                <a:cs typeface="Consolas" panose="020B0609020204030204" charset="0"/>
              </a:rPr>
              <a:t>% </a:t>
            </a:r>
            <a:r>
              <a:rPr lang="en-US" altLang="ru-RU" sz="36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r>
              <a:rPr lang="en-US" altLang="ru-RU" sz="3600">
                <a:latin typeface="Consolas" panose="020B0609020204030204" charset="0"/>
                <a:cs typeface="Consolas" panose="020B0609020204030204" charset="0"/>
              </a:rPr>
              <a:t> == </a:t>
            </a:r>
            <a:r>
              <a:rPr lang="en-US" altLang="ru-RU" sz="36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0</a:t>
            </a:r>
            <a:r>
              <a:rPr lang="en-US" altLang="ru-RU" sz="36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36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6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36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total </a:t>
            </a:r>
            <a:r>
              <a:rPr lang="en-US" altLang="ru-RU" sz="3600">
                <a:latin typeface="Consolas" panose="020B0609020204030204" charset="0"/>
                <a:cs typeface="Consolas" panose="020B0609020204030204" charset="0"/>
              </a:rPr>
              <a:t>+= </a:t>
            </a:r>
            <a:r>
              <a:rPr lang="en-US" altLang="ru-RU" sz="36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number</a:t>
            </a:r>
            <a:endParaRPr lang="en-US" altLang="ru-RU" sz="3600"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36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600">
                <a:solidFill>
                  <a:schemeClr val="accent3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3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36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total</a:t>
            </a:r>
            <a:r>
              <a:rPr lang="en-US" altLang="ru-RU" sz="3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36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6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30</a:t>
            </a:r>
            <a:endParaRPr lang="en-US" altLang="ru-RU" sz="36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ru-RU" altLang="ru-RU"/>
              <a:t>ООП </a:t>
            </a:r>
            <a:r>
              <a:rPr lang="en-US" altLang="ru-RU"/>
              <a:t>Python</a:t>
            </a:r>
            <a:endParaRPr lang="en-US" altLang="ru-RU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608330" y="1454150"/>
            <a:ext cx="6944995" cy="4495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2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26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600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BankAccount</a:t>
            </a:r>
            <a:r>
              <a:rPr lang="en-US" altLang="ru-RU" sz="26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26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6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2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26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600">
                <a:solidFill>
                  <a:schemeClr val="accent3"/>
                </a:solidFill>
                <a:latin typeface="Consolas" panose="020B0609020204030204" charset="0"/>
                <a:cs typeface="Consolas" panose="020B0609020204030204" charset="0"/>
              </a:rPr>
              <a:t>__init__</a:t>
            </a:r>
            <a:r>
              <a:rPr lang="en-US" altLang="ru-RU" sz="2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26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2600"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26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balance</a:t>
            </a:r>
            <a:r>
              <a:rPr lang="en-US" altLang="ru-RU" sz="2600"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26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0</a:t>
            </a:r>
            <a:r>
              <a:rPr lang="en-US" altLang="ru-RU" sz="2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26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26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6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26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26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26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balance</a:t>
            </a:r>
            <a:r>
              <a:rPr lang="en-US" altLang="ru-RU" sz="26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26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balance</a:t>
            </a:r>
            <a:endParaRPr lang="en-US" altLang="en-US" sz="2600"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26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6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2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26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600">
                <a:solidFill>
                  <a:schemeClr val="accent3"/>
                </a:solidFill>
                <a:latin typeface="Consolas" panose="020B0609020204030204" charset="0"/>
                <a:cs typeface="Consolas" panose="020B0609020204030204" charset="0"/>
              </a:rPr>
              <a:t>deposit</a:t>
            </a:r>
            <a:r>
              <a:rPr lang="en-US" altLang="ru-RU" sz="2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26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2600"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26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amount</a:t>
            </a:r>
            <a:r>
              <a:rPr lang="en-US" altLang="ru-RU" sz="2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26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26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6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26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26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26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balance</a:t>
            </a:r>
            <a:r>
              <a:rPr lang="en-US" altLang="ru-RU" sz="2600">
                <a:latin typeface="Consolas" panose="020B0609020204030204" charset="0"/>
                <a:cs typeface="Consolas" panose="020B0609020204030204" charset="0"/>
              </a:rPr>
              <a:t> += </a:t>
            </a:r>
            <a:r>
              <a:rPr lang="en-US" altLang="ru-RU" sz="26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amount</a:t>
            </a:r>
            <a:endParaRPr lang="en-US" altLang="ru-RU" sz="2600"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26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6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account</a:t>
            </a:r>
            <a:r>
              <a:rPr lang="en-US" altLang="ru-RU" sz="26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2600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BankAccount</a:t>
            </a:r>
            <a:r>
              <a:rPr lang="en-US" altLang="ru-RU" sz="2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26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6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account</a:t>
            </a:r>
            <a:r>
              <a:rPr lang="en-US" altLang="ru-RU" sz="26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2600">
                <a:solidFill>
                  <a:schemeClr val="accent3"/>
                </a:solidFill>
                <a:latin typeface="Consolas" panose="020B0609020204030204" charset="0"/>
                <a:cs typeface="Consolas" panose="020B0609020204030204" charset="0"/>
              </a:rPr>
              <a:t>deposit</a:t>
            </a:r>
            <a:r>
              <a:rPr lang="en-US" altLang="ru-RU" sz="2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26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500</a:t>
            </a:r>
            <a:r>
              <a:rPr lang="en-US" altLang="ru-RU" sz="2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26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600">
                <a:solidFill>
                  <a:schemeClr val="accent3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2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26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account</a:t>
            </a:r>
            <a:r>
              <a:rPr lang="en-US" altLang="ru-RU" sz="26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26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balance</a:t>
            </a:r>
            <a:r>
              <a:rPr lang="en-US" altLang="ru-RU" sz="2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26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6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500</a:t>
            </a:r>
            <a:endParaRPr lang="en-US" altLang="ru-RU" sz="26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ru-RU" altLang="ru-RU"/>
              <a:t>Декларативный </a:t>
            </a:r>
            <a:r>
              <a:rPr lang="en-US" altLang="ru-RU"/>
              <a:t>Python</a:t>
            </a:r>
            <a:endParaRPr lang="en-US" altLang="ru-RU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608330" y="1454150"/>
            <a:ext cx="9986010" cy="4495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2800">
                <a:solidFill>
                  <a:schemeClr val="accent6"/>
                </a:solidFill>
                <a:latin typeface="Consolas" panose="020B0609020204030204" charset="0"/>
                <a:cs typeface="Consolas" panose="020B0609020204030204" charset="0"/>
              </a:rPr>
              <a:t>from </a:t>
            </a:r>
            <a:r>
              <a:rPr lang="en-US" altLang="ru-RU" sz="2800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functools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800">
                <a:solidFill>
                  <a:schemeClr val="accent6"/>
                </a:solidFill>
                <a:latin typeface="Consolas" panose="020B0609020204030204" charset="0"/>
                <a:cs typeface="Consolas" panose="020B0609020204030204" charset="0"/>
              </a:rPr>
              <a:t>import </a:t>
            </a:r>
            <a:r>
              <a:rPr lang="en-US" altLang="ru-RU" sz="2800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reduce</a:t>
            </a:r>
            <a:endParaRPr lang="en-US" altLang="ru-RU" sz="2800">
              <a:solidFill>
                <a:schemeClr val="tx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2800">
              <a:solidFill>
                <a:schemeClr val="tx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prices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100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200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50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endParaRPr lang="en-US" altLang="ru-RU" sz="2800">
              <a:solidFill>
                <a:schemeClr val="tx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2800">
              <a:solidFill>
                <a:schemeClr val="tx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en-US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Описываем преобразования, а не циклы:</a:t>
            </a:r>
            <a:endParaRPr lang="en-US" altLang="en-US" sz="2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total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2800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reduce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(lambda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acc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x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acc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 + </a:t>
            </a:r>
            <a:r>
              <a:rPr lang="en-US" altLang="ru-RU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x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prices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0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en-US" sz="2800">
              <a:solidFill>
                <a:schemeClr val="tx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cheap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2800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list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2800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filter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(lambda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 &lt; </a:t>
            </a:r>
            <a:r>
              <a:rPr lang="en-US" altLang="ru-RU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150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prices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))</a:t>
            </a:r>
            <a:endParaRPr lang="en-US" altLang="en-US" sz="2800">
              <a:solidFill>
                <a:schemeClr val="tx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2800">
              <a:solidFill>
                <a:schemeClr val="tx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chemeClr val="accent3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total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     </a:t>
            </a:r>
            <a:r>
              <a:rPr lang="en-US" altLang="ru-RU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350</a:t>
            </a:r>
            <a:endParaRPr lang="en-US" altLang="ru-RU" sz="2800">
              <a:solidFill>
                <a:schemeClr val="tx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chemeClr val="accent3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cheap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     </a:t>
            </a:r>
            <a:r>
              <a:rPr lang="en-US" altLang="ru-RU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[100, 50]</a:t>
            </a:r>
            <a:endParaRPr lang="en-US" altLang="ru-RU" sz="2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ru-RU" altLang="en-US"/>
              <a:t>Определение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10968990" cy="3325495"/>
          </a:xfrm>
        </p:spPr>
        <p:txBody>
          <a:bodyPr>
            <a:normAutofit lnSpcReduction="10000"/>
          </a:bodyPr>
          <a:p>
            <a:pPr marL="0" indent="0" algn="just">
              <a:buNone/>
            </a:pPr>
            <a:r>
              <a:rPr lang="en-US" altLang="ru-RU" sz="3200">
                <a:solidFill>
                  <a:schemeClr val="tx2">
                    <a:lumMod val="60000"/>
                    <a:lumOff val="40000"/>
                  </a:schemeClr>
                </a:solidFill>
              </a:rPr>
              <a:t>Python - </a:t>
            </a:r>
            <a:r>
              <a:rPr lang="en-US" altLang="en-US" sz="3200">
                <a:solidFill>
                  <a:schemeClr val="tx2">
                    <a:lumMod val="60000"/>
                    <a:lumOff val="40000"/>
                  </a:schemeClr>
                </a:solidFill>
              </a:rPr>
              <a:t>это мультипарадигмальный </a:t>
            </a:r>
            <a:r>
              <a:rPr lang="en-US" altLang="en-US" sz="3200">
                <a:solidFill>
                  <a:schemeClr val="tx1">
                    <a:lumMod val="65000"/>
                    <a:lumOff val="35000"/>
                  </a:schemeClr>
                </a:solidFill>
              </a:rPr>
              <a:t>высокоуровневый</a:t>
            </a:r>
            <a:r>
              <a:rPr lang="en-US" altLang="en-US" sz="3200">
                <a:solidFill>
                  <a:schemeClr val="tx2">
                    <a:lumMod val="60000"/>
                    <a:lumOff val="40000"/>
                  </a:schemeClr>
                </a:solidFill>
              </a:rPr>
              <a:t> язык программирования общего назначения с динамической строгой типизацией и автоматическим управлением памятью</a:t>
            </a:r>
            <a:endParaRPr lang="en-US" altLang="en-US" sz="320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 algn="just">
              <a:buNone/>
            </a:pPr>
            <a:endParaRPr lang="en-US" altLang="en-US" sz="320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ru-RU">
                <a:sym typeface="+mn-ea"/>
              </a:rPr>
              <a:t>Люди и компьютеры</a:t>
            </a:r>
            <a:endParaRPr lang="ru-RU"/>
          </a:p>
        </p:txBody>
      </p:sp>
      <p:sp>
        <p:nvSpPr>
          <p:cNvPr id="11" name="Rounded Rectangular Callout 10"/>
          <p:cNvSpPr/>
          <p:nvPr/>
        </p:nvSpPr>
        <p:spPr>
          <a:xfrm>
            <a:off x="7250065" y="1750000"/>
            <a:ext cx="1900000" cy="1000000"/>
          </a:xfrm>
          <a:prstGeom prst="wedgeRoundRectCallout">
            <a:avLst>
              <a:gd name="adj1" fmla="val 22476"/>
              <a:gd name="adj2" fmla="val 65575"/>
              <a:gd name="adj3" fmla="val 16667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404040"/>
                </a:solidFill>
                <a:latin typeface="Consolas" panose="020B0609020204030204"/>
              </a:rPr>
              <a:t>0100100001100101</a:t>
            </a:r>
            <a:endParaRPr sz="1400" b="0">
              <a:solidFill>
                <a:srgbClr val="404040"/>
              </a:solidFill>
              <a:latin typeface="Consolas" panose="020B0609020204030204"/>
            </a:endParaRPr>
          </a:p>
        </p:txBody>
      </p:sp>
      <p:pic>
        <p:nvPicPr>
          <p:cNvPr id="12" name="Picture 11" descr="icon_comput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195" y="2946400"/>
            <a:ext cx="2694305" cy="1924685"/>
          </a:xfrm>
          <a:prstGeom prst="rect">
            <a:avLst/>
          </a:prstGeom>
        </p:spPr>
      </p:pic>
      <p:sp>
        <p:nvSpPr>
          <p:cNvPr id="5" name="Rounded Rectangular Callout 4"/>
          <p:cNvSpPr/>
          <p:nvPr/>
        </p:nvSpPr>
        <p:spPr>
          <a:xfrm>
            <a:off x="2140585" y="1750060"/>
            <a:ext cx="1899920" cy="1000125"/>
          </a:xfrm>
          <a:prstGeom prst="wedgeRoundRectCallou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404040"/>
                </a:solidFill>
                <a:latin typeface="Arial Black" panose="020B0A04020102020204"/>
              </a:rPr>
              <a:t>Hello, world!</a:t>
            </a:r>
            <a:endParaRPr sz="2000" b="1">
              <a:solidFill>
                <a:srgbClr val="404040"/>
              </a:solidFill>
              <a:latin typeface="Arial Black" panose="020B0A04020102020204"/>
            </a:endParaRPr>
          </a:p>
        </p:txBody>
      </p:sp>
      <p:pic>
        <p:nvPicPr>
          <p:cNvPr id="6" name="Picture 5" descr="icon_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480" y="2808790"/>
            <a:ext cx="2200000" cy="2200000"/>
          </a:xfrm>
          <a:prstGeom prst="rect">
            <a:avLst/>
          </a:prstGeom>
        </p:spPr>
      </p:pic>
      <p:sp>
        <p:nvSpPr>
          <p:cNvPr id="3" name="Замещающий 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5" grpId="1" animBg="1"/>
      <p:bldP spid="11" grpId="0" animBg="1"/>
      <p:bldP spid="11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/>
              <a:t>Виртуальные машины</a:t>
            </a:r>
            <a:endParaRPr lang="ru-RU"/>
          </a:p>
        </p:txBody>
      </p:sp>
      <p:sp>
        <p:nvSpPr>
          <p:cNvPr id="7" name="Rounded Rectangular Callout 6"/>
          <p:cNvSpPr/>
          <p:nvPr/>
        </p:nvSpPr>
        <p:spPr>
          <a:xfrm>
            <a:off x="1747415" y="1723965"/>
            <a:ext cx="1900000" cy="1000000"/>
          </a:xfrm>
          <a:prstGeom prst="wedgeRoundRectCallout">
            <a:avLst>
              <a:gd name="adj1" fmla="val -20349"/>
              <a:gd name="adj2" fmla="val 63797"/>
              <a:gd name="adj3" fmla="val 16667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sz="1700" b="0">
                <a:solidFill>
                  <a:srgbClr val="404040"/>
                </a:solidFill>
                <a:latin typeface="Consolas" panose="020B0609020204030204"/>
              </a:rPr>
              <a:t>mov ah, 0x9</a:t>
            </a:r>
            <a:endParaRPr sz="1700" b="0">
              <a:solidFill>
                <a:srgbClr val="404040"/>
              </a:solidFill>
              <a:latin typeface="Consolas" panose="020B060902020403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197610" y="3017520"/>
            <a:ext cx="2999740" cy="1782445"/>
          </a:xfrm>
          <a:prstGeom prst="roundRect">
            <a:avLst/>
          </a:prstGeom>
          <a:solidFill>
            <a:schemeClr val="accent2"/>
          </a:solidFill>
          <a:ln w="19050">
            <a:solidFill>
              <a:schemeClr val="accent1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 Black" panose="020B0A04020102020204"/>
              </a:rPr>
              <a:t>Виртуальная
машина</a:t>
            </a:r>
            <a:endParaRPr sz="2400" b="1">
              <a:solidFill>
                <a:srgbClr val="FFFFFF"/>
              </a:solidFill>
              <a:latin typeface="Arial Black" panose="020B0A040201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97745" y="5000000"/>
            <a:ext cx="26000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rgbClr val="595959"/>
                </a:solidFill>
                <a:latin typeface="Arial Black" panose="020B0A04020102020204"/>
              </a:rPr>
              <a:t>M1, L1</a:t>
            </a:r>
            <a:endParaRPr lang="en-US" sz="2400" b="1">
              <a:solidFill>
                <a:srgbClr val="595959"/>
              </a:solidFill>
              <a:latin typeface="Arial Black" panose="020B0A04020102020204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4662805" y="3695700"/>
            <a:ext cx="1988820" cy="426085"/>
          </a:xfrm>
          <a:prstGeom prst="rightArrow">
            <a:avLst>
              <a:gd name="adj1" fmla="val 62053"/>
              <a:gd name="adj2" fmla="val 127566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/>
              <a:t>перевод</a:t>
            </a:r>
            <a:endParaRPr lang="ru-RU" sz="1600"/>
          </a:p>
        </p:txBody>
      </p:sp>
      <p:sp>
        <p:nvSpPr>
          <p:cNvPr id="11" name="Rounded Rectangular Callout 10"/>
          <p:cNvSpPr/>
          <p:nvPr/>
        </p:nvSpPr>
        <p:spPr>
          <a:xfrm>
            <a:off x="7250065" y="1750000"/>
            <a:ext cx="1900000" cy="1000000"/>
          </a:xfrm>
          <a:prstGeom prst="wedgeRoundRectCallout">
            <a:avLst>
              <a:gd name="adj1" fmla="val 22476"/>
              <a:gd name="adj2" fmla="val 65575"/>
              <a:gd name="adj3" fmla="val 16667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404040"/>
                </a:solidFill>
                <a:latin typeface="Consolas" panose="020B0609020204030204"/>
              </a:rPr>
              <a:t>0100100001100101</a:t>
            </a:r>
            <a:endParaRPr sz="1400" b="0">
              <a:solidFill>
                <a:srgbClr val="404040"/>
              </a:solidFill>
              <a:latin typeface="Consolas" panose="020B0609020204030204"/>
            </a:endParaRPr>
          </a:p>
        </p:txBody>
      </p:sp>
      <p:pic>
        <p:nvPicPr>
          <p:cNvPr id="12" name="Picture 11" descr="icon_comput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195" y="2946400"/>
            <a:ext cx="2694305" cy="19246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49430" y="5000000"/>
            <a:ext cx="27000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rgbClr val="595959"/>
                </a:solidFill>
                <a:latin typeface="Arial Black" panose="020B0A04020102020204"/>
              </a:rPr>
              <a:t>M0, L0</a:t>
            </a:r>
            <a:endParaRPr lang="en-US" sz="2400" b="1">
              <a:solidFill>
                <a:srgbClr val="595959"/>
              </a:solidFill>
              <a:latin typeface="Arial Black" panose="020B0A04020102020204"/>
            </a:endParaRPr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  <p:bldP spid="7" grpId="0" animBg="1"/>
      <p:bldP spid="8" grpId="0" animBg="1"/>
      <p:bldP spid="7" grpId="1" animBg="1"/>
      <p:bldP spid="8" grpId="1" animBg="1"/>
      <p:bldP spid="9" grpId="0"/>
      <p:bldP spid="9" grpId="1"/>
      <p:bldP spid="10" grpId="0" animBg="1"/>
      <p:bldP spid="10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Уровни абстракции</a:t>
            </a:r>
          </a:p>
        </p:txBody>
      </p:sp>
      <p:sp>
        <p:nvSpPr>
          <p:cNvPr id="3" name="Rounded Rectangular Callout 2"/>
          <p:cNvSpPr/>
          <p:nvPr/>
        </p:nvSpPr>
        <p:spPr>
          <a:xfrm>
            <a:off x="1358280" y="1750000"/>
            <a:ext cx="1700000" cy="1000000"/>
          </a:xfrm>
          <a:prstGeom prst="wedgeRoundRectCallou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sz="1700" b="0">
                <a:solidFill>
                  <a:schemeClr val="accent1">
                    <a:lumMod val="50000"/>
                  </a:schemeClr>
                </a:solidFill>
                <a:latin typeface="Consolas" panose="020B0609020204030204"/>
              </a:rPr>
              <a:t>x</a:t>
            </a:r>
            <a:r>
              <a:rPr sz="1700" b="0">
                <a:solidFill>
                  <a:schemeClr val="tx1"/>
                </a:solidFill>
                <a:latin typeface="Consolas" panose="020B0609020204030204"/>
              </a:rPr>
              <a:t> = </a:t>
            </a:r>
            <a:r>
              <a:rPr sz="1700" b="0">
                <a:solidFill>
                  <a:schemeClr val="accent4"/>
                </a:solidFill>
                <a:latin typeface="Consolas" panose="020B0609020204030204"/>
              </a:rPr>
              <a:t>9</a:t>
            </a:r>
            <a:endParaRPr sz="1700" b="0">
              <a:solidFill>
                <a:schemeClr val="accent4"/>
              </a:solidFill>
              <a:latin typeface="Consolas" panose="020B0609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0075" y="4999990"/>
            <a:ext cx="299085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95959"/>
                </a:solidFill>
                <a:latin typeface="Arial Black" panose="020B0A04020102020204"/>
              </a:rPr>
              <a:t>высокий уровень</a:t>
            </a:r>
            <a:endParaRPr sz="2400" b="1">
              <a:solidFill>
                <a:srgbClr val="595959"/>
              </a:solidFill>
              <a:latin typeface="Arial Black" panose="020B0A04020102020204"/>
            </a:endParaRPr>
          </a:p>
        </p:txBody>
      </p:sp>
      <p:sp>
        <p:nvSpPr>
          <p:cNvPr id="7" name="Rounded Rectangular Callout 6"/>
          <p:cNvSpPr/>
          <p:nvPr/>
        </p:nvSpPr>
        <p:spPr>
          <a:xfrm>
            <a:off x="4858280" y="1750000"/>
            <a:ext cx="1900000" cy="1000000"/>
          </a:xfrm>
          <a:prstGeom prst="wedgeRoundRectCallou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sz="1700" b="0">
                <a:solidFill>
                  <a:srgbClr val="404040"/>
                </a:solidFill>
                <a:latin typeface="Consolas" panose="020B0609020204030204"/>
              </a:rPr>
              <a:t>mov ah, 0x9</a:t>
            </a:r>
            <a:endParaRPr sz="1700" b="0">
              <a:solidFill>
                <a:srgbClr val="404040"/>
              </a:solidFill>
              <a:latin typeface="Consolas" panose="020B0609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08940" y="5000000"/>
            <a:ext cx="260000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95959"/>
                </a:solidFill>
                <a:latin typeface="Arial Black" panose="020B0A04020102020204"/>
              </a:rPr>
              <a:t>низкий уровень</a:t>
            </a:r>
            <a:endParaRPr sz="2400" b="1">
              <a:solidFill>
                <a:srgbClr val="595959"/>
              </a:solidFill>
              <a:latin typeface="Arial Black" panose="020B0A04020102020204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7558405" y="3822065"/>
            <a:ext cx="600075" cy="363855"/>
          </a:xfrm>
          <a:prstGeom prst="rightArrow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ular Callout 10"/>
          <p:cNvSpPr/>
          <p:nvPr/>
        </p:nvSpPr>
        <p:spPr>
          <a:xfrm>
            <a:off x="8638810" y="1750000"/>
            <a:ext cx="1900000" cy="1000000"/>
          </a:xfrm>
          <a:prstGeom prst="wedgeRoundRectCallout">
            <a:avLst>
              <a:gd name="adj1" fmla="val 22208"/>
              <a:gd name="adj2" fmla="val 63417"/>
              <a:gd name="adj3" fmla="val 16667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404040"/>
                </a:solidFill>
                <a:latin typeface="Consolas" panose="020B0609020204030204"/>
              </a:rPr>
              <a:t>0100100001100101</a:t>
            </a:r>
            <a:endParaRPr sz="1400" b="0">
              <a:solidFill>
                <a:srgbClr val="404040"/>
              </a:solidFill>
              <a:latin typeface="Consolas" panose="020B0609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38810" y="5215265"/>
            <a:ext cx="27000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95959"/>
                </a:solidFill>
                <a:latin typeface="Arial Black" panose="020B0A04020102020204"/>
              </a:rPr>
              <a:t>железо</a:t>
            </a:r>
            <a:endParaRPr sz="2400" b="1">
              <a:solidFill>
                <a:srgbClr val="595959"/>
              </a:solidFill>
              <a:latin typeface="Arial Black" panose="020B0A04020102020204"/>
            </a:endParaRPr>
          </a:p>
        </p:txBody>
      </p:sp>
      <p:sp>
        <p:nvSpPr>
          <p:cNvPr id="14" name="Right Arrow 9"/>
          <p:cNvSpPr/>
          <p:nvPr/>
        </p:nvSpPr>
        <p:spPr>
          <a:xfrm>
            <a:off x="3708400" y="3822065"/>
            <a:ext cx="600075" cy="363855"/>
          </a:xfrm>
          <a:prstGeom prst="rightArrow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7"/>
          <p:cNvSpPr/>
          <p:nvPr/>
        </p:nvSpPr>
        <p:spPr>
          <a:xfrm>
            <a:off x="4408805" y="2983865"/>
            <a:ext cx="2999740" cy="1782445"/>
          </a:xfrm>
          <a:prstGeom prst="roundRect">
            <a:avLst/>
          </a:prstGeom>
          <a:solidFill>
            <a:schemeClr val="accent2"/>
          </a:solidFill>
          <a:ln w="19050">
            <a:solidFill>
              <a:schemeClr val="accent1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 Black" panose="020B0A04020102020204"/>
              </a:rPr>
              <a:t>Виртуальная
машина</a:t>
            </a:r>
            <a:endParaRPr sz="2400" b="1">
              <a:solidFill>
                <a:srgbClr val="FFFFFF"/>
              </a:solidFill>
              <a:latin typeface="Arial Black" panose="020B0A04020102020204"/>
            </a:endParaRPr>
          </a:p>
        </p:txBody>
      </p:sp>
      <p:pic>
        <p:nvPicPr>
          <p:cNvPr id="16" name="Picture 11" descr="icon_comput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8340" y="2938145"/>
            <a:ext cx="2694305" cy="1924685"/>
          </a:xfrm>
          <a:prstGeom prst="rect">
            <a:avLst/>
          </a:prstGeom>
        </p:spPr>
      </p:pic>
      <p:sp>
        <p:nvSpPr>
          <p:cNvPr id="17" name="Rounded Rectangle 7"/>
          <p:cNvSpPr/>
          <p:nvPr/>
        </p:nvSpPr>
        <p:spPr>
          <a:xfrm>
            <a:off x="608330" y="2983865"/>
            <a:ext cx="2999740" cy="178244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accent1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 Black" panose="020B0A04020102020204"/>
              </a:rPr>
              <a:t>Виртуальная
машина</a:t>
            </a:r>
            <a:endParaRPr sz="2400" b="1">
              <a:solidFill>
                <a:srgbClr val="FFFFFF"/>
              </a:solidFill>
              <a:latin typeface="Arial Black" panose="020B0A04020102020204"/>
            </a:endParaRPr>
          </a:p>
        </p:txBody>
      </p:sp>
      <p:sp>
        <p:nvSpPr>
          <p:cNvPr id="18" name="Замещающий номер слайда 1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7" grpId="0" animBg="1"/>
      <p:bldP spid="14" grpId="1" animBg="1"/>
      <p:bldP spid="15" grpId="1" animBg="1"/>
      <p:bldP spid="7" grpId="1" animBg="1"/>
      <p:bldP spid="10" grpId="0" animBg="1"/>
      <p:bldP spid="11" grpId="0" animBg="1"/>
      <p:bldP spid="10" grpId="1" animBg="1"/>
      <p:bldP spid="11" grpId="1" animBg="1"/>
      <p:bldP spid="5" grpId="0"/>
      <p:bldP spid="9" grpId="0"/>
      <p:bldP spid="13" grpId="0"/>
      <p:bldP spid="5" grpId="1"/>
      <p:bldP spid="9" grpId="1"/>
      <p:bldP spid="13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/>
              <a:t>Пример различий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9635" y="4123690"/>
            <a:ext cx="3350895" cy="1011555"/>
          </a:xfrm>
        </p:spPr>
        <p:txBody>
          <a:bodyPr wrap="square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ru-RU" sz="2400" b="1"/>
              <a:t>ассемблер,</a:t>
            </a:r>
            <a:endParaRPr lang="ru-RU" sz="2400" b="1"/>
          </a:p>
          <a:p>
            <a:pPr marL="0" indent="0" algn="ctr">
              <a:lnSpc>
                <a:spcPct val="100000"/>
              </a:lnSpc>
              <a:buNone/>
            </a:pPr>
            <a:r>
              <a:rPr lang="ru-RU" sz="2400" b="1"/>
              <a:t>низкий уровень</a:t>
            </a:r>
            <a:endParaRPr lang="ru-RU" sz="2400" b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1185" y="4123055"/>
            <a:ext cx="2566670" cy="1011555"/>
          </a:xfrm>
        </p:spPr>
        <p:txBody>
          <a:bodyPr wrap="square">
            <a:normAutofit lnSpcReduction="10000"/>
          </a:bodyPr>
          <a:lstStyle/>
          <a:p>
            <a:pPr marL="0" indent="0" algn="ctr">
              <a:buNone/>
            </a:pPr>
            <a:r>
              <a:rPr lang="ru-RU" sz="2400" b="1"/>
              <a:t>то же</a:t>
            </a:r>
            <a:r>
              <a:rPr lang="en-US" altLang="ru-RU" sz="2400" b="1"/>
              <a:t> </a:t>
            </a:r>
            <a:r>
              <a:rPr lang="ru-RU" sz="2400" b="1"/>
              <a:t>самое на </a:t>
            </a:r>
            <a:r>
              <a:rPr lang="en-US" sz="2400" b="1"/>
              <a:t>Python</a:t>
            </a:r>
            <a:endParaRPr lang="en-US" sz="2400" b="1"/>
          </a:p>
        </p:txBody>
      </p:sp>
      <p:sp>
        <p:nvSpPr>
          <p:cNvPr id="5" name="TextBox 4"/>
          <p:cNvSpPr txBox="1"/>
          <p:nvPr/>
        </p:nvSpPr>
        <p:spPr>
          <a:xfrm>
            <a:off x="1340485" y="2200910"/>
            <a:ext cx="2759710" cy="1686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32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MOV</a:t>
            </a:r>
            <a:r>
              <a:rPr lang="en-US" sz="3200">
                <a:latin typeface="Consolas" panose="020B0609020204030204"/>
                <a:cs typeface="Consolas" panose="020B0609020204030204"/>
              </a:rPr>
              <a:t> AX, </a:t>
            </a:r>
            <a:r>
              <a:rPr lang="en-US"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endParaRPr lang="en-US" sz="32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r>
              <a:rPr lang="en-US" sz="32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MOV</a:t>
            </a:r>
            <a:r>
              <a:rPr lang="en-US" sz="3200">
                <a:latin typeface="Consolas" panose="020B0609020204030204"/>
                <a:cs typeface="Consolas" panose="020B0609020204030204"/>
              </a:rPr>
              <a:t> BX, </a:t>
            </a:r>
            <a:r>
              <a:rPr lang="en-US"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endParaRPr lang="en-US" sz="32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r>
              <a:rPr lang="en-US" sz="32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ADD</a:t>
            </a:r>
            <a:r>
              <a:rPr lang="en-US" sz="3200">
                <a:latin typeface="Consolas" panose="020B0609020204030204"/>
                <a:cs typeface="Consolas" panose="020B0609020204030204"/>
              </a:rPr>
              <a:t> AX, BX</a:t>
            </a:r>
            <a:endParaRPr lang="en-US" sz="32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11595" y="2739390"/>
            <a:ext cx="3320415" cy="6089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32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cs typeface="Consolas" panose="020B0609020204030204"/>
              </a:rPr>
              <a:t>result</a:t>
            </a:r>
            <a:r>
              <a:rPr lang="en-US" sz="3200">
                <a:latin typeface="Consolas" panose="020B0609020204030204"/>
                <a:cs typeface="Consolas" panose="020B0609020204030204"/>
              </a:rPr>
              <a:t> = </a:t>
            </a:r>
            <a:r>
              <a:rPr lang="en-US"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lang="en-US" sz="3200">
                <a:latin typeface="Consolas" panose="020B0609020204030204"/>
                <a:cs typeface="Consolas" panose="020B0609020204030204"/>
              </a:rPr>
              <a:t> + </a:t>
            </a:r>
            <a:r>
              <a:rPr lang="en-US"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endParaRPr lang="en-US" sz="32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Заголовок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ru-RU" altLang="en-US"/>
              <a:t>Высокоуровневость </a:t>
            </a:r>
            <a:r>
              <a:rPr lang="en-US" altLang="en-US"/>
              <a:t>Python</a:t>
            </a:r>
            <a:endParaRPr lang="en-US" altLang="en-US"/>
          </a:p>
        </p:txBody>
      </p:sp>
      <p:sp>
        <p:nvSpPr>
          <p:cNvPr id="2" name="Замещающий 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 dirty="0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577850" y="2095500"/>
            <a:ext cx="8134350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banned_elems</a:t>
            </a:r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4000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set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4000"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4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000">
                <a:solidFill>
                  <a:schemeClr val="accent6"/>
                </a:solidFill>
                <a:latin typeface="Consolas" panose="020B0609020204030204" charset="0"/>
                <a:cs typeface="Consolas" panose="020B0609020204030204" charset="0"/>
              </a:rPr>
              <a:t>if</a:t>
            </a:r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elem</a:t>
            </a:r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not in</a:t>
            </a:r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banned_elems</a:t>
            </a:r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    ...</a:t>
            </a:r>
            <a:endParaRPr lang="ru-RU" altLang="en-US" sz="4000"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Определение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altLang="ru-RU" sz="3200">
                <a:solidFill>
                  <a:schemeClr val="tx2">
                    <a:lumMod val="60000"/>
                    <a:lumOff val="40000"/>
                  </a:schemeClr>
                </a:solidFill>
              </a:rPr>
              <a:t>Python - это мультипарадигмальный высокоуровневый </a:t>
            </a:r>
            <a:r>
              <a:rPr lang="en-US" altLang="ru-RU" sz="3200">
                <a:solidFill>
                  <a:schemeClr val="tx1">
                    <a:lumMod val="65000"/>
                    <a:lumOff val="35000"/>
                  </a:schemeClr>
                </a:solidFill>
              </a:rPr>
              <a:t>язык программирования</a:t>
            </a:r>
            <a:r>
              <a:rPr lang="en-US" altLang="ru-RU" sz="320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ru-RU" sz="3200">
                <a:solidFill>
                  <a:schemeClr val="tx1">
                    <a:lumMod val="65000"/>
                    <a:lumOff val="35000"/>
                  </a:schemeClr>
                </a:solidFill>
              </a:rPr>
              <a:t>общего назначения</a:t>
            </a:r>
            <a:r>
              <a:rPr lang="en-US" altLang="ru-RU" sz="3200">
                <a:solidFill>
                  <a:schemeClr val="tx2">
                    <a:lumMod val="60000"/>
                    <a:lumOff val="40000"/>
                  </a:schemeClr>
                </a:solidFill>
              </a:rPr>
              <a:t> с динамической строгой типизацией и автоматическим управлением памятью</a:t>
            </a:r>
            <a:endParaRPr lang="en-US" altLang="ru-RU" sz="320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Язык общего назначения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8330" y="1875790"/>
            <a:ext cx="5691505" cy="3284220"/>
          </a:xfrm>
        </p:spPr>
        <p:txBody>
          <a:bodyPr wrap="square"/>
          <a:lstStyle/>
          <a:p>
            <a:r>
              <a:rPr lang="ru-RU" sz="2000"/>
              <a:t>Решает задачи из разных сфер</a:t>
            </a:r>
            <a:endParaRPr lang="ru-RU" sz="2000"/>
          </a:p>
          <a:p>
            <a:r>
              <a:rPr lang="ru-RU" sz="2000" b="1"/>
              <a:t>DSL — узкая специализация:</a:t>
            </a:r>
            <a:endParaRPr lang="ru-RU" sz="2000" b="1"/>
          </a:p>
          <a:p>
            <a:pPr lvl="1"/>
            <a:r>
              <a:rPr lang="ru-RU" sz="2000"/>
              <a:t>SQL — запросы к БД</a:t>
            </a:r>
            <a:endParaRPr lang="ru-RU" sz="2000"/>
          </a:p>
          <a:p>
            <a:pPr lvl="1"/>
            <a:r>
              <a:rPr lang="ru-RU" sz="2000"/>
              <a:t>HTML/CSS — разметка</a:t>
            </a:r>
            <a:endParaRPr lang="ru-RU" sz="2000"/>
          </a:p>
          <a:p>
            <a:pPr lvl="1"/>
            <a:r>
              <a:rPr lang="ru-RU" sz="2000"/>
              <a:t>Regex — шаблоны текста</a:t>
            </a:r>
            <a:endParaRPr lang="ru-RU" sz="2000"/>
          </a:p>
          <a:p>
            <a:r>
              <a:rPr lang="en-US" sz="2000"/>
              <a:t>Python - </a:t>
            </a:r>
            <a:r>
              <a:rPr lang="ru-RU" sz="2000"/>
              <a:t>один язык для всего</a:t>
            </a:r>
            <a:endParaRPr lang="ru-RU" sz="2000"/>
          </a:p>
        </p:txBody>
      </p:sp>
      <p:pic>
        <p:nvPicPr>
          <p:cNvPr id="4" name="Picture 3" descr="hub_domain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3500" y="1339850"/>
            <a:ext cx="4685665" cy="4685665"/>
          </a:xfrm>
          <a:prstGeom prst="rect">
            <a:avLst/>
          </a:prstGeom>
        </p:spPr>
      </p:pic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Определение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8330" y="1490345"/>
            <a:ext cx="10968990" cy="3510280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ru-RU" sz="3200">
                <a:solidFill>
                  <a:schemeClr val="tx2">
                    <a:lumMod val="60000"/>
                    <a:lumOff val="40000"/>
                  </a:schemeClr>
                </a:solidFill>
              </a:rPr>
              <a:t>Python - это мультипарадигмальный высокоуровневый </a:t>
            </a:r>
            <a:r>
              <a:rPr lang="en-US" altLang="ru-RU" sz="3200">
                <a:solidFill>
                  <a:schemeClr val="tx1">
                    <a:lumMod val="65000"/>
                    <a:lumOff val="35000"/>
                  </a:schemeClr>
                </a:solidFill>
              </a:rPr>
              <a:t>язык программирования</a:t>
            </a:r>
            <a:r>
              <a:rPr lang="en-US" altLang="ru-RU" sz="3200">
                <a:solidFill>
                  <a:schemeClr val="tx2">
                    <a:lumMod val="60000"/>
                    <a:lumOff val="40000"/>
                  </a:schemeClr>
                </a:solidFill>
              </a:rPr>
              <a:t> общего назначения </a:t>
            </a:r>
            <a:r>
              <a:rPr lang="en-US" altLang="ru-RU" sz="3200">
                <a:solidFill>
                  <a:schemeClr val="tx1">
                    <a:lumMod val="65000"/>
                    <a:lumOff val="35000"/>
                  </a:schemeClr>
                </a:solidFill>
              </a:rPr>
              <a:t>с</a:t>
            </a:r>
            <a:r>
              <a:rPr lang="en-US" altLang="ru-RU" sz="320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ru-RU" sz="3200">
                <a:solidFill>
                  <a:schemeClr val="tx1">
                    <a:lumMod val="65000"/>
                    <a:lumOff val="35000"/>
                  </a:schemeClr>
                </a:solidFill>
              </a:rPr>
              <a:t>динамической</a:t>
            </a:r>
            <a:r>
              <a:rPr lang="en-US" altLang="ru-RU" sz="3200">
                <a:solidFill>
                  <a:schemeClr val="tx2">
                    <a:lumMod val="60000"/>
                    <a:lumOff val="40000"/>
                  </a:schemeClr>
                </a:solidFill>
              </a:rPr>
              <a:t> строгой </a:t>
            </a:r>
            <a:r>
              <a:rPr lang="en-US" altLang="ru-RU" sz="3200">
                <a:solidFill>
                  <a:schemeClr val="tx1">
                    <a:lumMod val="65000"/>
                    <a:lumOff val="35000"/>
                  </a:schemeClr>
                </a:solidFill>
              </a:rPr>
              <a:t>типизацией</a:t>
            </a:r>
            <a:r>
              <a:rPr lang="en-US" altLang="ru-RU" sz="3200">
                <a:solidFill>
                  <a:schemeClr val="tx2">
                    <a:lumMod val="60000"/>
                    <a:lumOff val="40000"/>
                  </a:schemeClr>
                </a:solidFill>
              </a:rPr>
              <a:t> и автоматическим управлением памятью</a:t>
            </a:r>
            <a:endParaRPr lang="en-US" altLang="ru-RU" sz="320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ru-RU" dirty="0">
                <a:sym typeface="+mn-ea"/>
              </a:rPr>
              <a:t>Статическая типизация</a:t>
            </a:r>
            <a:endParaRPr lang="ru-RU" altLang="ru-RU" dirty="0">
              <a:sym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8330" y="1515745"/>
            <a:ext cx="7560945" cy="42919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ru-RU"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lang="en-US" altLang="ru-RU"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en-US" altLang="ru-RU" sz="26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sum_two_nums</a:t>
            </a:r>
            <a:r>
              <a:rPr lang="en-US" altLang="ru-RU"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lang="en-US" altLang="ru-RU" sz="26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lang="en-US" altLang="ru-RU"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en-US" altLang="ru-RU" sz="26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cs typeface="Consolas" panose="020B0609020204030204"/>
              </a:rPr>
              <a:t>lhs</a:t>
            </a:r>
            <a:r>
              <a:rPr lang="en-US" altLang="ru-RU"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 </a:t>
            </a:r>
            <a:r>
              <a:rPr lang="en-US" altLang="ru-RU" sz="26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lang="en-US" altLang="ru-RU"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en-US" altLang="ru-RU" sz="26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cs typeface="Consolas" panose="020B0609020204030204"/>
              </a:rPr>
              <a:t>rhs</a:t>
            </a:r>
            <a:r>
              <a:rPr lang="en-US" altLang="ru-RU"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lang="en-US" altLang="ru-RU" sz="2600">
              <a:solidFill>
                <a:schemeClr val="tx1"/>
              </a:solidFill>
              <a:latin typeface="Consolas" panose="020B0609020204030204"/>
              <a:cs typeface="Consolas" panose="020B0609020204030204"/>
            </a:endParaRPr>
          </a:p>
          <a:p>
            <a:r>
              <a:rPr lang="en-US" altLang="ru-RU"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endParaRPr lang="en-US" altLang="ru-RU" sz="26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r>
              <a:rPr lang="en-US" altLang="ru-RU"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   </a:t>
            </a:r>
            <a:r>
              <a:rPr lang="en-US" altLang="ru-RU" sz="26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return</a:t>
            </a:r>
            <a:r>
              <a:rPr lang="en-US" altLang="ru-RU"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en-US" altLang="ru-RU" sz="26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cs typeface="Consolas" panose="020B0609020204030204"/>
              </a:rPr>
              <a:t>lhs </a:t>
            </a:r>
            <a:r>
              <a:rPr lang="en-US" altLang="ru-RU"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+ </a:t>
            </a:r>
            <a:r>
              <a:rPr lang="en-US" altLang="ru-RU" sz="26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cs typeface="Consolas" panose="020B0609020204030204"/>
              </a:rPr>
              <a:t>rhs</a:t>
            </a:r>
            <a:r>
              <a:rPr lang="en-US" altLang="ru-RU"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;</a:t>
            </a:r>
            <a:endParaRPr lang="en-US" altLang="ru-RU" sz="2600">
              <a:solidFill>
                <a:schemeClr val="tx1"/>
              </a:solidFill>
              <a:latin typeface="Consolas" panose="020B0609020204030204"/>
              <a:cs typeface="Consolas" panose="020B0609020204030204"/>
            </a:endParaRPr>
          </a:p>
          <a:p>
            <a:r>
              <a:rPr lang="en-US" altLang="ru-RU"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lang="en-US" altLang="ru-RU" sz="26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endParaRPr lang="en-US" altLang="ru-RU" sz="2600">
              <a:solidFill>
                <a:schemeClr val="tx1"/>
              </a:solidFill>
              <a:latin typeface="Consolas" panose="020B0609020204030204"/>
              <a:cs typeface="Consolas" panose="020B0609020204030204"/>
            </a:endParaRPr>
          </a:p>
          <a:p>
            <a:r>
              <a:rPr lang="en-US" altLang="ru-RU"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lang="en-US" altLang="ru-RU"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en-US" altLang="ru-RU" sz="26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main</a:t>
            </a:r>
            <a:r>
              <a:rPr lang="en-US" altLang="ru-RU"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()</a:t>
            </a:r>
            <a:endParaRPr lang="en-US" altLang="ru-RU" sz="2600">
              <a:solidFill>
                <a:schemeClr val="tx1"/>
              </a:solidFill>
              <a:latin typeface="Consolas" panose="020B0609020204030204"/>
              <a:cs typeface="Consolas" panose="020B0609020204030204"/>
            </a:endParaRPr>
          </a:p>
          <a:p>
            <a:r>
              <a:rPr lang="en-US" altLang="ru-RU"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endParaRPr lang="en-US" altLang="ru-RU" sz="26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r>
              <a:rPr lang="en-US" altLang="ru-RU"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   </a:t>
            </a:r>
            <a:r>
              <a:rPr lang="en-US" altLang="ru-RU" sz="26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sum_two_nums</a:t>
            </a:r>
            <a:r>
              <a:rPr lang="en-US" altLang="ru-RU"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lang="en-US" altLang="ru-RU" sz="2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42</a:t>
            </a:r>
            <a:r>
              <a:rPr lang="en-US" altLang="ru-RU"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 </a:t>
            </a:r>
            <a:r>
              <a:rPr lang="en-US" altLang="ru-RU" sz="2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-1</a:t>
            </a:r>
            <a:r>
              <a:rPr lang="en-US" altLang="ru-RU"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lang="en-US" altLang="ru-RU"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;</a:t>
            </a:r>
            <a:endParaRPr lang="en-US" altLang="ru-RU" sz="2600">
              <a:solidFill>
                <a:schemeClr val="tx1"/>
              </a:solidFill>
              <a:latin typeface="Consolas" panose="020B0609020204030204"/>
              <a:cs typeface="Consolas" panose="020B0609020204030204"/>
            </a:endParaRPr>
          </a:p>
          <a:p>
            <a:r>
              <a:rPr lang="en-US" altLang="ru-RU"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   </a:t>
            </a:r>
            <a:r>
              <a:rPr lang="en-US" altLang="ru-RU" sz="26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return</a:t>
            </a:r>
            <a:r>
              <a:rPr lang="en-US" altLang="ru-RU"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en-US" altLang="ru-RU" sz="2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</a:t>
            </a:r>
            <a:r>
              <a:rPr lang="en-US" altLang="ru-RU" sz="2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; </a:t>
            </a:r>
            <a:endParaRPr lang="en-US" altLang="ru-RU" sz="2600">
              <a:solidFill>
                <a:schemeClr val="tx1"/>
              </a:solidFill>
              <a:latin typeface="Consolas" panose="020B0609020204030204"/>
              <a:cs typeface="Consolas" panose="020B0609020204030204"/>
            </a:endParaRPr>
          </a:p>
          <a:p>
            <a:r>
              <a:rPr lang="en-US" altLang="ru-RU" sz="2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lang="en-US" altLang="ru-RU" sz="26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  <p:sp>
        <p:nvSpPr>
          <p:cNvPr id="12" name="Текстовое поле 11"/>
          <p:cNvSpPr txBox="1"/>
          <p:nvPr/>
        </p:nvSpPr>
        <p:spPr>
          <a:xfrm>
            <a:off x="6972935" y="1515745"/>
            <a:ext cx="422465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26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/</a:t>
            </a:r>
            <a:r>
              <a:rPr lang="en-US" altLang="en-US" sz="26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/ </a:t>
            </a:r>
            <a:r>
              <a:rPr lang="ru-RU" altLang="en-US" sz="26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нужны целые числа</a:t>
            </a:r>
            <a:endParaRPr lang="ru-RU" altLang="en-US" sz="2600">
              <a:solidFill>
                <a:schemeClr val="accent4"/>
              </a:solidFill>
              <a:latin typeface="Consolas" panose="020B0609020204030204"/>
              <a:cs typeface="Consolas" panose="020B0609020204030204"/>
              <a:sym typeface="+mn-ea"/>
            </a:endParaRPr>
          </a:p>
        </p:txBody>
      </p:sp>
      <p:sp>
        <p:nvSpPr>
          <p:cNvPr id="13" name="Текстовое поле 12"/>
          <p:cNvSpPr txBox="1"/>
          <p:nvPr/>
        </p:nvSpPr>
        <p:spPr>
          <a:xfrm>
            <a:off x="4603750" y="2310765"/>
            <a:ext cx="651954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26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// </a:t>
            </a:r>
            <a:r>
              <a:rPr lang="ru-RU" altLang="ru-RU" sz="26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вернет целое число, как должна</a:t>
            </a:r>
            <a:endParaRPr lang="ru-RU" altLang="ru-RU" sz="2600">
              <a:solidFill>
                <a:schemeClr val="accent4"/>
              </a:solidFill>
              <a:latin typeface="Consolas" panose="020B0609020204030204"/>
              <a:cs typeface="Consolas" panose="020B0609020204030204"/>
              <a:sym typeface="+mn-ea"/>
            </a:endParaRPr>
          </a:p>
        </p:txBody>
      </p:sp>
      <p:sp>
        <p:nvSpPr>
          <p:cNvPr id="14" name="Текстовое поле 13"/>
          <p:cNvSpPr txBox="1"/>
          <p:nvPr/>
        </p:nvSpPr>
        <p:spPr>
          <a:xfrm>
            <a:off x="2599055" y="3510915"/>
            <a:ext cx="6741160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26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// </a:t>
            </a:r>
            <a:r>
              <a:rPr lang="ru-RU" altLang="ru-RU" sz="26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нужно вернуть целое число</a:t>
            </a:r>
            <a:endParaRPr lang="ru-RU" altLang="ru-RU" sz="2600">
              <a:solidFill>
                <a:schemeClr val="accent4"/>
              </a:solidFill>
              <a:latin typeface="Consolas" panose="020B0609020204030204"/>
              <a:cs typeface="Consolas" panose="020B0609020204030204"/>
              <a:sym typeface="+mn-ea"/>
            </a:endParaRPr>
          </a:p>
        </p:txBody>
      </p:sp>
      <p:sp>
        <p:nvSpPr>
          <p:cNvPr id="15" name="Текстовое поле 14"/>
          <p:cNvSpPr txBox="1"/>
          <p:nvPr/>
        </p:nvSpPr>
        <p:spPr>
          <a:xfrm>
            <a:off x="5313680" y="4276725"/>
            <a:ext cx="5459730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26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// </a:t>
            </a:r>
            <a:r>
              <a:rPr lang="ru-RU" altLang="ru-RU" sz="26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передали целые числа - ок</a:t>
            </a:r>
            <a:endParaRPr lang="ru-RU" altLang="ru-RU" sz="2600">
              <a:solidFill>
                <a:schemeClr val="accent4"/>
              </a:solidFill>
              <a:latin typeface="Consolas" panose="020B0609020204030204"/>
              <a:cs typeface="Consolas" panose="020B0609020204030204"/>
              <a:sym typeface="+mn-ea"/>
            </a:endParaRPr>
          </a:p>
        </p:txBody>
      </p:sp>
      <p:sp>
        <p:nvSpPr>
          <p:cNvPr id="17" name="Текстовое поле 16"/>
          <p:cNvSpPr txBox="1"/>
          <p:nvPr/>
        </p:nvSpPr>
        <p:spPr>
          <a:xfrm>
            <a:off x="3147060" y="4670425"/>
            <a:ext cx="5151120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26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// </a:t>
            </a:r>
            <a:r>
              <a:rPr lang="ru-RU" altLang="ru-RU" sz="26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вернет целое число - ок</a:t>
            </a:r>
            <a:endParaRPr lang="ru-RU" altLang="ru-RU" sz="2600">
              <a:solidFill>
                <a:schemeClr val="accent4"/>
              </a:solidFill>
              <a:latin typeface="Consolas" panose="020B0609020204030204"/>
              <a:cs typeface="Consolas" panose="020B0609020204030204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3" grpId="0"/>
      <p:bldP spid="13" grpId="1"/>
      <p:bldP spid="14" grpId="0"/>
      <p:bldP spid="14" grpId="1"/>
      <p:bldP spid="15" grpId="0"/>
      <p:bldP spid="15" grpId="1"/>
      <p:bldP spid="17" grpId="0"/>
      <p:bldP spid="17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ru-RU" dirty="0">
                <a:sym typeface="+mn-ea"/>
              </a:rPr>
              <a:t>Динамическая типизация</a:t>
            </a:r>
            <a:endParaRPr lang="ru-RU" altLang="ru-RU" dirty="0">
              <a:sym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8330" y="1684020"/>
            <a:ext cx="7545070" cy="42919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ru-RU"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def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en-US" altLang="ru-RU"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add_two_objects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lang="en-US" altLang="ru-RU" sz="28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cs typeface="Consolas" panose="020B0609020204030204"/>
              </a:rPr>
              <a:t>lhs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 </a:t>
            </a:r>
            <a:r>
              <a:rPr lang="en-US" altLang="ru-RU" sz="28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cs typeface="Consolas" panose="020B0609020204030204"/>
              </a:rPr>
              <a:t>rhs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lang="en-US" altLang="ru-RU" sz="2800">
              <a:solidFill>
                <a:schemeClr val="tx1"/>
              </a:solidFill>
              <a:latin typeface="Consolas" panose="020B0609020204030204"/>
              <a:cs typeface="Consolas" panose="020B0609020204030204"/>
            </a:endParaRPr>
          </a:p>
          <a:p>
            <a:r>
              <a:rPr lang="en-US" altLang="ru-RU"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   </a:t>
            </a:r>
            <a:r>
              <a:rPr lang="en-US" altLang="ru-RU" sz="28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return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en-US" altLang="ru-RU" sz="28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cs typeface="Consolas" panose="020B0609020204030204"/>
              </a:rPr>
              <a:t>lhs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+ </a:t>
            </a:r>
            <a:r>
              <a:rPr lang="en-US" altLang="ru-RU" sz="28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cs typeface="Consolas" panose="020B0609020204030204"/>
              </a:rPr>
              <a:t>rhs</a:t>
            </a:r>
            <a:endParaRPr lang="en-US" altLang="ru-RU" sz="2800">
              <a:solidFill>
                <a:schemeClr val="tx1"/>
              </a:solidFill>
              <a:latin typeface="Consolas" panose="020B0609020204030204"/>
              <a:cs typeface="Consolas" panose="020B0609020204030204"/>
            </a:endParaRPr>
          </a:p>
          <a:p>
            <a:endParaRPr lang="en-US" altLang="ru-RU" sz="2800">
              <a:solidFill>
                <a:schemeClr val="tx1"/>
              </a:solidFill>
              <a:latin typeface="Consolas" panose="020B0609020204030204"/>
              <a:cs typeface="Consolas" panose="020B0609020204030204"/>
            </a:endParaRPr>
          </a:p>
          <a:p>
            <a:r>
              <a:rPr lang="en-US" altLang="ru-RU" sz="28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if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en-US" altLang="ru-RU"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add_two_objects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lang="en-US" altLang="ru-RU"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42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 </a:t>
            </a:r>
            <a:r>
              <a:rPr lang="en-US" altLang="ru-RU"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-1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&lt; </a:t>
            </a:r>
            <a:r>
              <a:rPr lang="en-US" altLang="ru-RU"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lang="en-US" altLang="ru-RU" sz="2800">
              <a:solidFill>
                <a:schemeClr val="tx1"/>
              </a:solidFill>
              <a:latin typeface="Consolas" panose="020B0609020204030204"/>
              <a:cs typeface="Consolas" panose="020B0609020204030204"/>
            </a:endParaRPr>
          </a:p>
          <a:p>
            <a:r>
              <a:rPr lang="en-US" altLang="ru-RU"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   </a:t>
            </a:r>
            <a:r>
              <a:rPr lang="en-US" altLang="ru-RU"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add_two_objects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lang="en-US" altLang="ru-RU"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"string"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 </a:t>
            </a:r>
            <a:r>
              <a:rPr lang="en-US" altLang="ru-RU"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42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lang="en-US" altLang="ru-RU" sz="2800">
              <a:solidFill>
                <a:schemeClr val="tx1"/>
              </a:solidFill>
              <a:latin typeface="Consolas" panose="020B0609020204030204"/>
              <a:cs typeface="Consolas" panose="020B0609020204030204"/>
            </a:endParaRPr>
          </a:p>
          <a:p>
            <a:endParaRPr lang="en-US" altLang="ru-RU" sz="2800">
              <a:solidFill>
                <a:schemeClr val="tx1"/>
              </a:solidFill>
              <a:latin typeface="Consolas" panose="020B0609020204030204"/>
              <a:cs typeface="Consolas" panose="020B0609020204030204"/>
            </a:endParaRPr>
          </a:p>
          <a:p>
            <a:r>
              <a:rPr lang="en-US" altLang="ru-RU" sz="28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else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lang="en-US" altLang="ru-RU" sz="2800">
              <a:solidFill>
                <a:schemeClr val="tx1"/>
              </a:solidFill>
              <a:latin typeface="Consolas" panose="020B0609020204030204"/>
              <a:cs typeface="Consolas" panose="020B0609020204030204"/>
            </a:endParaRPr>
          </a:p>
          <a:p>
            <a:r>
              <a:rPr lang="en-US" altLang="ru-RU"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   </a:t>
            </a:r>
            <a:r>
              <a:rPr lang="en-US" altLang="ru-RU"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add_two_objects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lang="en-US" altLang="ru-RU"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"hello"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 </a:t>
            </a:r>
            <a:r>
              <a:rPr lang="en-US" altLang="ru-RU"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 word"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lang="en-US" altLang="ru-RU" sz="2800">
              <a:solidFill>
                <a:schemeClr val="tx1"/>
              </a:solidFill>
              <a:latin typeface="Consolas" panose="020B0609020204030204"/>
              <a:cs typeface="Consolas" panose="020B0609020204030204"/>
            </a:endParaRPr>
          </a:p>
          <a:p>
            <a:endParaRPr lang="en-US" altLang="ru-RU" sz="2800">
              <a:solidFill>
                <a:schemeClr val="tx1"/>
              </a:solidFill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  <p:sp>
        <p:nvSpPr>
          <p:cNvPr id="12" name="Текстовое поле 11"/>
          <p:cNvSpPr txBox="1"/>
          <p:nvPr/>
        </p:nvSpPr>
        <p:spPr>
          <a:xfrm>
            <a:off x="4720590" y="2118360"/>
            <a:ext cx="60845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</a:t>
            </a:r>
            <a:r>
              <a:rPr lang="ru-RU" altLang="ru-RU"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проверим тип во время вызова</a:t>
            </a:r>
            <a:endParaRPr lang="ru-RU" altLang="ru-RU" sz="2800">
              <a:solidFill>
                <a:schemeClr val="accent4"/>
              </a:solidFill>
              <a:latin typeface="Consolas" panose="020B0609020204030204"/>
              <a:cs typeface="Consolas" panose="020B0609020204030204"/>
              <a:sym typeface="+mn-ea"/>
            </a:endParaRPr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7259955" y="3399790"/>
            <a:ext cx="36296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</a:t>
            </a:r>
            <a:r>
              <a:rPr lang="ru-RU" altLang="en-US"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не вызовем - ок</a:t>
            </a:r>
            <a:endParaRPr lang="ru-RU" altLang="en-US" sz="2800">
              <a:solidFill>
                <a:schemeClr val="accent4"/>
              </a:solidFill>
              <a:latin typeface="Consolas" panose="020B0609020204030204"/>
              <a:cs typeface="Consolas" panose="020B0609020204030204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3" grpId="0"/>
      <p:bldP spid="3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Определение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altLang="ru-RU" sz="3200">
                <a:solidFill>
                  <a:schemeClr val="tx2">
                    <a:lumMod val="60000"/>
                    <a:lumOff val="40000"/>
                  </a:schemeClr>
                </a:solidFill>
              </a:rPr>
              <a:t>Python - это мультипарадигмальный высокоуровневый </a:t>
            </a:r>
            <a:r>
              <a:rPr lang="en-US" altLang="ru-RU" sz="3200">
                <a:solidFill>
                  <a:schemeClr val="tx1">
                    <a:lumMod val="65000"/>
                    <a:lumOff val="35000"/>
                  </a:schemeClr>
                </a:solidFill>
              </a:rPr>
              <a:t>язык программирования</a:t>
            </a:r>
            <a:r>
              <a:rPr lang="en-US" altLang="ru-RU" sz="3200">
                <a:solidFill>
                  <a:schemeClr val="tx2">
                    <a:lumMod val="60000"/>
                    <a:lumOff val="40000"/>
                  </a:schemeClr>
                </a:solidFill>
              </a:rPr>
              <a:t> общего назначения </a:t>
            </a:r>
            <a:r>
              <a:rPr lang="en-US" altLang="ru-RU" sz="3200">
                <a:solidFill>
                  <a:schemeClr val="tx1">
                    <a:lumMod val="65000"/>
                    <a:lumOff val="35000"/>
                  </a:schemeClr>
                </a:solidFill>
              </a:rPr>
              <a:t>с</a:t>
            </a:r>
            <a:r>
              <a:rPr lang="en-US" altLang="ru-RU" sz="3200">
                <a:solidFill>
                  <a:schemeClr val="tx2">
                    <a:lumMod val="60000"/>
                    <a:lumOff val="40000"/>
                  </a:schemeClr>
                </a:solidFill>
              </a:rPr>
              <a:t> динамической </a:t>
            </a:r>
            <a:r>
              <a:rPr lang="en-US" altLang="ru-RU" sz="3200">
                <a:solidFill>
                  <a:schemeClr val="tx1">
                    <a:lumMod val="65000"/>
                    <a:lumOff val="35000"/>
                  </a:schemeClr>
                </a:solidFill>
              </a:rPr>
              <a:t>строгой</a:t>
            </a:r>
            <a:r>
              <a:rPr lang="en-US" altLang="ru-RU" sz="320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ru-RU" sz="3200">
                <a:solidFill>
                  <a:schemeClr val="tx1">
                    <a:lumMod val="65000"/>
                    <a:lumOff val="35000"/>
                  </a:schemeClr>
                </a:solidFill>
              </a:rPr>
              <a:t>типизацией</a:t>
            </a:r>
            <a:r>
              <a:rPr lang="en-US" altLang="ru-RU" sz="3200">
                <a:solidFill>
                  <a:schemeClr val="tx2">
                    <a:lumMod val="60000"/>
                    <a:lumOff val="40000"/>
                  </a:schemeClr>
                </a:solidFill>
              </a:rPr>
              <a:t> и автоматическим управлением памятью</a:t>
            </a:r>
            <a:endParaRPr lang="en-US" altLang="ru-RU" sz="320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charset="0"/>
                <a:sym typeface="+mn-ea"/>
              </a:rPr>
              <a:t>Строгая и нестрогая типизация</a:t>
            </a:r>
            <a:endParaRPr lang="ru-RU" altLang="ru-RU">
              <a:solidFill>
                <a:schemeClr val="accent1"/>
              </a:solidFill>
              <a:cs typeface="Arial Black" panose="020B0A04020102020204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330" y="1501140"/>
            <a:ext cx="9253855" cy="665480"/>
          </a:xfrm>
        </p:spPr>
        <p:txBody>
          <a:bodyPr wrap="square">
            <a:noAutofit/>
          </a:bodyPr>
          <a:lstStyle/>
          <a:p>
            <a:r>
              <a:rPr lang="en-US" altLang="en-US" sz="2400" b="1"/>
              <a:t>Нестрогая - частые неявные преобразования</a:t>
            </a:r>
            <a:endParaRPr lang="en-US" altLang="en-US" sz="2400" b="1"/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  <p:sp>
        <p:nvSpPr>
          <p:cNvPr id="9" name="Content Placeholder 2"/>
          <p:cNvSpPr>
            <a:spLocks noGrp="1"/>
          </p:cNvSpPr>
          <p:nvPr/>
        </p:nvSpPr>
        <p:spPr>
          <a:xfrm>
            <a:off x="608330" y="3397885"/>
            <a:ext cx="9253855" cy="665480"/>
          </a:xfrm>
          <a:prstGeom prst="rect">
            <a:avLst/>
          </a:prstGeom>
        </p:spPr>
        <p:txBody>
          <a:bodyPr vert="horz" wrap="square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altLang="en-US" sz="2400" b="1"/>
              <a:t>С</a:t>
            </a:r>
            <a:r>
              <a:rPr lang="en-US" altLang="en-US" sz="2400" b="1"/>
              <a:t>трогая - </a:t>
            </a:r>
            <a:r>
              <a:rPr lang="ru-RU" altLang="en-US" sz="2400" b="1"/>
              <a:t>почти нет</a:t>
            </a:r>
            <a:r>
              <a:rPr lang="en-US" altLang="en-US" sz="2400" b="1"/>
              <a:t> неявны</a:t>
            </a:r>
            <a:r>
              <a:rPr lang="ru-RU" altLang="en-US" sz="2400" b="1"/>
              <a:t>х</a:t>
            </a:r>
            <a:r>
              <a:rPr lang="en-US" altLang="en-US" sz="2400" b="1"/>
              <a:t> преобразовани</a:t>
            </a:r>
            <a:r>
              <a:rPr lang="ru-RU" altLang="en-US" sz="2400" b="1"/>
              <a:t>й</a:t>
            </a:r>
            <a:endParaRPr lang="ru-RU" altLang="en-US" sz="2400" b="1"/>
          </a:p>
        </p:txBody>
      </p:sp>
      <p:sp>
        <p:nvSpPr>
          <p:cNvPr id="10" name="Текстовое поле 9"/>
          <p:cNvSpPr txBox="1"/>
          <p:nvPr/>
        </p:nvSpPr>
        <p:spPr>
          <a:xfrm>
            <a:off x="936625" y="2242185"/>
            <a:ext cx="51562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2400">
                <a:latin typeface="Consolas" panose="020B0609020204030204" charset="0"/>
                <a:cs typeface="Consolas" panose="020B0609020204030204" charset="0"/>
              </a:rPr>
              <a:t>&gt;&gt;&gt; </a:t>
            </a:r>
            <a:r>
              <a:rPr lang="en-US" altLang="ru-RU" sz="24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"banana"</a:t>
            </a:r>
            <a:r>
              <a:rPr lang="en-US" altLang="ru-RU" sz="2400">
                <a:latin typeface="Consolas" panose="020B0609020204030204" charset="0"/>
                <a:cs typeface="Consolas" panose="020B0609020204030204" charset="0"/>
              </a:rPr>
              <a:t> + </a:t>
            </a:r>
            <a:r>
              <a:rPr lang="en-US" altLang="ru-RU" sz="24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42 # OK</a:t>
            </a:r>
            <a:endParaRPr lang="en-US" altLang="ru-RU" sz="24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1" name="Текстовое поле 10"/>
          <p:cNvSpPr txBox="1"/>
          <p:nvPr/>
        </p:nvSpPr>
        <p:spPr>
          <a:xfrm>
            <a:off x="936625" y="4234180"/>
            <a:ext cx="51562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2400">
                <a:latin typeface="Consolas" panose="020B0609020204030204" charset="0"/>
                <a:cs typeface="Consolas" panose="020B0609020204030204" charset="0"/>
              </a:rPr>
              <a:t>&gt;&gt;&gt; </a:t>
            </a:r>
            <a:r>
              <a:rPr lang="en-US" altLang="ru-RU" sz="24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"banana"</a:t>
            </a:r>
            <a:r>
              <a:rPr lang="en-US" altLang="ru-RU" sz="2400">
                <a:latin typeface="Consolas" panose="020B0609020204030204" charset="0"/>
                <a:cs typeface="Consolas" panose="020B0609020204030204" charset="0"/>
              </a:rPr>
              <a:t> + </a:t>
            </a:r>
            <a:r>
              <a:rPr lang="en-US" altLang="ru-RU" sz="24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42 # Error</a:t>
            </a:r>
            <a:endParaRPr lang="ru-RU" altLang="en-US" sz="24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Заголовок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ru-RU" altLang="ru-RU"/>
              <a:t>Градиенты типизации</a:t>
            </a:r>
            <a:endParaRPr lang="ru-RU" altLang="ru-RU"/>
          </a:p>
        </p:txBody>
      </p:sp>
      <p:sp>
        <p:nvSpPr>
          <p:cNvPr id="2" name="Замещающий 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 dirty="0"/>
          </a:p>
        </p:txBody>
      </p:sp>
      <p:sp>
        <p:nvSpPr>
          <p:cNvPr id="7" name="Скругленный прямоугольник 6"/>
          <p:cNvSpPr/>
          <p:nvPr/>
        </p:nvSpPr>
        <p:spPr>
          <a:xfrm rot="5400000">
            <a:off x="4912995" y="-1670050"/>
            <a:ext cx="607695" cy="9217025"/>
          </a:xfrm>
          <a:prstGeom prst="roundRect">
            <a:avLst/>
          </a:prstGeom>
          <a:gradFill>
            <a:gsLst>
              <a:gs pos="0">
                <a:schemeClr val="accent1">
                  <a:hueOff val="-2520000"/>
                </a:schemeClr>
              </a:gs>
              <a:gs pos="100000">
                <a:schemeClr val="accent1"/>
              </a:gs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4" name="Скругленный прямоугольник 3"/>
          <p:cNvSpPr/>
          <p:nvPr/>
        </p:nvSpPr>
        <p:spPr>
          <a:xfrm rot="5400000">
            <a:off x="4912995" y="931545"/>
            <a:ext cx="607695" cy="9217025"/>
          </a:xfrm>
          <a:prstGeom prst="roundRect">
            <a:avLst/>
          </a:prstGeom>
          <a:gradFill>
            <a:gsLst>
              <a:gs pos="0">
                <a:schemeClr val="accent1">
                  <a:hueOff val="-2520000"/>
                </a:schemeClr>
              </a:gs>
              <a:gs pos="100000">
                <a:schemeClr val="accent1"/>
              </a:gs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pic>
        <p:nvPicPr>
          <p:cNvPr id="5" name="Изображение 4"/>
          <p:cNvPicPr/>
          <p:nvPr/>
        </p:nvPicPr>
        <p:blipFill>
          <a:blip r:embed="rId2"/>
          <a:stretch>
            <a:fillRect/>
          </a:stretch>
        </p:blipFill>
        <p:spPr>
          <a:xfrm>
            <a:off x="1669415" y="1842770"/>
            <a:ext cx="1445260" cy="912495"/>
          </a:xfrm>
          <a:prstGeom prst="rect">
            <a:avLst/>
          </a:prstGeom>
        </p:spPr>
      </p:pic>
      <p:pic>
        <p:nvPicPr>
          <p:cNvPr id="6" name="Изображение 5"/>
          <p:cNvPicPr/>
          <p:nvPr/>
        </p:nvPicPr>
        <p:blipFill>
          <a:blip r:embed="rId3"/>
          <a:stretch>
            <a:fillRect/>
          </a:stretch>
        </p:blipFill>
        <p:spPr>
          <a:xfrm>
            <a:off x="2038350" y="1503045"/>
            <a:ext cx="1336040" cy="639445"/>
          </a:xfrm>
          <a:prstGeom prst="rect">
            <a:avLst/>
          </a:prstGeom>
        </p:spPr>
      </p:pic>
      <p:pic>
        <p:nvPicPr>
          <p:cNvPr id="8" name="Изображение 7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41930" y="2142490"/>
            <a:ext cx="1001395" cy="409575"/>
          </a:xfrm>
          <a:prstGeom prst="rect">
            <a:avLst/>
          </a:prstGeom>
        </p:spPr>
      </p:pic>
      <p:pic>
        <p:nvPicPr>
          <p:cNvPr id="13" name="Изображение 12"/>
          <p:cNvPicPr/>
          <p:nvPr/>
        </p:nvPicPr>
        <p:blipFill>
          <a:blip r:embed="rId6"/>
        </p:blipFill>
        <p:spPr>
          <a:xfrm>
            <a:off x="7298055" y="1690370"/>
            <a:ext cx="958850" cy="944245"/>
          </a:xfrm>
          <a:prstGeom prst="rect">
            <a:avLst/>
          </a:prstGeom>
        </p:spPr>
      </p:pic>
      <p:pic>
        <p:nvPicPr>
          <p:cNvPr id="9" name="Изображение 8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17065" y="4716145"/>
            <a:ext cx="1001395" cy="409575"/>
          </a:xfrm>
          <a:prstGeom prst="rect">
            <a:avLst/>
          </a:prstGeom>
        </p:spPr>
      </p:pic>
      <p:pic>
        <p:nvPicPr>
          <p:cNvPr id="10" name="Изображение 9"/>
          <p:cNvPicPr/>
          <p:nvPr/>
        </p:nvPicPr>
        <p:blipFill>
          <a:blip r:embed="rId6"/>
        </p:blipFill>
        <p:spPr>
          <a:xfrm>
            <a:off x="4737100" y="4291965"/>
            <a:ext cx="958850" cy="944245"/>
          </a:xfrm>
          <a:prstGeom prst="rect">
            <a:avLst/>
          </a:prstGeom>
        </p:spPr>
      </p:pic>
      <p:pic>
        <p:nvPicPr>
          <p:cNvPr id="11" name="Изображение 10"/>
          <p:cNvPicPr/>
          <p:nvPr/>
        </p:nvPicPr>
        <p:blipFill>
          <a:blip r:embed="rId2"/>
          <a:stretch>
            <a:fillRect/>
          </a:stretch>
        </p:blipFill>
        <p:spPr>
          <a:xfrm>
            <a:off x="7263130" y="4404360"/>
            <a:ext cx="1445260" cy="912495"/>
          </a:xfrm>
          <a:prstGeom prst="rect">
            <a:avLst/>
          </a:prstGeom>
        </p:spPr>
      </p:pic>
      <p:pic>
        <p:nvPicPr>
          <p:cNvPr id="12" name="Изображение 11"/>
          <p:cNvPicPr/>
          <p:nvPr/>
        </p:nvPicPr>
        <p:blipFill>
          <a:blip r:embed="rId3"/>
          <a:stretch>
            <a:fillRect/>
          </a:stretch>
        </p:blipFill>
        <p:spPr>
          <a:xfrm>
            <a:off x="7632065" y="4064635"/>
            <a:ext cx="1336040" cy="639445"/>
          </a:xfrm>
          <a:prstGeom prst="rect">
            <a:avLst/>
          </a:prstGeom>
        </p:spPr>
      </p:pic>
      <p:sp>
        <p:nvSpPr>
          <p:cNvPr id="14" name="Текстовое поле 13"/>
          <p:cNvSpPr txBox="1"/>
          <p:nvPr/>
        </p:nvSpPr>
        <p:spPr>
          <a:xfrm>
            <a:off x="764540" y="2755265"/>
            <a:ext cx="2030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>
                <a:solidFill>
                  <a:schemeClr val="bg1"/>
                </a:solidFill>
              </a:rPr>
              <a:t>статическая</a:t>
            </a:r>
            <a:endParaRPr lang="ru-RU" altLang="en-US">
              <a:solidFill>
                <a:schemeClr val="bg1"/>
              </a:solidFill>
            </a:endParaRPr>
          </a:p>
        </p:txBody>
      </p:sp>
      <p:sp>
        <p:nvSpPr>
          <p:cNvPr id="15" name="Текстовое поле 14"/>
          <p:cNvSpPr txBox="1"/>
          <p:nvPr/>
        </p:nvSpPr>
        <p:spPr>
          <a:xfrm>
            <a:off x="764540" y="5316855"/>
            <a:ext cx="12033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>
                <a:solidFill>
                  <a:schemeClr val="bg1"/>
                </a:solidFill>
              </a:rPr>
              <a:t>строгая</a:t>
            </a:r>
            <a:endParaRPr lang="ru-RU" altLang="en-US">
              <a:solidFill>
                <a:schemeClr val="bg1"/>
              </a:solidFill>
            </a:endParaRPr>
          </a:p>
        </p:txBody>
      </p:sp>
      <p:sp>
        <p:nvSpPr>
          <p:cNvPr id="16" name="Текстовое поле 15"/>
          <p:cNvSpPr txBox="1"/>
          <p:nvPr/>
        </p:nvSpPr>
        <p:spPr>
          <a:xfrm>
            <a:off x="7494905" y="2755265"/>
            <a:ext cx="2202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динамическая</a:t>
            </a:r>
            <a:endParaRPr lang="ru-RU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" name="Текстовое поле 16"/>
          <p:cNvSpPr txBox="1"/>
          <p:nvPr/>
        </p:nvSpPr>
        <p:spPr>
          <a:xfrm>
            <a:off x="8013065" y="5316855"/>
            <a:ext cx="15976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нестрогая</a:t>
            </a:r>
            <a:endParaRPr lang="ru-RU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Определение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altLang="ru-RU" sz="3200">
                <a:solidFill>
                  <a:schemeClr val="tx2">
                    <a:lumMod val="60000"/>
                    <a:lumOff val="40000"/>
                  </a:schemeClr>
                </a:solidFill>
              </a:rPr>
              <a:t>Python - это мультипарадигмальный высокоуровневый </a:t>
            </a:r>
            <a:r>
              <a:rPr lang="en-US" altLang="ru-RU" sz="3200">
                <a:solidFill>
                  <a:schemeClr val="tx1">
                    <a:lumMod val="65000"/>
                    <a:lumOff val="35000"/>
                  </a:schemeClr>
                </a:solidFill>
              </a:rPr>
              <a:t>язык программирования</a:t>
            </a:r>
            <a:r>
              <a:rPr lang="en-US" altLang="ru-RU" sz="3200">
                <a:solidFill>
                  <a:schemeClr val="tx2">
                    <a:lumMod val="60000"/>
                    <a:lumOff val="40000"/>
                  </a:schemeClr>
                </a:solidFill>
              </a:rPr>
              <a:t> общего назначения </a:t>
            </a:r>
            <a:r>
              <a:rPr lang="en-US" altLang="ru-RU" sz="3200">
                <a:solidFill>
                  <a:schemeClr val="tx1">
                    <a:lumMod val="65000"/>
                    <a:lumOff val="35000"/>
                  </a:schemeClr>
                </a:solidFill>
              </a:rPr>
              <a:t>с</a:t>
            </a:r>
            <a:r>
              <a:rPr lang="en-US" altLang="ru-RU" sz="3200">
                <a:solidFill>
                  <a:schemeClr val="tx2">
                    <a:lumMod val="60000"/>
                    <a:lumOff val="40000"/>
                  </a:schemeClr>
                </a:solidFill>
              </a:rPr>
              <a:t> динамической строгой типизацией и </a:t>
            </a:r>
            <a:r>
              <a:rPr lang="en-US" altLang="ru-RU" sz="3200">
                <a:solidFill>
                  <a:schemeClr val="tx1">
                    <a:lumMod val="65000"/>
                    <a:lumOff val="35000"/>
                  </a:schemeClr>
                </a:solidFill>
              </a:rPr>
              <a:t>автоматическим управлением памятью</a:t>
            </a:r>
            <a:endParaRPr lang="en-US" altLang="ru-RU" sz="32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Ручное управление памятью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8330" y="2578735"/>
            <a:ext cx="7680960" cy="8496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lang="en-US" sz="2800">
                <a:latin typeface="Consolas" panose="020B0609020204030204"/>
                <a:cs typeface="Consolas" panose="020B0609020204030204"/>
              </a:rPr>
              <a:t> *</a:t>
            </a:r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cs typeface="Consolas" panose="020B0609020204030204"/>
              </a:rPr>
              <a:t>arr</a:t>
            </a:r>
            <a:r>
              <a:rPr lang="en-US" sz="2800">
                <a:latin typeface="Consolas" panose="020B0609020204030204"/>
                <a:cs typeface="Consolas" panose="020B0609020204030204"/>
              </a:rPr>
              <a:t> = </a:t>
            </a:r>
            <a:r>
              <a:rPr lang="en-US"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malloc</a:t>
            </a:r>
            <a:r>
              <a:rPr lang="en-US"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lang="en-US"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100</a:t>
            </a:r>
            <a:r>
              <a:rPr lang="en-US" sz="2800">
                <a:latin typeface="Consolas" panose="020B0609020204030204"/>
                <a:cs typeface="Consolas" panose="020B0609020204030204"/>
              </a:rPr>
              <a:t> * </a:t>
            </a:r>
            <a:r>
              <a:rPr lang="en-US"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sizeof</a:t>
            </a:r>
            <a:r>
              <a:rPr lang="en-US"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lang="en-US"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lang="en-US"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lang="en-US" sz="2800">
                <a:latin typeface="Consolas" panose="020B0609020204030204"/>
                <a:cs typeface="Consolas" panose="020B0609020204030204"/>
              </a:rPr>
              <a:t>;</a:t>
            </a:r>
            <a:endParaRPr lang="en-US" sz="2800">
              <a:latin typeface="Consolas" panose="020B0609020204030204"/>
              <a:cs typeface="Consolas" panose="020B0609020204030204"/>
            </a:endParaRPr>
          </a:p>
          <a:p>
            <a:r>
              <a:rPr lang="ru-RU" altLang="en-US"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...</a:t>
            </a:r>
            <a:endParaRPr lang="en-US" sz="2800">
              <a:solidFill>
                <a:schemeClr val="tx1"/>
              </a:solidFill>
              <a:latin typeface="Consolas" panose="020B0609020204030204"/>
              <a:cs typeface="Consolas" panose="020B0609020204030204"/>
            </a:endParaRPr>
          </a:p>
          <a:p>
            <a:endParaRPr lang="en-US" sz="28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9556045" y="1468580"/>
            <a:ext cx="15000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/>
              </a:rPr>
              <a:t>память</a:t>
            </a:r>
            <a:endParaRPr sz="2400" b="1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484995" y="2039620"/>
            <a:ext cx="1644015" cy="3959225"/>
          </a:xfrm>
          <a:prstGeom prst="roundRect">
            <a:avLst/>
          </a:prstGeom>
          <a:solidFill>
            <a:schemeClr val="accent2"/>
          </a:solidFill>
          <a:ln w="19050">
            <a:solidFill>
              <a:schemeClr val="accent1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484995" y="2039620"/>
            <a:ext cx="1642745" cy="1520825"/>
          </a:xfrm>
          <a:prstGeom prst="roundRect">
            <a:avLst>
              <a:gd name="adj" fmla="val 15532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onsolas" panose="020B0609020204030204"/>
              </a:rPr>
              <a:t>arr</a:t>
            </a:r>
            <a:endParaRPr sz="2000" b="1">
              <a:solidFill>
                <a:srgbClr val="FFFFFF"/>
              </a:solidFill>
              <a:latin typeface="Consolas" panose="020B0609020204030204"/>
            </a:endParaRPr>
          </a:p>
        </p:txBody>
      </p:sp>
      <p:sp>
        <p:nvSpPr>
          <p:cNvPr id="10" name="Текстовое поле 9"/>
          <p:cNvSpPr txBox="1"/>
          <p:nvPr/>
        </p:nvSpPr>
        <p:spPr>
          <a:xfrm>
            <a:off x="608330" y="3429000"/>
            <a:ext cx="29591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  <a:sym typeface="+mn-ea"/>
              </a:rPr>
              <a:t>free</a:t>
            </a:r>
            <a:r>
              <a:rPr lang="en-US"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(</a:t>
            </a:r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cs typeface="Consolas" panose="020B0609020204030204"/>
                <a:sym typeface="+mn-ea"/>
              </a:rPr>
              <a:t>arr</a:t>
            </a:r>
            <a:r>
              <a:rPr lang="en-US"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)</a:t>
            </a:r>
            <a:r>
              <a:rPr lang="en-US" sz="2800">
                <a:latin typeface="Consolas" panose="020B0609020204030204"/>
                <a:cs typeface="Consolas" panose="020B0609020204030204"/>
                <a:sym typeface="+mn-ea"/>
              </a:rPr>
              <a:t>;</a:t>
            </a:r>
            <a:endParaRPr lang="ru-RU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9" grpId="0" animBg="1"/>
      <p:bldP spid="9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330" y="608330"/>
            <a:ext cx="5284470" cy="705485"/>
          </a:xfrm>
        </p:spPr>
        <p:txBody>
          <a:bodyPr>
            <a:normAutofit fontScale="90000"/>
          </a:bodyPr>
          <a:lstStyle/>
          <a:p>
            <a:r>
              <a:rPr lang="ru-RU"/>
              <a:t>Утечки памяти</a:t>
            </a:r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608330" y="2578735"/>
            <a:ext cx="7680960" cy="8496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lang="en-US" sz="2800">
                <a:latin typeface="Consolas" panose="020B0609020204030204"/>
                <a:cs typeface="Consolas" panose="020B0609020204030204"/>
              </a:rPr>
              <a:t> *</a:t>
            </a:r>
            <a:r>
              <a:rPr lang="en-US" sz="28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cs typeface="Consolas" panose="020B0609020204030204"/>
              </a:rPr>
              <a:t>arr</a:t>
            </a:r>
            <a:r>
              <a:rPr lang="en-US" sz="2800">
                <a:latin typeface="Consolas" panose="020B0609020204030204"/>
                <a:cs typeface="Consolas" panose="020B0609020204030204"/>
              </a:rPr>
              <a:t> = </a:t>
            </a:r>
            <a:r>
              <a:rPr lang="en-US"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malloc</a:t>
            </a:r>
            <a:r>
              <a:rPr lang="en-US"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lang="en-US"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100</a:t>
            </a:r>
            <a:r>
              <a:rPr lang="en-US" sz="2800">
                <a:latin typeface="Consolas" panose="020B0609020204030204"/>
                <a:cs typeface="Consolas" panose="020B0609020204030204"/>
              </a:rPr>
              <a:t> * </a:t>
            </a:r>
            <a:r>
              <a:rPr lang="en-US"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sizeof</a:t>
            </a:r>
            <a:r>
              <a:rPr lang="en-US"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lang="en-US"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r>
              <a:rPr lang="en-US"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lang="en-US" sz="2800">
                <a:latin typeface="Consolas" panose="020B0609020204030204"/>
                <a:cs typeface="Consolas" panose="020B0609020204030204"/>
              </a:rPr>
              <a:t>;</a:t>
            </a:r>
            <a:endParaRPr lang="en-US" sz="2800">
              <a:latin typeface="Consolas" panose="020B0609020204030204"/>
              <a:cs typeface="Consolas" panose="020B0609020204030204"/>
            </a:endParaRPr>
          </a:p>
          <a:p>
            <a:r>
              <a:rPr lang="ru-RU" altLang="en-US"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...</a:t>
            </a:r>
            <a:endParaRPr lang="en-US" sz="2800">
              <a:solidFill>
                <a:schemeClr val="tx1"/>
              </a:solidFill>
              <a:latin typeface="Consolas" panose="020B0609020204030204"/>
              <a:cs typeface="Consolas" panose="020B0609020204030204"/>
            </a:endParaRPr>
          </a:p>
          <a:p>
            <a:endParaRPr lang="en-US" sz="28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9556045" y="1468580"/>
            <a:ext cx="15000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/>
              </a:rPr>
              <a:t>память</a:t>
            </a:r>
            <a:endParaRPr sz="2400" b="1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484995" y="2039620"/>
            <a:ext cx="1644015" cy="3959225"/>
          </a:xfrm>
          <a:prstGeom prst="roundRect">
            <a:avLst/>
          </a:prstGeom>
          <a:solidFill>
            <a:schemeClr val="accent2"/>
          </a:solidFill>
          <a:ln w="19050">
            <a:solidFill>
              <a:schemeClr val="accent1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484995" y="2039620"/>
            <a:ext cx="1642745" cy="1520825"/>
          </a:xfrm>
          <a:prstGeom prst="roundRect">
            <a:avLst>
              <a:gd name="adj" fmla="val 15532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onsolas" panose="020B0609020204030204"/>
              </a:rPr>
              <a:t>arr</a:t>
            </a:r>
            <a:endParaRPr sz="2000" b="1">
              <a:solidFill>
                <a:srgbClr val="FFFFFF"/>
              </a:solidFill>
              <a:latin typeface="Consolas" panose="020B0609020204030204"/>
            </a:endParaRPr>
          </a:p>
        </p:txBody>
      </p:sp>
      <p:sp>
        <p:nvSpPr>
          <p:cNvPr id="10" name="Текстовое поле 9"/>
          <p:cNvSpPr txBox="1"/>
          <p:nvPr/>
        </p:nvSpPr>
        <p:spPr>
          <a:xfrm>
            <a:off x="608330" y="3429000"/>
            <a:ext cx="74041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// free(arr); - </a:t>
            </a:r>
            <a:r>
              <a:rPr lang="ru-RU"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забыли вызвать</a:t>
            </a:r>
            <a:endParaRPr lang="ru-RU" altLang="en-US" sz="2800">
              <a:solidFill>
                <a:schemeClr val="accent4"/>
              </a:solidFill>
              <a:latin typeface="Consolas" panose="020B0609020204030204"/>
              <a:cs typeface="Consolas" panose="020B0609020204030204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Подсчёт ссылок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5315" y="1768475"/>
            <a:ext cx="4904105" cy="254825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cs typeface="Consolas" panose="020B0609020204030204"/>
              </a:rPr>
              <a:t>list1</a:t>
            </a:r>
            <a:r>
              <a:rPr lang="en-US" sz="3600">
                <a:latin typeface="Consolas" panose="020B0609020204030204"/>
                <a:cs typeface="Consolas" panose="020B0609020204030204"/>
              </a:rPr>
              <a:t> = </a:t>
            </a:r>
            <a:r>
              <a:rPr lang="en-US" sz="3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lang="en-US" sz="3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lang="en-US" sz="3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 </a:t>
            </a:r>
            <a:r>
              <a:rPr lang="en-US" sz="3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lang="en-US" sz="3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 </a:t>
            </a:r>
            <a:r>
              <a:rPr lang="en-US" sz="3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lang="en-US" sz="3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lang="en-US" sz="36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cs typeface="Consolas" panose="020B0609020204030204"/>
              </a:rPr>
              <a:t>list2</a:t>
            </a:r>
            <a:r>
              <a:rPr lang="en-US" sz="3600">
                <a:latin typeface="Consolas" panose="020B0609020204030204"/>
                <a:cs typeface="Consolas" panose="020B0609020204030204"/>
              </a:rPr>
              <a:t> = </a:t>
            </a:r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cs typeface="Consolas" panose="020B0609020204030204"/>
              </a:rPr>
              <a:t>list1</a:t>
            </a:r>
            <a:endParaRPr lang="en-US" sz="36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  <p:sp>
        <p:nvSpPr>
          <p:cNvPr id="6" name="Rounded Rectangle 5"/>
          <p:cNvSpPr/>
          <p:nvPr/>
        </p:nvSpPr>
        <p:spPr>
          <a:xfrm>
            <a:off x="7186295" y="2503805"/>
            <a:ext cx="1660525" cy="1232535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 Black" panose="020B0A04020102020204"/>
              </a:rPr>
              <a:t>[1, 2, 3]</a:t>
            </a:r>
            <a:endParaRPr sz="2000" b="1">
              <a:solidFill>
                <a:srgbClr val="FFFFFF"/>
              </a:solidFill>
              <a:latin typeface="Arial Black" panose="020B0A04020102020204"/>
            </a:endParaRPr>
          </a:p>
        </p:txBody>
      </p:sp>
      <p:sp>
        <p:nvSpPr>
          <p:cNvPr id="17" name="Rounded Rectangle 6"/>
          <p:cNvSpPr/>
          <p:nvPr/>
        </p:nvSpPr>
        <p:spPr>
          <a:xfrm>
            <a:off x="9807575" y="3160395"/>
            <a:ext cx="974725" cy="575945"/>
          </a:xfrm>
          <a:prstGeom prst="roundRect">
            <a:avLst/>
          </a:prstGeom>
          <a:solidFill>
            <a:schemeClr val="accent2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Arial Black" panose="020B0A04020102020204"/>
              </a:rPr>
              <a:t>list2</a:t>
            </a:r>
            <a:endParaRPr lang="en-US" sz="2000" b="1">
              <a:solidFill>
                <a:srgbClr val="FFFFFF"/>
              </a:solidFill>
              <a:latin typeface="Arial Black" panose="020B0A04020102020204"/>
            </a:endParaRPr>
          </a:p>
        </p:txBody>
      </p:sp>
      <p:sp>
        <p:nvSpPr>
          <p:cNvPr id="18" name="Rounded Rectangle 6"/>
          <p:cNvSpPr/>
          <p:nvPr/>
        </p:nvSpPr>
        <p:spPr>
          <a:xfrm>
            <a:off x="9807575" y="2503805"/>
            <a:ext cx="974725" cy="575945"/>
          </a:xfrm>
          <a:prstGeom prst="roundRect">
            <a:avLst/>
          </a:prstGeom>
          <a:solidFill>
            <a:schemeClr val="accent2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Arial Black" panose="020B0A04020102020204"/>
              </a:rPr>
              <a:t>list1</a:t>
            </a:r>
            <a:endParaRPr lang="en-US" sz="2000" b="1">
              <a:solidFill>
                <a:srgbClr val="FFFFFF"/>
              </a:solidFill>
              <a:latin typeface="Arial Black" panose="020B0A04020102020204"/>
            </a:endParaRPr>
          </a:p>
        </p:txBody>
      </p:sp>
      <p:cxnSp>
        <p:nvCxnSpPr>
          <p:cNvPr id="19" name="Прямая со стрелкой 18"/>
          <p:cNvCxnSpPr/>
          <p:nvPr/>
        </p:nvCxnSpPr>
        <p:spPr>
          <a:xfrm flipH="1">
            <a:off x="8933815" y="2793365"/>
            <a:ext cx="786130" cy="3175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flipH="1">
            <a:off x="8933815" y="3427095"/>
            <a:ext cx="786130" cy="3175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8" grpId="0" animBg="1"/>
      <p:bldP spid="6" grpId="1" animBg="1"/>
      <p:bldP spid="18" grpId="1" animBg="1"/>
      <p:bldP spid="17" grpId="0" animBg="1"/>
      <p:bldP spid="17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Подсчёт ссылок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5315" y="1768475"/>
            <a:ext cx="4904105" cy="254825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cs typeface="Consolas" panose="020B0609020204030204"/>
              </a:rPr>
              <a:t>list1</a:t>
            </a:r>
            <a:r>
              <a:rPr lang="en-US" sz="3600">
                <a:latin typeface="Consolas" panose="020B0609020204030204"/>
                <a:cs typeface="Consolas" panose="020B0609020204030204"/>
              </a:rPr>
              <a:t> = </a:t>
            </a:r>
            <a:r>
              <a:rPr lang="en-US" sz="3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lang="en-US" sz="3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lang="en-US" sz="3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 </a:t>
            </a:r>
            <a:r>
              <a:rPr lang="en-US" sz="3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lang="en-US" sz="3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 </a:t>
            </a:r>
            <a:r>
              <a:rPr lang="en-US" sz="3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lang="en-US" sz="3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lang="en-US" sz="36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cs typeface="Consolas" panose="020B0609020204030204"/>
              </a:rPr>
              <a:t>list2</a:t>
            </a:r>
            <a:r>
              <a:rPr lang="en-US" sz="3600">
                <a:latin typeface="Consolas" panose="020B0609020204030204"/>
                <a:cs typeface="Consolas" panose="020B0609020204030204"/>
              </a:rPr>
              <a:t> = </a:t>
            </a:r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cs typeface="Consolas" panose="020B0609020204030204"/>
              </a:rPr>
              <a:t>list1</a:t>
            </a:r>
            <a:endParaRPr lang="en-US" sz="36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cs typeface="Consolas" panose="020B0609020204030204"/>
              </a:rPr>
              <a:t>list1</a:t>
            </a:r>
            <a:r>
              <a:rPr lang="en-US" sz="3600">
                <a:latin typeface="Consolas" panose="020B0609020204030204"/>
                <a:cs typeface="Consolas" panose="020B0609020204030204"/>
              </a:rPr>
              <a:t> = </a:t>
            </a:r>
            <a:r>
              <a:rPr lang="en-US" sz="3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None</a:t>
            </a:r>
            <a:endParaRPr lang="en-US" sz="3600">
              <a:solidFill>
                <a:schemeClr val="accent6"/>
              </a:solidFill>
              <a:latin typeface="Consolas" panose="020B0609020204030204"/>
              <a:cs typeface="Consolas" panose="020B0609020204030204"/>
            </a:endParaRPr>
          </a:p>
          <a:p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cs typeface="Consolas" panose="020B0609020204030204"/>
              </a:rPr>
              <a:t>list2</a:t>
            </a:r>
            <a:r>
              <a:rPr lang="en-US" sz="3600">
                <a:latin typeface="Consolas" panose="020B0609020204030204"/>
                <a:cs typeface="Consolas" panose="020B0609020204030204"/>
              </a:rPr>
              <a:t> = </a:t>
            </a:r>
            <a:r>
              <a:rPr lang="en-US" sz="3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None</a:t>
            </a:r>
            <a:endParaRPr lang="en-US" sz="36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  <p:sp>
        <p:nvSpPr>
          <p:cNvPr id="6" name="Rounded Rectangle 5"/>
          <p:cNvSpPr/>
          <p:nvPr/>
        </p:nvSpPr>
        <p:spPr>
          <a:xfrm>
            <a:off x="7186295" y="2503805"/>
            <a:ext cx="1660525" cy="1232535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 Black" panose="020B0A04020102020204"/>
              </a:rPr>
              <a:t>[1, 2, 3]</a:t>
            </a:r>
            <a:endParaRPr sz="2000" b="1">
              <a:solidFill>
                <a:srgbClr val="FFFFFF"/>
              </a:solidFill>
              <a:latin typeface="Arial Black" panose="020B0A04020102020204"/>
            </a:endParaRPr>
          </a:p>
        </p:txBody>
      </p:sp>
      <p:sp>
        <p:nvSpPr>
          <p:cNvPr id="17" name="Rounded Rectangle 6"/>
          <p:cNvSpPr/>
          <p:nvPr/>
        </p:nvSpPr>
        <p:spPr>
          <a:xfrm>
            <a:off x="9807575" y="3160395"/>
            <a:ext cx="974725" cy="575945"/>
          </a:xfrm>
          <a:prstGeom prst="roundRect">
            <a:avLst/>
          </a:prstGeom>
          <a:solidFill>
            <a:schemeClr val="accent2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Arial Black" panose="020B0A04020102020204"/>
              </a:rPr>
              <a:t>list2</a:t>
            </a:r>
            <a:endParaRPr lang="en-US" sz="2000" b="1">
              <a:solidFill>
                <a:srgbClr val="FFFFFF"/>
              </a:solidFill>
              <a:latin typeface="Arial Black" panose="020B0A04020102020204"/>
            </a:endParaRPr>
          </a:p>
        </p:txBody>
      </p:sp>
      <p:cxnSp>
        <p:nvCxnSpPr>
          <p:cNvPr id="20" name="Прямая со стрелкой 19"/>
          <p:cNvCxnSpPr/>
          <p:nvPr/>
        </p:nvCxnSpPr>
        <p:spPr>
          <a:xfrm flipH="1">
            <a:off x="8933815" y="3427095"/>
            <a:ext cx="786130" cy="3175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Rounded Rectangle 5"/>
          <p:cNvSpPr/>
          <p:nvPr/>
        </p:nvSpPr>
        <p:spPr>
          <a:xfrm>
            <a:off x="7185660" y="2503805"/>
            <a:ext cx="1660525" cy="1232535"/>
          </a:xfrm>
          <a:prstGeom prst="roundRect">
            <a:avLst/>
          </a:prstGeom>
          <a:solidFill>
            <a:schemeClr val="bg2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 Black" panose="020B0A04020102020204"/>
              </a:rPr>
              <a:t>[1, 2, 3]</a:t>
            </a:r>
            <a:endParaRPr sz="2000" b="1">
              <a:solidFill>
                <a:srgbClr val="FFFFFF"/>
              </a:solidFill>
              <a:latin typeface="Arial Black" panose="020B0A04020102020204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7208680" y="2546215"/>
            <a:ext cx="1598930" cy="1164590"/>
          </a:xfrm>
          <a:prstGeom prst="line">
            <a:avLst/>
          </a:prstGeom>
          <a:ln w="63500">
            <a:solidFill>
              <a:srgbClr val="D6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7213915" y="2517005"/>
            <a:ext cx="1598930" cy="1189355"/>
          </a:xfrm>
          <a:prstGeom prst="line">
            <a:avLst/>
          </a:prstGeom>
          <a:ln w="63500">
            <a:solidFill>
              <a:srgbClr val="D6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3" grpId="0" animBg="1"/>
      <p:bldP spid="3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Сборщик мусора для циклов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8965" y="1873250"/>
            <a:ext cx="5990590" cy="29400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cs typeface="Consolas" panose="020B0609020204030204"/>
              </a:rPr>
              <a:t>dict1</a:t>
            </a:r>
            <a:r>
              <a:rPr lang="en-US" sz="3600">
                <a:latin typeface="Consolas" panose="020B0609020204030204"/>
                <a:cs typeface="Consolas" panose="020B0609020204030204"/>
              </a:rPr>
              <a:t> = </a:t>
            </a:r>
            <a:r>
              <a:rPr lang="en-US" sz="3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{}</a:t>
            </a:r>
            <a:endParaRPr lang="en-US" sz="3600">
              <a:latin typeface="Consolas" panose="020B0609020204030204"/>
              <a:cs typeface="Consolas" panose="020B0609020204030204"/>
            </a:endParaRPr>
          </a:p>
          <a:p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cs typeface="Consolas" panose="020B0609020204030204"/>
              </a:rPr>
              <a:t>dict2</a:t>
            </a:r>
            <a:r>
              <a:rPr lang="en-US" sz="3600">
                <a:latin typeface="Consolas" panose="020B0609020204030204"/>
                <a:cs typeface="Consolas" panose="020B0609020204030204"/>
              </a:rPr>
              <a:t> = </a:t>
            </a:r>
            <a:r>
              <a:rPr lang="en-US" sz="3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{}</a:t>
            </a:r>
            <a:endParaRPr lang="en-US" sz="3600">
              <a:latin typeface="Consolas" panose="020B0609020204030204"/>
              <a:cs typeface="Consolas" panose="020B0609020204030204"/>
            </a:endParaRPr>
          </a:p>
          <a:p>
            <a:r>
              <a:rPr lang="en-US" sz="36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цикл</a:t>
            </a:r>
            <a:r>
              <a:rPr lang="ru-RU" sz="36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ические ссылки</a:t>
            </a:r>
            <a:endParaRPr lang="en-US" sz="3600">
              <a:latin typeface="Consolas" panose="020B0609020204030204"/>
              <a:cs typeface="Consolas" panose="020B0609020204030204"/>
            </a:endParaRPr>
          </a:p>
          <a:p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cs typeface="Consolas" panose="020B0609020204030204"/>
              </a:rPr>
              <a:t>dict1</a:t>
            </a:r>
            <a:r>
              <a:rPr lang="en-US" sz="3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lang="en-US" sz="36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"ref"</a:t>
            </a:r>
            <a:r>
              <a:rPr lang="en-US" sz="3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lang="en-US" sz="3600">
                <a:latin typeface="Consolas" panose="020B0609020204030204"/>
                <a:cs typeface="Consolas" panose="020B0609020204030204"/>
              </a:rPr>
              <a:t> = </a:t>
            </a:r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cs typeface="Consolas" panose="020B0609020204030204"/>
              </a:rPr>
              <a:t>dict2</a:t>
            </a:r>
            <a:endParaRPr lang="en-US" sz="3600">
              <a:solidFill>
                <a:schemeClr val="accent1">
                  <a:lumMod val="50000"/>
                </a:schemeClr>
              </a:solidFill>
              <a:latin typeface="Consolas" panose="020B0609020204030204"/>
              <a:cs typeface="Consolas" panose="020B0609020204030204"/>
            </a:endParaRPr>
          </a:p>
          <a:p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cs typeface="Consolas" panose="020B0609020204030204"/>
              </a:rPr>
              <a:t>dict2</a:t>
            </a:r>
            <a:r>
              <a:rPr lang="en-US" sz="3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lang="en-US" sz="36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"ref"</a:t>
            </a:r>
            <a:r>
              <a:rPr lang="en-US" sz="3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lang="en-US" sz="3600">
                <a:latin typeface="Consolas" panose="020B0609020204030204"/>
                <a:cs typeface="Consolas" panose="020B0609020204030204"/>
              </a:rPr>
              <a:t> = </a:t>
            </a:r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Consolas" panose="020B0609020204030204"/>
                <a:cs typeface="Consolas" panose="020B0609020204030204"/>
              </a:rPr>
              <a:t>dict1</a:t>
            </a:r>
            <a:endParaRPr lang="en-US" sz="36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  <p:sp>
        <p:nvSpPr>
          <p:cNvPr id="6" name="Rounded Rectangle 5"/>
          <p:cNvSpPr/>
          <p:nvPr/>
        </p:nvSpPr>
        <p:spPr>
          <a:xfrm>
            <a:off x="6817995" y="2668270"/>
            <a:ext cx="1889760" cy="1145540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ru-RU" sz="2000" b="1">
                <a:solidFill>
                  <a:srgbClr val="FFFFFF"/>
                </a:solidFill>
                <a:latin typeface="Arial Black" panose="020B0A04020102020204"/>
              </a:rPr>
              <a:t>dict1</a:t>
            </a:r>
            <a:endParaRPr lang="en-US" altLang="ru-RU" sz="2000" b="1">
              <a:solidFill>
                <a:srgbClr val="FFFFFF"/>
              </a:solidFill>
              <a:latin typeface="Arial Black" panose="020B0A04020102020204"/>
            </a:endParaRPr>
          </a:p>
        </p:txBody>
      </p:sp>
      <p:cxnSp>
        <p:nvCxnSpPr>
          <p:cNvPr id="9" name="Connector 8"/>
          <p:cNvCxnSpPr/>
          <p:nvPr/>
        </p:nvCxnSpPr>
        <p:spPr>
          <a:xfrm flipH="1" flipV="1">
            <a:off x="8743640" y="3543865"/>
            <a:ext cx="702310" cy="1270"/>
          </a:xfrm>
          <a:prstGeom prst="line">
            <a:avLst/>
          </a:prstGeom>
          <a:ln w="28575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700520" y="2299970"/>
            <a:ext cx="4799330" cy="1882140"/>
          </a:xfrm>
          <a:prstGeom prst="roundRect">
            <a:avLst/>
          </a:prstGeom>
          <a:noFill/>
          <a:ln w="19050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12015" y="4296595"/>
            <a:ext cx="40000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>
                <a:solidFill>
                  <a:srgbClr val="595959"/>
                </a:solidFill>
                <a:latin typeface="Arial Black" panose="020B0A04020102020204"/>
              </a:rPr>
              <a:t>циклическая ссылка</a:t>
            </a:r>
            <a:endParaRPr lang="ru-RU" sz="2400" b="1">
              <a:solidFill>
                <a:srgbClr val="595959"/>
              </a:solidFill>
              <a:latin typeface="Arial Black" panose="020B0A04020102020204"/>
            </a:endParaRPr>
          </a:p>
        </p:txBody>
      </p:sp>
      <p:sp>
        <p:nvSpPr>
          <p:cNvPr id="13" name="Rounded Rectangle 5"/>
          <p:cNvSpPr/>
          <p:nvPr/>
        </p:nvSpPr>
        <p:spPr>
          <a:xfrm>
            <a:off x="9482455" y="2668270"/>
            <a:ext cx="1889760" cy="1145540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ru-RU" sz="2000" b="1">
                <a:solidFill>
                  <a:srgbClr val="FFFFFF"/>
                </a:solidFill>
                <a:latin typeface="Arial Black" panose="020B0A04020102020204"/>
              </a:rPr>
              <a:t>dict2</a:t>
            </a:r>
            <a:endParaRPr lang="en-US" altLang="ru-RU" sz="2000" b="1">
              <a:solidFill>
                <a:srgbClr val="FFFFFF"/>
              </a:solidFill>
              <a:latin typeface="Arial Black" panose="020B0A04020102020204"/>
            </a:endParaRPr>
          </a:p>
        </p:txBody>
      </p:sp>
      <p:cxnSp>
        <p:nvCxnSpPr>
          <p:cNvPr id="14" name="Connector 8"/>
          <p:cNvCxnSpPr/>
          <p:nvPr/>
        </p:nvCxnSpPr>
        <p:spPr>
          <a:xfrm flipV="1">
            <a:off x="8777295" y="2941250"/>
            <a:ext cx="668655" cy="3175"/>
          </a:xfrm>
          <a:prstGeom prst="line">
            <a:avLst/>
          </a:prstGeom>
          <a:ln w="28575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Итог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8330" y="1490345"/>
            <a:ext cx="10968990" cy="1639570"/>
          </a:xfrm>
        </p:spPr>
        <p:txBody>
          <a:bodyPr>
            <a:normAutofit lnSpcReduction="20000"/>
          </a:bodyPr>
          <a:lstStyle/>
          <a:p>
            <a:pPr marL="0" indent="0" algn="just">
              <a:buNone/>
            </a:pPr>
            <a:r>
              <a:rPr lang="en-US" altLang="ru-RU" sz="320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Python - </a:t>
            </a:r>
            <a:r>
              <a:rPr lang="en-US" alt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это</a:t>
            </a:r>
            <a:r>
              <a:rPr lang="en-US" altLang="ru-RU" sz="320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 </a:t>
            </a:r>
            <a:r>
              <a:rPr lang="en-US" alt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язык</a:t>
            </a:r>
            <a:r>
              <a:rPr lang="en-US" altLang="ru-RU" sz="320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 </a:t>
            </a:r>
            <a:r>
              <a:rPr lang="en-US" alt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программирования</a:t>
            </a:r>
            <a:r>
              <a:rPr lang="en-US" altLang="ru-RU" sz="320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, </a:t>
            </a:r>
            <a:r>
              <a:rPr lang="en-US" alt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который</a:t>
            </a:r>
            <a:r>
              <a:rPr lang="en-US" altLang="ru-RU" sz="320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 </a:t>
            </a:r>
            <a:r>
              <a:rPr lang="en-US" alt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подойдет</a:t>
            </a:r>
            <a:r>
              <a:rPr lang="en-US" altLang="ru-RU" sz="320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 </a:t>
            </a:r>
            <a:r>
              <a:rPr lang="en-US" alt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для</a:t>
            </a:r>
            <a:r>
              <a:rPr lang="en-US" altLang="ru-RU" sz="320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 </a:t>
            </a:r>
            <a:r>
              <a:rPr lang="en-US" alt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ваших</a:t>
            </a:r>
            <a:r>
              <a:rPr lang="en-US" altLang="ru-RU" sz="320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 </a:t>
            </a:r>
            <a:r>
              <a:rPr lang="en-US" alt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задач</a:t>
            </a:r>
            <a:endParaRPr lang="en-US" altLang="en-US" sz="3200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charset="0"/>
              <a:cs typeface="Arial Black" panose="020B0A04020102020204" charset="0"/>
              <a:sym typeface="+mn-ea"/>
            </a:endParaRPr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Заголовок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ru-RU"/>
              <a:t>Реализации </a:t>
            </a:r>
            <a:r>
              <a:rPr lang="en-US"/>
              <a:t>Python</a:t>
            </a:r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8330" y="1447165"/>
            <a:ext cx="6609715" cy="4759325"/>
          </a:xfrm>
        </p:spPr>
        <p:txBody>
          <a:bodyPr wrap="square"/>
          <a:lstStyle/>
          <a:p>
            <a:pPr>
              <a:lnSpc>
                <a:spcPct val="100000"/>
              </a:lnSpc>
            </a:pPr>
            <a:r>
              <a:rPr lang="ru-RU" sz="2000"/>
              <a:t>Написана на C</a:t>
            </a:r>
            <a:endParaRPr lang="ru-RU" sz="2000"/>
          </a:p>
          <a:p>
            <a:pPr>
              <a:lnSpc>
                <a:spcPct val="100000"/>
              </a:lnSpc>
            </a:pPr>
            <a:r>
              <a:rPr lang="ru-RU" sz="2000"/>
              <a:t>Байт-код + своя виртуальная машина</a:t>
            </a:r>
            <a:endParaRPr lang="ru-RU" sz="2000"/>
          </a:p>
          <a:p>
            <a:pPr>
              <a:lnSpc>
                <a:spcPct val="100000"/>
              </a:lnSpc>
            </a:pPr>
            <a:r>
              <a:rPr lang="ru-RU" sz="2000" b="1"/>
              <a:t>Плюсы:</a:t>
            </a:r>
            <a:endParaRPr lang="ru-RU" sz="2000" b="1"/>
          </a:p>
          <a:p>
            <a:pPr lvl="1">
              <a:lnSpc>
                <a:spcPct val="100000"/>
              </a:lnSpc>
            </a:pPr>
            <a:r>
              <a:rPr lang="ru-RU" sz="2000"/>
              <a:t>максимальная совместимость</a:t>
            </a:r>
            <a:endParaRPr lang="ru-RU" sz="2000"/>
          </a:p>
          <a:p>
            <a:pPr lvl="1">
              <a:lnSpc>
                <a:spcPct val="100000"/>
              </a:lnSpc>
            </a:pPr>
            <a:r>
              <a:rPr lang="ru-RU" sz="2000"/>
              <a:t>огромная экосистема</a:t>
            </a:r>
            <a:endParaRPr lang="ru-RU" sz="2000"/>
          </a:p>
          <a:p>
            <a:pPr lvl="1">
              <a:lnSpc>
                <a:spcPct val="100000"/>
              </a:lnSpc>
            </a:pPr>
            <a:r>
              <a:rPr lang="ru-RU" sz="2000"/>
              <a:t>стабильность</a:t>
            </a:r>
            <a:endParaRPr lang="ru-RU" sz="2000"/>
          </a:p>
          <a:p>
            <a:pPr>
              <a:lnSpc>
                <a:spcPct val="100000"/>
              </a:lnSpc>
            </a:pPr>
            <a:r>
              <a:rPr lang="ru-RU" sz="2000" b="1"/>
              <a:t>Минусы:</a:t>
            </a:r>
            <a:endParaRPr lang="ru-RU" sz="2000" b="1"/>
          </a:p>
          <a:p>
            <a:pPr lvl="1">
              <a:lnSpc>
                <a:spcPct val="100000"/>
              </a:lnSpc>
            </a:pPr>
            <a:r>
              <a:rPr lang="ru-RU" sz="2000"/>
              <a:t>медленнее «чистый» код</a:t>
            </a:r>
            <a:endParaRPr lang="ru-RU" sz="2000"/>
          </a:p>
          <a:p>
            <a:pPr lvl="1">
              <a:lnSpc>
                <a:spcPct val="100000"/>
              </a:lnSpc>
            </a:pPr>
            <a:r>
              <a:rPr lang="ru-RU" sz="2000"/>
              <a:t>GIL — один поток одновременно</a:t>
            </a:r>
            <a:endParaRPr lang="ru-RU" sz="2000"/>
          </a:p>
          <a:p>
            <a:pPr>
              <a:lnSpc>
                <a:spcPct val="100000"/>
              </a:lnSpc>
            </a:pPr>
            <a:r>
              <a:rPr lang="ru-RU" sz="2000" b="1"/>
              <a:t>Выбор по умолчанию — изучаем на курсе</a:t>
            </a:r>
            <a:endParaRPr lang="ru-RU" sz="2000" b="1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  <p:pic>
        <p:nvPicPr>
          <p:cNvPr id="8" name="Изображение 7"/>
          <p:cNvPicPr/>
          <p:nvPr/>
        </p:nvPicPr>
        <p:blipFill>
          <a:blip r:embed="rId1"/>
        </p:blipFill>
        <p:spPr>
          <a:xfrm>
            <a:off x="7132955" y="1215390"/>
            <a:ext cx="4506595" cy="47040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PyPy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8330" y="1490345"/>
            <a:ext cx="6025515" cy="4759325"/>
          </a:xfrm>
        </p:spPr>
        <p:txBody>
          <a:bodyPr wrap="square"/>
          <a:lstStyle/>
          <a:p>
            <a:pPr>
              <a:lnSpc>
                <a:spcPct val="100000"/>
              </a:lnSpc>
            </a:pPr>
            <a:r>
              <a:rPr lang="ru-RU" sz="2000"/>
              <a:t>Написана на RPython</a:t>
            </a:r>
            <a:endParaRPr lang="ru-RU" sz="2000"/>
          </a:p>
          <a:p>
            <a:pPr>
              <a:lnSpc>
                <a:spcPct val="100000"/>
              </a:lnSpc>
            </a:pPr>
            <a:r>
              <a:rPr lang="ru-RU" sz="2000"/>
              <a:t>JIT: «горячий» код → машинный код</a:t>
            </a:r>
            <a:endParaRPr lang="ru-RU" sz="2000"/>
          </a:p>
          <a:p>
            <a:pPr>
              <a:lnSpc>
                <a:spcPct val="100000"/>
              </a:lnSpc>
            </a:pPr>
            <a:r>
              <a:rPr lang="ru-RU" sz="2000" b="1"/>
              <a:t>Плюсы:</a:t>
            </a:r>
            <a:endParaRPr lang="ru-RU" sz="2000" b="1"/>
          </a:p>
          <a:p>
            <a:pPr lvl="1">
              <a:lnSpc>
                <a:spcPct val="100000"/>
              </a:lnSpc>
            </a:pPr>
            <a:r>
              <a:rPr lang="ru-RU" sz="2000"/>
              <a:t>ускорение на долгих вычислениях</a:t>
            </a:r>
            <a:endParaRPr lang="ru-RU" sz="2000"/>
          </a:p>
          <a:p>
            <a:pPr>
              <a:lnSpc>
                <a:spcPct val="100000"/>
              </a:lnSpc>
            </a:pPr>
            <a:r>
              <a:rPr lang="ru-RU" sz="2000" b="1"/>
              <a:t>Минусы:</a:t>
            </a:r>
            <a:endParaRPr lang="ru-RU" sz="2000" b="1"/>
          </a:p>
          <a:p>
            <a:pPr lvl="1">
              <a:lnSpc>
                <a:spcPct val="100000"/>
              </a:lnSpc>
            </a:pPr>
            <a:r>
              <a:rPr lang="ru-RU" sz="2000"/>
              <a:t>медленный «прогрев»</a:t>
            </a:r>
            <a:endParaRPr lang="ru-RU" sz="2000"/>
          </a:p>
          <a:p>
            <a:pPr lvl="1">
              <a:lnSpc>
                <a:spcPct val="100000"/>
              </a:lnSpc>
            </a:pPr>
            <a:r>
              <a:rPr lang="ru-RU" sz="2000"/>
              <a:t>слабая поддержка C-расширений</a:t>
            </a:r>
            <a:endParaRPr lang="ru-RU" sz="2000"/>
          </a:p>
          <a:p>
            <a:pPr>
              <a:lnSpc>
                <a:spcPct val="100000"/>
              </a:lnSpc>
            </a:pPr>
            <a:r>
              <a:rPr lang="ru-RU" sz="2000" b="1"/>
              <a:t>Когда: долгие вычисления, важна скорость</a:t>
            </a:r>
            <a:endParaRPr lang="ru-RU" sz="2000" b="1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  <p:pic>
        <p:nvPicPr>
          <p:cNvPr id="17" name="Изображение 16"/>
          <p:cNvPicPr/>
          <p:nvPr/>
        </p:nvPicPr>
        <p:blipFill>
          <a:blip r:embed="rId1"/>
        </p:blipFill>
        <p:spPr>
          <a:xfrm>
            <a:off x="6805930" y="2908935"/>
            <a:ext cx="3905250" cy="13760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Jython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330" y="1755140"/>
            <a:ext cx="5357495" cy="3676015"/>
          </a:xfrm>
        </p:spPr>
        <p:txBody>
          <a:bodyPr wrap="square"/>
          <a:lstStyle/>
          <a:p>
            <a:pPr>
              <a:lnSpc>
                <a:spcPct val="100000"/>
              </a:lnSpc>
            </a:pPr>
            <a:r>
              <a:rPr lang="ru-RU" sz="2000" b="1"/>
              <a:t>Jython — Python на JVM</a:t>
            </a:r>
            <a:endParaRPr lang="ru-RU" sz="2000" b="1"/>
          </a:p>
          <a:p>
            <a:pPr>
              <a:lnSpc>
                <a:spcPct val="100000"/>
              </a:lnSpc>
            </a:pPr>
            <a:r>
              <a:rPr lang="ru-RU" sz="2000"/>
              <a:t>Байт-код Java</a:t>
            </a:r>
            <a:endParaRPr lang="ru-RU" sz="2000"/>
          </a:p>
          <a:p>
            <a:pPr>
              <a:lnSpc>
                <a:spcPct val="100000"/>
              </a:lnSpc>
            </a:pPr>
            <a:r>
              <a:rPr lang="ru-RU" sz="2000" b="1"/>
              <a:t>Плюсы:</a:t>
            </a:r>
            <a:endParaRPr lang="ru-RU" sz="2000" b="1"/>
          </a:p>
          <a:p>
            <a:pPr lvl="1">
              <a:lnSpc>
                <a:spcPct val="100000"/>
              </a:lnSpc>
            </a:pPr>
            <a:r>
              <a:rPr lang="ru-RU" sz="2000"/>
              <a:t>доступ к Java-библиотекам</a:t>
            </a:r>
            <a:endParaRPr lang="ru-RU" sz="2000"/>
          </a:p>
          <a:p>
            <a:pPr lvl="1">
              <a:lnSpc>
                <a:spcPct val="100000"/>
              </a:lnSpc>
            </a:pPr>
            <a:r>
              <a:rPr lang="ru-RU" sz="2000"/>
              <a:t>нет GIL</a:t>
            </a:r>
            <a:endParaRPr lang="ru-RU" sz="2000"/>
          </a:p>
          <a:p>
            <a:pPr>
              <a:lnSpc>
                <a:spcPct val="100000"/>
              </a:lnSpc>
            </a:pPr>
            <a:r>
              <a:rPr lang="ru-RU" sz="2000" b="1"/>
              <a:t>Минусы:</a:t>
            </a:r>
            <a:endParaRPr lang="ru-RU" sz="2000" b="1"/>
          </a:p>
          <a:p>
            <a:pPr lvl="1">
              <a:lnSpc>
                <a:spcPct val="100000"/>
              </a:lnSpc>
            </a:pPr>
            <a:r>
              <a:rPr lang="ru-RU" sz="2000"/>
              <a:t>развитие отстаёт</a:t>
            </a:r>
            <a:endParaRPr lang="ru-RU" sz="2000"/>
          </a:p>
          <a:p>
            <a:pPr lvl="1">
              <a:lnSpc>
                <a:spcPct val="100000"/>
              </a:lnSpc>
            </a:pPr>
            <a:r>
              <a:rPr lang="ru-RU" sz="2000"/>
              <a:t>нет C-расширений</a:t>
            </a:r>
            <a:endParaRPr lang="ru-RU" sz="2000"/>
          </a:p>
        </p:txBody>
      </p:sp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  <p:pic>
        <p:nvPicPr>
          <p:cNvPr id="7" name="Изображение 6"/>
          <p:cNvPicPr/>
          <p:nvPr/>
        </p:nvPicPr>
        <p:blipFill>
          <a:blip r:embed="rId1"/>
        </p:blipFill>
        <p:spPr>
          <a:xfrm>
            <a:off x="7184390" y="2225040"/>
            <a:ext cx="3202940" cy="21672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IronPython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8330" y="1501140"/>
            <a:ext cx="5176520" cy="3629025"/>
          </a:xfrm>
        </p:spPr>
        <p:txBody>
          <a:bodyPr wrap="square"/>
          <a:lstStyle/>
          <a:p>
            <a:pPr>
              <a:lnSpc>
                <a:spcPct val="100000"/>
              </a:lnSpc>
            </a:pPr>
            <a:r>
              <a:rPr lang="ru-RU" sz="2000" b="1"/>
              <a:t>IronPython — Python на .NET</a:t>
            </a:r>
            <a:endParaRPr lang="ru-RU" sz="2000" b="1"/>
          </a:p>
          <a:p>
            <a:pPr>
              <a:lnSpc>
                <a:spcPct val="100000"/>
              </a:lnSpc>
            </a:pPr>
            <a:r>
              <a:rPr lang="ru-RU" sz="2000"/>
              <a:t>Байт-код CLR</a:t>
            </a:r>
            <a:endParaRPr lang="ru-RU" sz="2000"/>
          </a:p>
          <a:p>
            <a:pPr>
              <a:lnSpc>
                <a:spcPct val="100000"/>
              </a:lnSpc>
            </a:pPr>
            <a:r>
              <a:rPr lang="ru-RU" sz="2000" b="1"/>
              <a:t>Плюсы:</a:t>
            </a:r>
            <a:endParaRPr lang="ru-RU" sz="2000" b="1"/>
          </a:p>
          <a:p>
            <a:pPr lvl="1">
              <a:lnSpc>
                <a:spcPct val="100000"/>
              </a:lnSpc>
            </a:pPr>
            <a:r>
              <a:rPr lang="ru-RU" sz="2000"/>
              <a:t>доступ к .NET и C#</a:t>
            </a:r>
            <a:endParaRPr lang="ru-RU" sz="2000"/>
          </a:p>
          <a:p>
            <a:pPr lvl="1">
              <a:lnSpc>
                <a:spcPct val="100000"/>
              </a:lnSpc>
            </a:pPr>
            <a:r>
              <a:rPr lang="ru-RU" sz="2000"/>
              <a:t>нет GIL</a:t>
            </a:r>
            <a:endParaRPr lang="ru-RU" sz="2000"/>
          </a:p>
          <a:p>
            <a:pPr>
              <a:lnSpc>
                <a:spcPct val="100000"/>
              </a:lnSpc>
            </a:pPr>
            <a:r>
              <a:rPr lang="ru-RU" sz="2000" b="1"/>
              <a:t>Минусы:</a:t>
            </a:r>
            <a:endParaRPr lang="ru-RU" sz="2000" b="1"/>
          </a:p>
          <a:p>
            <a:pPr lvl="1">
              <a:lnSpc>
                <a:spcPct val="100000"/>
              </a:lnSpc>
            </a:pPr>
            <a:r>
              <a:rPr lang="ru-RU" sz="2000"/>
              <a:t>версии — с задержкой</a:t>
            </a:r>
            <a:endParaRPr lang="ru-RU" sz="2000"/>
          </a:p>
          <a:p>
            <a:pPr lvl="1">
              <a:lnSpc>
                <a:spcPct val="100000"/>
              </a:lnSpc>
            </a:pPr>
            <a:r>
              <a:rPr lang="ru-RU" sz="2000"/>
              <a:t>слабая поддержка C-расширений</a:t>
            </a:r>
            <a:endParaRPr lang="ru-RU" sz="2000"/>
          </a:p>
        </p:txBody>
      </p:sp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  <p:pic>
        <p:nvPicPr>
          <p:cNvPr id="15" name="Изображение 14"/>
          <p:cNvPicPr/>
          <p:nvPr/>
        </p:nvPicPr>
        <p:blipFill>
          <a:blip r:embed="rId1"/>
        </p:blipFill>
        <p:spPr>
          <a:xfrm>
            <a:off x="6995160" y="2136140"/>
            <a:ext cx="3479165" cy="24212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4" grpI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8330" y="1490345"/>
            <a:ext cx="9552305" cy="4759325"/>
          </a:xfrm>
        </p:spPr>
        <p:txBody>
          <a:bodyPr wrap="square"/>
          <a:lstStyle/>
          <a:p>
            <a:r>
              <a:rPr lang="ru-RU" sz="2800"/>
              <a:t>Одна спецификация, много реализаций</a:t>
            </a:r>
            <a:endParaRPr lang="ru-RU" sz="2800"/>
          </a:p>
          <a:p>
            <a:r>
              <a:rPr lang="ru-RU" sz="2800"/>
              <a:t>CPython — стандарт по умолчанию</a:t>
            </a:r>
            <a:endParaRPr lang="ru-RU" sz="2800"/>
          </a:p>
          <a:p>
            <a:r>
              <a:rPr lang="ru-RU" sz="2800"/>
              <a:t>PyPy — скорость; Jython / IronPython — интеграция с JVM и .NET</a:t>
            </a:r>
            <a:endParaRPr lang="ru-RU" sz="2800"/>
          </a:p>
          <a:p>
            <a:r>
              <a:rPr lang="ru-RU" sz="2800" b="1"/>
              <a:t>Альтернатива — только если нужно её преимущество</a:t>
            </a:r>
            <a:endParaRPr lang="ru-RU" sz="2800" b="1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Заголовок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ru-RU"/>
              <a:t>Зачем учить </a:t>
            </a:r>
            <a:r>
              <a:rPr lang="en-US"/>
              <a:t>Python?</a:t>
            </a:r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Где применяют Python сегодня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8330" y="1454150"/>
          <a:ext cx="10968990" cy="490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00000"/>
                <a:gridCol w="4200000"/>
                <a:gridCol w="3568990"/>
              </a:tblGrid>
              <a:tr h="544444">
                <a:tc>
                  <a:txBody>
                    <a:bodyPr/>
                    <a:lstStyle/>
                    <a:p>
                      <a:r>
                        <a:rPr lang="ru-RU" sz="1400" b="1">
                          <a:solidFill>
                            <a:schemeClr val="bg1"/>
                          </a:solidFill>
                        </a:rPr>
                        <a:t>Сфера</a:t>
                      </a:r>
                      <a:endParaRPr lang="ru-RU" sz="1400" b="1">
                        <a:solidFill>
                          <a:schemeClr val="bg1"/>
                        </a:solidFill>
                      </a:endParaRPr>
                    </a:p>
                  </a:txBody>
                  <a:tcPr marT="27432" marB="27432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>
                          <a:solidFill>
                            <a:schemeClr val="bg1"/>
                          </a:solidFill>
                        </a:rPr>
                        <a:t>Что делают</a:t>
                      </a:r>
                      <a:endParaRPr lang="ru-RU" sz="1400" b="1">
                        <a:solidFill>
                          <a:schemeClr val="bg1"/>
                        </a:solidFill>
                      </a:endParaRPr>
                    </a:p>
                  </a:txBody>
                  <a:tcPr marT="27432" marB="27432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>
                          <a:solidFill>
                            <a:schemeClr val="bg1"/>
                          </a:solidFill>
                        </a:rPr>
                        <a:t>Инструменты</a:t>
                      </a:r>
                      <a:endParaRPr lang="ru-RU" sz="1400" b="1">
                        <a:solidFill>
                          <a:schemeClr val="bg1"/>
                        </a:solidFill>
                      </a:endParaRPr>
                    </a:p>
                  </a:txBody>
                  <a:tcPr marT="27432" marB="27432" anchor="ctr">
                    <a:solidFill>
                      <a:schemeClr val="accent1"/>
                    </a:solidFill>
                  </a:tcPr>
                </a:tc>
              </a:tr>
              <a:tr h="544444"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Data Science</a:t>
                      </a:r>
                      <a:endParaRPr lang="ru-RU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анализ данных, дашборды</a:t>
                      </a:r>
                      <a:endParaRPr lang="ru-RU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pandas, NumPy, Polars</a:t>
                      </a:r>
                      <a:endParaRPr lang="ru-RU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544444"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ML и ИИ</a:t>
                      </a:r>
                      <a:endParaRPr lang="ru-RU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T="27432" marB="27432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модели, работа с LLM</a:t>
                      </a:r>
                      <a:endParaRPr lang="ru-RU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T="27432" marB="27432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PyTorch, scikit-learn, HF</a:t>
                      </a:r>
                      <a:endParaRPr lang="ru-RU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T="27432" marB="27432" anchor="ctr">
                    <a:solidFill>
                      <a:srgbClr val="F2F6FB"/>
                    </a:solidFill>
                  </a:tcPr>
                </a:tc>
              </a:tr>
              <a:tr h="544444"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Веб-бэкенд</a:t>
                      </a:r>
                      <a:endParaRPr lang="ru-RU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серверы, API</a:t>
                      </a:r>
                      <a:endParaRPr lang="ru-RU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Django, FastAPI, Flask</a:t>
                      </a:r>
                      <a:endParaRPr lang="ru-RU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544444"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Автоматизация</a:t>
                      </a:r>
                      <a:endParaRPr lang="ru-RU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T="27432" marB="27432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файлы, парсинг сайтов</a:t>
                      </a:r>
                      <a:endParaRPr lang="ru-RU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T="27432" marB="27432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requests, BeautifulSoup</a:t>
                      </a:r>
                      <a:endParaRPr lang="ru-RU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T="27432" marB="27432" anchor="ctr">
                    <a:solidFill>
                      <a:srgbClr val="F2F6FB"/>
                    </a:solidFill>
                  </a:tcPr>
                </a:tc>
              </a:tr>
              <a:tr h="544444"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DevOps</a:t>
                      </a:r>
                      <a:endParaRPr lang="ru-RU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CI/CD, облака</a:t>
                      </a:r>
                      <a:endParaRPr lang="ru-RU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Ansible, boto3</a:t>
                      </a:r>
                      <a:endParaRPr lang="ru-RU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544444"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Тестирование</a:t>
                      </a:r>
                      <a:endParaRPr lang="ru-RU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T="27432" marB="27432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автотесты</a:t>
                      </a:r>
                      <a:endParaRPr lang="ru-RU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T="27432" marB="27432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pytest, Selenium</a:t>
                      </a:r>
                      <a:endParaRPr lang="ru-RU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T="27432" marB="27432" anchor="ctr">
                    <a:solidFill>
                      <a:srgbClr val="F2F6FB"/>
                    </a:solidFill>
                  </a:tcPr>
                </a:tc>
              </a:tr>
              <a:tr h="544444"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Научные вычисления</a:t>
                      </a:r>
                      <a:endParaRPr lang="ru-RU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физика, биоинформатика</a:t>
                      </a:r>
                      <a:endParaRPr lang="ru-RU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SciPy, SymPy</a:t>
                      </a:r>
                      <a:endParaRPr lang="ru-RU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544448"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Боты</a:t>
                      </a:r>
                      <a:endParaRPr lang="ru-RU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T="27432" marB="27432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Telegram, чат-боты</a:t>
                      </a:r>
                      <a:endParaRPr lang="ru-RU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T="27432" marB="27432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aiogram</a:t>
                      </a:r>
                      <a:endParaRPr lang="ru-RU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T="27432" marB="27432" anchor="ctr"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— язык 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8330" y="1454150"/>
            <a:ext cx="4700000" cy="4700000"/>
          </a:xfrm>
        </p:spPr>
        <p:txBody>
          <a:bodyPr wrap="square"/>
          <a:lstStyle/>
          <a:p>
            <a:r>
              <a:rPr lang="ru-RU" sz="1900"/>
              <a:t>TensorFlow, PyTorch, scikit-learn — на Python</a:t>
            </a:r>
            <a:endParaRPr lang="ru-RU" sz="1900"/>
          </a:p>
          <a:p>
            <a:r>
              <a:rPr lang="ru-RU" sz="1900"/>
              <a:t>GitHub Octoverse 2025: лидер в ИИ и данных</a:t>
            </a:r>
            <a:endParaRPr lang="ru-RU" sz="1900"/>
          </a:p>
          <a:p>
            <a:r>
              <a:rPr lang="ru-RU" sz="1900" b="1"/>
              <a:t>Язык, который хотят изучить следующим</a:t>
            </a:r>
            <a:endParaRPr lang="ru-RU" sz="1900" b="1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600000" y="1600000"/>
          <a:ext cx="5900000" cy="44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00065" y="5948045"/>
            <a:ext cx="5899785" cy="3168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Arial Black" panose="020B0A04020102020204"/>
              </a:rPr>
              <a:t>Доля разработчиков, использующих Python (Stack Overflow)</a:t>
            </a:r>
            <a:endParaRPr sz="1200" b="0">
              <a:solidFill>
                <a:srgbClr val="595959"/>
              </a:solidFill>
              <a:latin typeface="Arial Black" panose="020B0A04020102020204"/>
            </a:endParaRPr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Зарплаты по грейдам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925185"/>
            <a:ext cx="7994015" cy="3543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300" b="0">
                <a:solidFill>
                  <a:srgbClr val="595959"/>
                </a:solidFill>
                <a:latin typeface="Arial Black" panose="020B0A04020102020204"/>
              </a:rPr>
              <a:t>hh.ru Карьера, 2025 · медиана по Хабр Карьере — 234–243 тыс ₽</a:t>
            </a:r>
            <a:endParaRPr sz="1300" b="0">
              <a:solidFill>
                <a:srgbClr val="595959"/>
              </a:solidFill>
              <a:latin typeface="Arial Black" panose="020B0A04020102020204"/>
            </a:endParaRPr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400000" y="1300000"/>
          <a:ext cx="9400000" cy="4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Спрос на специалистов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8330" y="1490345"/>
            <a:ext cx="10612120" cy="4759325"/>
          </a:xfrm>
        </p:spPr>
        <p:txBody>
          <a:bodyPr wrap="square"/>
          <a:lstStyle/>
          <a:p>
            <a:r>
              <a:rPr lang="ru-RU" sz="3200"/>
              <a:t>Топ по вакансиям на hh.ru — наравне с Java, JS</a:t>
            </a:r>
            <a:endParaRPr lang="ru-RU" sz="3200"/>
          </a:p>
          <a:p>
            <a:r>
              <a:rPr lang="ru-RU" sz="3200"/>
              <a:t>Растёт спрос: Python + ML + Data Engineering</a:t>
            </a:r>
            <a:endParaRPr lang="ru-RU" sz="3200"/>
          </a:p>
          <a:p>
            <a:r>
              <a:rPr lang="ru-RU" sz="3200" b="1"/>
              <a:t>Спрос и зарплаты растут вместе с ИИ-агентами</a:t>
            </a:r>
            <a:endParaRPr lang="ru-RU" sz="3200" b="1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Учить язык или довериться ИИ?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8330" y="1490345"/>
            <a:ext cx="9013825" cy="4759325"/>
          </a:xfrm>
        </p:spPr>
        <p:txBody>
          <a:bodyPr wrap="square"/>
          <a:lstStyle/>
          <a:p>
            <a:r>
              <a:rPr lang="ru-RU" sz="3200" b="1"/>
              <a:t>ИИ хорошо умеет:</a:t>
            </a:r>
            <a:endParaRPr lang="ru-RU" sz="3200" b="1"/>
          </a:p>
          <a:p>
            <a:pPr lvl="1"/>
            <a:r>
              <a:rPr lang="ru-RU" sz="3200"/>
              <a:t>типовой код быстрее человека</a:t>
            </a:r>
            <a:endParaRPr lang="ru-RU" sz="3200"/>
          </a:p>
          <a:p>
            <a:pPr lvl="1"/>
            <a:r>
              <a:rPr lang="ru-RU" sz="3200"/>
              <a:t>объяснять и искать ошибки</a:t>
            </a:r>
            <a:endParaRPr lang="ru-RU" sz="3200"/>
          </a:p>
          <a:p>
            <a:r>
              <a:rPr lang="ru-RU" sz="3200" b="1"/>
              <a:t>Реальное ускорение работы. Но...</a:t>
            </a:r>
            <a:endParaRPr lang="ru-RU" sz="3200" b="1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/>
              <a:t>Зачем знать язык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8330" y="1490345"/>
            <a:ext cx="10271760" cy="4759325"/>
          </a:xfrm>
        </p:spPr>
        <p:txBody>
          <a:bodyPr wrap="square"/>
          <a:lstStyle/>
          <a:p>
            <a:r>
              <a:rPr lang="ru-RU" sz="3200"/>
              <a:t> Кто-то должен проверять результат</a:t>
            </a:r>
            <a:endParaRPr lang="ru-RU" sz="3200"/>
          </a:p>
          <a:p>
            <a:r>
              <a:rPr lang="ru-RU" sz="3200"/>
              <a:t> Задачу нужно уметь поставить</a:t>
            </a:r>
            <a:endParaRPr lang="ru-RU" sz="3200"/>
          </a:p>
          <a:p>
            <a:r>
              <a:rPr lang="ru-RU" sz="3200"/>
              <a:t> Отладка чужого кода — не «с нуля»</a:t>
            </a:r>
            <a:endParaRPr lang="ru-RU" sz="3200"/>
          </a:p>
          <a:p>
            <a:r>
              <a:rPr lang="ru-RU" sz="3200"/>
              <a:t> Ответственность — на разработчике</a:t>
            </a:r>
            <a:endParaRPr lang="ru-RU" sz="3200"/>
          </a:p>
          <a:p>
            <a:r>
              <a:rPr lang="ru-RU" sz="3200"/>
              <a:t> Рынок это подтверждает</a:t>
            </a:r>
            <a:endParaRPr lang="ru-RU" sz="320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Как относиться к ИИ на курсе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05" y="1826895"/>
            <a:ext cx="10968990" cy="2101850"/>
          </a:xfrm>
        </p:spPr>
        <p:txBody>
          <a:bodyPr wrap="square"/>
          <a:lstStyle/>
          <a:p>
            <a:r>
              <a:rPr lang="ru-RU" sz="3600" b="1"/>
              <a:t>На старте — код самому</a:t>
            </a:r>
            <a:endParaRPr lang="ru-RU" sz="3600" b="1"/>
          </a:p>
          <a:p>
            <a:r>
              <a:rPr lang="ru-RU" sz="3600" b="1"/>
              <a:t>Дальше — ИИ как ускоритель</a:t>
            </a:r>
            <a:endParaRPr lang="ru-RU" sz="3600" b="1"/>
          </a:p>
          <a:p>
            <a:pPr marL="0" indent="0">
              <a:buNone/>
            </a:pPr>
            <a:endParaRPr lang="ru-RU" sz="3600" b="1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ru-RU"/>
              <a:t>Спасибо за внимание!</a:t>
            </a:r>
            <a:endParaRPr lang="ru-RU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python-dep">
      <a:dk1>
        <a:srgbClr val="000000"/>
      </a:dk1>
      <a:lt1>
        <a:srgbClr val="FFFFFF"/>
      </a:lt1>
      <a:dk2>
        <a:srgbClr val="AFABAB"/>
      </a:dk2>
      <a:lt2>
        <a:srgbClr val="E7E6E6"/>
      </a:lt2>
      <a:accent1>
        <a:srgbClr val="0070C0"/>
      </a:accent1>
      <a:accent2>
        <a:srgbClr val="00B0F0"/>
      </a:accent2>
      <a:accent3>
        <a:srgbClr val="C09D29"/>
      </a:accent3>
      <a:accent4>
        <a:srgbClr val="7CB683"/>
      </a:accent4>
      <a:accent5>
        <a:srgbClr val="A05900"/>
      </a:accent5>
      <a:accent6>
        <a:srgbClr val="7030A0"/>
      </a:accent6>
      <a:hlink>
        <a:srgbClr val="0070C0"/>
      </a:hlink>
      <a:folHlink>
        <a:srgbClr val="7030A0"/>
      </a:folHlink>
    </a:clrScheme>
    <a:fontScheme name="python-department">
      <a:majorFont>
        <a:latin typeface="Arial Black"/>
        <a:ea typeface="Arial"/>
        <a:cs typeface=""/>
      </a:majorFont>
      <a:minorFont>
        <a:latin typeface="Arial Black"/>
        <a:ea typeface="Ari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5913</Words>
  <Application>WPS Presentation</Application>
  <PresentationFormat>Широкоэкранный</PresentationFormat>
  <Paragraphs>507</Paragraphs>
  <Slides>44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6" baseType="lpstr">
      <vt:lpstr>Arial</vt:lpstr>
      <vt:lpstr>SimSun</vt:lpstr>
      <vt:lpstr>Wingdings</vt:lpstr>
      <vt:lpstr>Wingdings</vt:lpstr>
      <vt:lpstr>Consolas</vt:lpstr>
      <vt:lpstr>Consolas</vt:lpstr>
      <vt:lpstr>Arial Black</vt:lpstr>
      <vt:lpstr>Microsoft YaHei</vt:lpstr>
      <vt:lpstr>Arial Unicode MS</vt:lpstr>
      <vt:lpstr>Calibri</vt:lpstr>
      <vt:lpstr>Arial Black</vt:lpstr>
      <vt:lpstr>WPS</vt:lpstr>
      <vt:lpstr>Введение в Python</vt:lpstr>
      <vt:lpstr>Что такое Python?</vt:lpstr>
      <vt:lpstr>Определение</vt:lpstr>
      <vt:lpstr>Определение</vt:lpstr>
      <vt:lpstr>Парадигмы программирования</vt:lpstr>
      <vt:lpstr>Императивный Python</vt:lpstr>
      <vt:lpstr>ООП Python</vt:lpstr>
      <vt:lpstr>Декларативный Python</vt:lpstr>
      <vt:lpstr>Определение</vt:lpstr>
      <vt:lpstr>Люди и компьютеры</vt:lpstr>
      <vt:lpstr>Виртуальные машины</vt:lpstr>
      <vt:lpstr>Уровни абстракции</vt:lpstr>
      <vt:lpstr>Пример различий</vt:lpstr>
      <vt:lpstr>Высокоуровневость Python</vt:lpstr>
      <vt:lpstr>Определение</vt:lpstr>
      <vt:lpstr>Язык общего назначения</vt:lpstr>
      <vt:lpstr>Определение</vt:lpstr>
      <vt:lpstr>Статическая типизация</vt:lpstr>
      <vt:lpstr>Статическая типизация</vt:lpstr>
      <vt:lpstr>Определение</vt:lpstr>
      <vt:lpstr>Строгая и нестрогая типизация</vt:lpstr>
      <vt:lpstr>Градиенты типизации</vt:lpstr>
      <vt:lpstr>Определение</vt:lpstr>
      <vt:lpstr>Ручное управление памятью</vt:lpstr>
      <vt:lpstr>Утечки памяти</vt:lpstr>
      <vt:lpstr>Подсчёт ссылок</vt:lpstr>
      <vt:lpstr>Подсчёт ссылок</vt:lpstr>
      <vt:lpstr>Сборщик мусора для циклов</vt:lpstr>
      <vt:lpstr>Итог</vt:lpstr>
      <vt:lpstr>Реализации Python</vt:lpstr>
      <vt:lpstr>CPython</vt:lpstr>
      <vt:lpstr>PyPy</vt:lpstr>
      <vt:lpstr>Jython</vt:lpstr>
      <vt:lpstr>IronPython</vt:lpstr>
      <vt:lpstr>Вывод</vt:lpstr>
      <vt:lpstr>Зачем учить Python?</vt:lpstr>
      <vt:lpstr>Где применяют Python сегодня</vt:lpstr>
      <vt:lpstr>Python — язык ИИ</vt:lpstr>
      <vt:lpstr>Зарплаты по грейдам</vt:lpstr>
      <vt:lpstr>Спрос на специалистов</vt:lpstr>
      <vt:lpstr>Учить язык или довериться ИИ?</vt:lpstr>
      <vt:lpstr>Зачем знать язык</vt:lpstr>
      <vt:lpstr>Как относиться к ИИ на курсе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Пустая презентация</dc:title>
  <dc:creator>Michail</dc:creator>
  <cp:lastModifiedBy>Michail</cp:lastModifiedBy>
  <cp:revision>141</cp:revision>
  <dcterms:created xsi:type="dcterms:W3CDTF">2026-09-01T18:40:00Z</dcterms:created>
  <dcterms:modified xsi:type="dcterms:W3CDTF">2026-09-07T08:30:05Z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1049-12.1.0.28485</vt:lpwstr>
  </property>
  <property fmtid="{D5CDD505-2E9C-101B-9397-08002B2CF9AE}" pid="3" name="ICV">
    <vt:lpwstr>3BB3359F712143D3A2563F2707420178_13</vt:lpwstr>
  </property>
</Properties>
</file>