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5"/>
  </p:notesMasterIdLst>
  <p:sldIdLst>
    <p:sldId id="306" r:id="rId3"/>
    <p:sldId id="330" r:id="rId4"/>
    <p:sldId id="294" r:id="rId6"/>
    <p:sldId id="333" r:id="rId7"/>
    <p:sldId id="334" r:id="rId8"/>
    <p:sldId id="335" r:id="rId9"/>
    <p:sldId id="336" r:id="rId10"/>
    <p:sldId id="337" r:id="rId11"/>
    <p:sldId id="339" r:id="rId12"/>
    <p:sldId id="338" r:id="rId13"/>
    <p:sldId id="340" r:id="rId14"/>
    <p:sldId id="381" r:id="rId15"/>
    <p:sldId id="382" r:id="rId16"/>
    <p:sldId id="385" r:id="rId17"/>
    <p:sldId id="344" r:id="rId18"/>
    <p:sldId id="383" r:id="rId19"/>
    <p:sldId id="384" r:id="rId20"/>
    <p:sldId id="331" r:id="rId21"/>
  </p:sldIdLst>
  <p:sldSz cx="24742775" cy="13716000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CCCB284-FAD9-4ACF-BBE5-987686199942}">
          <p14:sldIdLst>
            <p14:sldId id="306"/>
            <p14:sldId id="330"/>
            <p14:sldId id="294"/>
            <p14:sldId id="333"/>
            <p14:sldId id="334"/>
            <p14:sldId id="335"/>
            <p14:sldId id="336"/>
            <p14:sldId id="337"/>
            <p14:sldId id="339"/>
            <p14:sldId id="338"/>
            <p14:sldId id="340"/>
            <p14:sldId id="381"/>
            <p14:sldId id="382"/>
            <p14:sldId id="385"/>
            <p14:sldId id="344"/>
            <p14:sldId id="383"/>
            <p14:sldId id="384"/>
            <p14:sldId id="331"/>
          </p14:sldIdLst>
        </p14:section>
        <p14:section name="Раздел без заголовка" id="{F03BB59A-273A-4306-BA96-E51F876B3C4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555" userDrawn="1">
          <p15:clr>
            <a:srgbClr val="A4A3A4"/>
          </p15:clr>
        </p15:guide>
        <p15:guide id="2" pos="7928" userDrawn="1">
          <p15:clr>
            <a:srgbClr val="A4A3A4"/>
          </p15:clr>
        </p15:guide>
        <p15:guide id="4" pos="10344" userDrawn="1">
          <p15:clr>
            <a:srgbClr val="A4A3A4"/>
          </p15:clr>
        </p15:guide>
        <p15:guide id="5" pos="5475" userDrawn="1">
          <p15:clr>
            <a:srgbClr val="A4A3A4"/>
          </p15:clr>
        </p15:guide>
        <p15:guide id="7" pos="626" userDrawn="1">
          <p15:clr>
            <a:srgbClr val="A4A3A4"/>
          </p15:clr>
        </p15:guide>
        <p15:guide id="8" pos="14909" userDrawn="1">
          <p15:clr>
            <a:srgbClr val="A4A3A4"/>
          </p15:clr>
        </p15:guide>
        <p15:guide id="12" orient="horz" pos="8058" userDrawn="1">
          <p15:clr>
            <a:srgbClr val="A4A3A4"/>
          </p15:clr>
        </p15:guide>
        <p15:guide id="13" orient="horz" pos="1873" userDrawn="1">
          <p15:clr>
            <a:srgbClr val="A4A3A4"/>
          </p15:clr>
        </p15:guide>
        <p15:guide id="14" pos="11346" userDrawn="1">
          <p15:clr>
            <a:srgbClr val="A4A3A4"/>
          </p15:clr>
        </p15:guide>
        <p15:guide id="15" pos="4266" userDrawn="1">
          <p15:clr>
            <a:srgbClr val="A4A3A4"/>
          </p15:clr>
        </p15:guide>
        <p15:guide id="16" orient="horz" pos="255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252"/>
    <a:srgbClr val="92C5EB"/>
    <a:srgbClr val="0072BC"/>
    <a:srgbClr val="3E3E3E"/>
    <a:srgbClr val="9B9692"/>
    <a:srgbClr val="9BFF77"/>
    <a:srgbClr val="D5E8F7"/>
    <a:srgbClr val="6EFF3B"/>
    <a:srgbClr val="CBE6F9"/>
    <a:srgbClr val="CDEC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3" autoAdjust="0"/>
    <p:restoredTop sz="96395" autoAdjust="0"/>
  </p:normalViewPr>
  <p:slideViewPr>
    <p:cSldViewPr showGuides="1">
      <p:cViewPr varScale="1">
        <p:scale>
          <a:sx n="58" d="100"/>
          <a:sy n="58" d="100"/>
        </p:scale>
        <p:origin x="408" y="108"/>
      </p:cViewPr>
      <p:guideLst>
        <p:guide orient="horz" pos="555"/>
        <p:guide pos="7928"/>
        <p:guide pos="10344"/>
        <p:guide pos="5475"/>
        <p:guide pos="626"/>
        <p:guide pos="14909"/>
        <p:guide orient="horz" pos="8058"/>
        <p:guide orient="horz" pos="1873"/>
        <p:guide pos="11346"/>
        <p:guide pos="4266"/>
        <p:guide orient="horz" pos="2551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-73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1pPr>
    <a:lvl2pPr marL="123063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2pPr>
    <a:lvl3pPr marL="246062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3pPr>
    <a:lvl4pPr marL="369125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4pPr>
    <a:lvl5pPr marL="492188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5pPr>
    <a:lvl6pPr marL="615251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6pPr>
    <a:lvl7pPr marL="738251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7pPr>
    <a:lvl8pPr marL="861314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8pPr>
    <a:lvl9pPr marL="984377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subTitle" idx="1"/>
          </p:nvPr>
        </p:nvSpPr>
        <p:spPr>
          <a:xfrm>
            <a:off x="843437" y="7768736"/>
            <a:ext cx="23055913" cy="312171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50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9pPr>
          </a:lstStyle>
          <a:p>
            <a:endParaRPr dirty="0"/>
          </a:p>
        </p:txBody>
      </p:sp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843456" y="2753544"/>
            <a:ext cx="23055913" cy="4464497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algn="ctr">
              <a:spcBef>
                <a:spcPts val="0"/>
              </a:spcBef>
              <a:buSzPct val="100000"/>
              <a:defRPr sz="130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spcBef>
                <a:spcPts val="0"/>
              </a:spcBef>
              <a:buSzPct val="100000"/>
              <a:defRPr sz="13865"/>
            </a:lvl2pPr>
            <a:lvl3pPr algn="ctr">
              <a:spcBef>
                <a:spcPts val="0"/>
              </a:spcBef>
              <a:buSzPct val="100000"/>
              <a:defRPr sz="13865"/>
            </a:lvl3pPr>
            <a:lvl4pPr algn="ctr">
              <a:spcBef>
                <a:spcPts val="0"/>
              </a:spcBef>
              <a:buSzPct val="100000"/>
              <a:defRPr sz="13865"/>
            </a:lvl4pPr>
            <a:lvl5pPr algn="ctr">
              <a:spcBef>
                <a:spcPts val="0"/>
              </a:spcBef>
              <a:buSzPct val="100000"/>
              <a:defRPr sz="13865"/>
            </a:lvl5pPr>
            <a:lvl6pPr algn="ctr">
              <a:spcBef>
                <a:spcPts val="0"/>
              </a:spcBef>
              <a:buSzPct val="100000"/>
              <a:defRPr sz="13865"/>
            </a:lvl6pPr>
            <a:lvl7pPr algn="ctr">
              <a:spcBef>
                <a:spcPts val="0"/>
              </a:spcBef>
              <a:buSzPct val="100000"/>
              <a:defRPr sz="13865"/>
            </a:lvl7pPr>
            <a:lvl8pPr algn="ctr">
              <a:spcBef>
                <a:spcPts val="0"/>
              </a:spcBef>
              <a:buSzPct val="100000"/>
              <a:defRPr sz="13865"/>
            </a:lvl8pPr>
            <a:lvl9pPr algn="ctr">
              <a:spcBef>
                <a:spcPts val="0"/>
              </a:spcBef>
              <a:buSzPct val="100000"/>
              <a:defRPr sz="13865"/>
            </a:lvl9pPr>
          </a:lstStyle>
          <a:p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r"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843437" y="5705872"/>
            <a:ext cx="23055913" cy="2244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SzPct val="100000"/>
              <a:defRPr sz="85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spcBef>
                <a:spcPts val="0"/>
              </a:spcBef>
              <a:buSzPct val="100000"/>
              <a:defRPr sz="9600"/>
            </a:lvl2pPr>
            <a:lvl3pPr algn="ctr">
              <a:spcBef>
                <a:spcPts val="0"/>
              </a:spcBef>
              <a:buSzPct val="100000"/>
              <a:defRPr sz="9600"/>
            </a:lvl3pPr>
            <a:lvl4pPr algn="ctr">
              <a:spcBef>
                <a:spcPts val="0"/>
              </a:spcBef>
              <a:buSzPct val="100000"/>
              <a:defRPr sz="9600"/>
            </a:lvl4pPr>
            <a:lvl5pPr algn="ctr">
              <a:spcBef>
                <a:spcPts val="0"/>
              </a:spcBef>
              <a:buSzPct val="100000"/>
              <a:defRPr sz="9600"/>
            </a:lvl5pPr>
            <a:lvl6pPr algn="ctr">
              <a:spcBef>
                <a:spcPts val="0"/>
              </a:spcBef>
              <a:buSzPct val="100000"/>
              <a:defRPr sz="9600"/>
            </a:lvl6pPr>
            <a:lvl7pPr algn="ctr">
              <a:spcBef>
                <a:spcPts val="0"/>
              </a:spcBef>
              <a:buSzPct val="100000"/>
              <a:defRPr sz="9600"/>
            </a:lvl7pPr>
            <a:lvl8pPr algn="ctr">
              <a:spcBef>
                <a:spcPts val="0"/>
              </a:spcBef>
              <a:buSzPct val="100000"/>
              <a:defRPr sz="9600"/>
            </a:lvl8pPr>
            <a:lvl9pPr algn="ctr">
              <a:spcBef>
                <a:spcPts val="0"/>
              </a:spcBef>
              <a:buSzPct val="100000"/>
              <a:defRPr sz="9600"/>
            </a:lvl9pPr>
          </a:lstStyle>
          <a:p>
            <a:endParaRPr dirty="0"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r"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79931" y="557213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0C0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8" name="Shape 17"/>
          <p:cNvSpPr txBox="1">
            <a:spLocks noGrp="1"/>
          </p:cNvSpPr>
          <p:nvPr>
            <p:ph type="body" idx="13"/>
          </p:nvPr>
        </p:nvSpPr>
        <p:spPr>
          <a:xfrm>
            <a:off x="857782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9" name="Shape 17"/>
          <p:cNvSpPr txBox="1">
            <a:spLocks noGrp="1"/>
          </p:cNvSpPr>
          <p:nvPr>
            <p:ph type="body" idx="14"/>
          </p:nvPr>
        </p:nvSpPr>
        <p:spPr>
          <a:xfrm>
            <a:off x="16224001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78661" y="560919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2469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10791982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5" name="Shape 17"/>
          <p:cNvSpPr txBox="1">
            <a:spLocks noGrp="1"/>
          </p:cNvSpPr>
          <p:nvPr>
            <p:ph type="body" idx="13"/>
          </p:nvPr>
        </p:nvSpPr>
        <p:spPr>
          <a:xfrm>
            <a:off x="12235755" y="3905250"/>
            <a:ext cx="10791982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2469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10791982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2469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3251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5" name="Shape 17"/>
          <p:cNvSpPr txBox="1">
            <a:spLocks noGrp="1"/>
          </p:cNvSpPr>
          <p:nvPr>
            <p:ph type="body" idx="13"/>
          </p:nvPr>
        </p:nvSpPr>
        <p:spPr>
          <a:xfrm>
            <a:off x="12257658" y="3905250"/>
            <a:ext cx="5320208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None/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0" name="Shape 17"/>
          <p:cNvSpPr txBox="1">
            <a:spLocks noGrp="1"/>
          </p:cNvSpPr>
          <p:nvPr>
            <p:ph type="body" idx="14"/>
          </p:nvPr>
        </p:nvSpPr>
        <p:spPr>
          <a:xfrm>
            <a:off x="6603504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1" name="Shape 17"/>
          <p:cNvSpPr txBox="1">
            <a:spLocks noGrp="1"/>
          </p:cNvSpPr>
          <p:nvPr>
            <p:ph type="body" idx="15"/>
          </p:nvPr>
        </p:nvSpPr>
        <p:spPr>
          <a:xfrm>
            <a:off x="17892761" y="3905250"/>
            <a:ext cx="5320208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None/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2"/>
          <p:cNvSpPr>
            <a:spLocks noGrp="1"/>
          </p:cNvSpPr>
          <p:nvPr>
            <p:ph type="pic" idx="13"/>
          </p:nvPr>
        </p:nvSpPr>
        <p:spPr>
          <a:xfrm>
            <a:off x="8690595" y="4081463"/>
            <a:ext cx="7244730" cy="57917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idx="15"/>
          </p:nvPr>
        </p:nvSpPr>
        <p:spPr>
          <a:xfrm>
            <a:off x="16352395" y="4081463"/>
            <a:ext cx="7244730" cy="57917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79931" y="557213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Shape 17"/>
          <p:cNvSpPr txBox="1">
            <a:spLocks noGrp="1"/>
          </p:cNvSpPr>
          <p:nvPr>
            <p:ph type="body" idx="14"/>
          </p:nvPr>
        </p:nvSpPr>
        <p:spPr>
          <a:xfrm>
            <a:off x="8580486" y="10029025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4" name="Shape 17"/>
          <p:cNvSpPr txBox="1">
            <a:spLocks noGrp="1"/>
          </p:cNvSpPr>
          <p:nvPr>
            <p:ph type="body" idx="16"/>
          </p:nvPr>
        </p:nvSpPr>
        <p:spPr>
          <a:xfrm>
            <a:off x="16242286" y="10029025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Рисунок 2"/>
          <p:cNvSpPr>
            <a:spLocks noGrp="1"/>
          </p:cNvSpPr>
          <p:nvPr>
            <p:ph type="pic" idx="19"/>
          </p:nvPr>
        </p:nvSpPr>
        <p:spPr>
          <a:xfrm>
            <a:off x="18017851" y="8226152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3" name="Рисунок 2"/>
          <p:cNvSpPr>
            <a:spLocks noGrp="1"/>
          </p:cNvSpPr>
          <p:nvPr>
            <p:ph type="pic" idx="20"/>
          </p:nvPr>
        </p:nvSpPr>
        <p:spPr>
          <a:xfrm>
            <a:off x="12371387" y="8226152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4" name="Рисунок 2"/>
          <p:cNvSpPr>
            <a:spLocks noGrp="1"/>
          </p:cNvSpPr>
          <p:nvPr>
            <p:ph type="pic" idx="21"/>
          </p:nvPr>
        </p:nvSpPr>
        <p:spPr>
          <a:xfrm>
            <a:off x="6720856" y="8226152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37" name="Рисунок 2"/>
          <p:cNvSpPr>
            <a:spLocks noGrp="1"/>
          </p:cNvSpPr>
          <p:nvPr>
            <p:ph type="pic" idx="17"/>
          </p:nvPr>
        </p:nvSpPr>
        <p:spPr>
          <a:xfrm>
            <a:off x="18017851" y="4090987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35" name="Рисунок 2"/>
          <p:cNvSpPr>
            <a:spLocks noGrp="1"/>
          </p:cNvSpPr>
          <p:nvPr>
            <p:ph type="pic" idx="15"/>
          </p:nvPr>
        </p:nvSpPr>
        <p:spPr>
          <a:xfrm>
            <a:off x="12371387" y="4090987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idx="13"/>
          </p:nvPr>
        </p:nvSpPr>
        <p:spPr>
          <a:xfrm>
            <a:off x="6720856" y="4090987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3251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20" name="Shape 17"/>
          <p:cNvSpPr txBox="1">
            <a:spLocks noGrp="1"/>
          </p:cNvSpPr>
          <p:nvPr>
            <p:ph type="body" idx="14"/>
          </p:nvPr>
        </p:nvSpPr>
        <p:spPr>
          <a:xfrm>
            <a:off x="6610747" y="7385298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36" name="Shape 17"/>
          <p:cNvSpPr txBox="1">
            <a:spLocks noGrp="1"/>
          </p:cNvSpPr>
          <p:nvPr>
            <p:ph type="body" idx="16"/>
          </p:nvPr>
        </p:nvSpPr>
        <p:spPr>
          <a:xfrm>
            <a:off x="12261278" y="7385298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38" name="Shape 17"/>
          <p:cNvSpPr txBox="1">
            <a:spLocks noGrp="1"/>
          </p:cNvSpPr>
          <p:nvPr>
            <p:ph type="body" idx="18"/>
          </p:nvPr>
        </p:nvSpPr>
        <p:spPr>
          <a:xfrm>
            <a:off x="17907742" y="7385298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5" name="Shape 17"/>
          <p:cNvSpPr txBox="1">
            <a:spLocks noGrp="1"/>
          </p:cNvSpPr>
          <p:nvPr>
            <p:ph type="body" idx="22"/>
          </p:nvPr>
        </p:nvSpPr>
        <p:spPr>
          <a:xfrm>
            <a:off x="6610747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6" name="Shape 17"/>
          <p:cNvSpPr txBox="1">
            <a:spLocks noGrp="1"/>
          </p:cNvSpPr>
          <p:nvPr>
            <p:ph type="body" idx="23"/>
          </p:nvPr>
        </p:nvSpPr>
        <p:spPr>
          <a:xfrm>
            <a:off x="12261278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7" name="Shape 17"/>
          <p:cNvSpPr txBox="1">
            <a:spLocks noGrp="1"/>
          </p:cNvSpPr>
          <p:nvPr>
            <p:ph type="body" idx="24"/>
          </p:nvPr>
        </p:nvSpPr>
        <p:spPr>
          <a:xfrm>
            <a:off x="17907742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Рисунок 2"/>
          <p:cNvSpPr>
            <a:spLocks noGrp="1"/>
          </p:cNvSpPr>
          <p:nvPr>
            <p:ph type="pic" idx="20"/>
          </p:nvPr>
        </p:nvSpPr>
        <p:spPr>
          <a:xfrm>
            <a:off x="12371387" y="4084320"/>
            <a:ext cx="5226744" cy="7280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4" name="Рисунок 2"/>
          <p:cNvSpPr>
            <a:spLocks noGrp="1"/>
          </p:cNvSpPr>
          <p:nvPr>
            <p:ph type="pic" idx="21"/>
          </p:nvPr>
        </p:nvSpPr>
        <p:spPr>
          <a:xfrm>
            <a:off x="6720856" y="4084320"/>
            <a:ext cx="5226744" cy="7280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2" name="Рисунок 2"/>
          <p:cNvSpPr>
            <a:spLocks noGrp="1"/>
          </p:cNvSpPr>
          <p:nvPr>
            <p:ph type="pic" idx="19"/>
          </p:nvPr>
        </p:nvSpPr>
        <p:spPr>
          <a:xfrm>
            <a:off x="18017851" y="4084320"/>
            <a:ext cx="5226744" cy="7280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3251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45" name="Shape 17"/>
          <p:cNvSpPr txBox="1">
            <a:spLocks noGrp="1"/>
          </p:cNvSpPr>
          <p:nvPr>
            <p:ph type="body" idx="22"/>
          </p:nvPr>
        </p:nvSpPr>
        <p:spPr>
          <a:xfrm>
            <a:off x="6610747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6" name="Shape 17"/>
          <p:cNvSpPr txBox="1">
            <a:spLocks noGrp="1"/>
          </p:cNvSpPr>
          <p:nvPr>
            <p:ph type="body" idx="23"/>
          </p:nvPr>
        </p:nvSpPr>
        <p:spPr>
          <a:xfrm>
            <a:off x="12261278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7" name="Shape 17"/>
          <p:cNvSpPr txBox="1">
            <a:spLocks noGrp="1"/>
          </p:cNvSpPr>
          <p:nvPr>
            <p:ph type="body" idx="24"/>
          </p:nvPr>
        </p:nvSpPr>
        <p:spPr>
          <a:xfrm>
            <a:off x="17907742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843437" y="1186742"/>
            <a:ext cx="23055913" cy="15271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843437" y="3073267"/>
            <a:ext cx="23055913" cy="9110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r"/>
            <a:fld id="{00000000-1234-1234-1234-123412341234}" type="slidenum">
              <a:rPr lang="en-US" sz="2665" smtClean="0">
                <a:solidFill>
                  <a:schemeClr val="dk2"/>
                </a:solidFill>
              </a:rPr>
            </a:fld>
            <a:endParaRPr lang="en-US" sz="2665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4000" b="0" u="none" strike="noStrike" kern="1200" cap="none" spc="300" normalizeH="0" baseline="0">
          <a:solidFill>
            <a:srgbClr val="0070C0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1.png"/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11722735" y="11754485"/>
            <a:ext cx="12978130" cy="1567815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Докладчик: Евграфов Михаил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4368800" y="5201920"/>
            <a:ext cx="16005175" cy="3062605"/>
          </a:xfrm>
        </p:spPr>
        <p:txBody>
          <a:bodyPr>
            <a:normAutofit/>
          </a:bodyPr>
          <a:lstStyle/>
          <a:p>
            <a:r>
              <a:rPr lang="ru-RU" altLang="ru-RU" dirty="0">
                <a:solidFill>
                  <a:schemeClr val="bg1"/>
                </a:solidFill>
              </a:rPr>
              <a:t>Введение в </a:t>
            </a:r>
            <a:r>
              <a:rPr lang="en-US" altLang="ru-RU" dirty="0">
                <a:solidFill>
                  <a:schemeClr val="bg1"/>
                </a:solidFill>
              </a:rPr>
              <a:t>Git</a:t>
            </a:r>
            <a:endParaRPr lang="en-US" altLang="ru-RU" dirty="0">
              <a:solidFill>
                <a:schemeClr val="bg1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8371" y="1025352"/>
            <a:ext cx="2437777" cy="738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8554720" y="4050030"/>
            <a:ext cx="8267700" cy="27959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l"/>
            <a:r>
              <a:rPr lang="ru-RU" altLang="en-US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Основы </a:t>
            </a:r>
            <a:r>
              <a:rPr lang="en-US" altLang="en-US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Git</a:t>
            </a:r>
            <a:endParaRPr lang="en-US" altLang="en-US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4862810" cy="1755140"/>
          </a:xfrm>
        </p:spPr>
        <p:txBody>
          <a:bodyPr>
            <a:normAutofit/>
          </a:bodyPr>
          <a:lstStyle/>
          <a:p>
            <a:r>
              <a:rPr lang="ru-RU" altLang="en-US" dirty="0"/>
              <a:t>Проблема</a:t>
            </a:r>
            <a:endParaRPr lang="ru-RU" alt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pic>
        <p:nvPicPr>
          <p:cNvPr id="100" name="Изображение 99"/>
          <p:cNvPicPr/>
          <p:nvPr/>
        </p:nvPicPr>
        <p:blipFill>
          <a:blip r:embed="rId1"/>
          <a:stretch>
            <a:fillRect/>
          </a:stretch>
        </p:blipFill>
        <p:spPr>
          <a:xfrm>
            <a:off x="1570038" y="4409440"/>
            <a:ext cx="5201920" cy="52019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Изображение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8498840" y="3545205"/>
            <a:ext cx="7751445" cy="6956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Изображение 101"/>
          <p:cNvPicPr/>
          <p:nvPr/>
        </p:nvPicPr>
        <p:blipFill>
          <a:blip r:embed="rId3"/>
          <a:stretch>
            <a:fillRect/>
          </a:stretch>
        </p:blipFill>
        <p:spPr>
          <a:xfrm>
            <a:off x="16982758" y="3833495"/>
            <a:ext cx="1885950" cy="2419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Изображение 102"/>
          <p:cNvPicPr/>
          <p:nvPr/>
        </p:nvPicPr>
        <p:blipFill>
          <a:blip r:embed="rId3"/>
          <a:stretch>
            <a:fillRect/>
          </a:stretch>
        </p:blipFill>
        <p:spPr>
          <a:xfrm>
            <a:off x="20148233" y="3833495"/>
            <a:ext cx="1885950" cy="2419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Изображение 103"/>
          <p:cNvPicPr/>
          <p:nvPr/>
        </p:nvPicPr>
        <p:blipFill>
          <a:blip r:embed="rId3"/>
          <a:stretch>
            <a:fillRect/>
          </a:stretch>
        </p:blipFill>
        <p:spPr>
          <a:xfrm>
            <a:off x="16982758" y="7192010"/>
            <a:ext cx="1885950" cy="2419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Изображение 104"/>
          <p:cNvPicPr/>
          <p:nvPr/>
        </p:nvPicPr>
        <p:blipFill>
          <a:blip r:embed="rId3"/>
          <a:stretch>
            <a:fillRect/>
          </a:stretch>
        </p:blipFill>
        <p:spPr>
          <a:xfrm>
            <a:off x="20150773" y="7192010"/>
            <a:ext cx="1885950" cy="2419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" name="Текстовое поле 28"/>
          <p:cNvSpPr txBox="1"/>
          <p:nvPr/>
        </p:nvSpPr>
        <p:spPr>
          <a:xfrm>
            <a:off x="17320895" y="4121785"/>
            <a:ext cx="12103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>
                <a:latin typeface="Arial Black" panose="020B0A04020102020204" pitchFamily="34" charset="0"/>
                <a:cs typeface="Arial Black" panose="020B0A04020102020204" pitchFamily="34" charset="0"/>
              </a:rPr>
              <a:t>V1</a:t>
            </a:r>
            <a:endParaRPr lang="en-US" altLang="en-US" sz="36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0" name="Текстовое поле 29"/>
          <p:cNvSpPr txBox="1"/>
          <p:nvPr/>
        </p:nvSpPr>
        <p:spPr>
          <a:xfrm>
            <a:off x="20486370" y="4121785"/>
            <a:ext cx="12103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>
                <a:latin typeface="Arial Black" panose="020B0A04020102020204" pitchFamily="34" charset="0"/>
                <a:cs typeface="Arial Black" panose="020B0A04020102020204" pitchFamily="34" charset="0"/>
              </a:rPr>
              <a:t>V2</a:t>
            </a:r>
            <a:endParaRPr lang="en-US" altLang="en-US" sz="36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1" name="Текстовое поле 30"/>
          <p:cNvSpPr txBox="1"/>
          <p:nvPr/>
        </p:nvSpPr>
        <p:spPr>
          <a:xfrm>
            <a:off x="17320895" y="7433945"/>
            <a:ext cx="12103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>
                <a:latin typeface="Arial Black" panose="020B0A04020102020204" pitchFamily="34" charset="0"/>
                <a:cs typeface="Arial Black" panose="020B0A04020102020204" pitchFamily="34" charset="0"/>
              </a:rPr>
              <a:t>V3</a:t>
            </a:r>
            <a:endParaRPr lang="en-US" altLang="en-US" sz="36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2" name="Текстовое поле 31"/>
          <p:cNvSpPr txBox="1"/>
          <p:nvPr/>
        </p:nvSpPr>
        <p:spPr>
          <a:xfrm>
            <a:off x="20486370" y="7505700"/>
            <a:ext cx="12103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>
                <a:latin typeface="Arial Black" panose="020B0A04020102020204" pitchFamily="34" charset="0"/>
                <a:cs typeface="Arial Black" panose="020B0A04020102020204" pitchFamily="34" charset="0"/>
              </a:rPr>
              <a:t>V4</a:t>
            </a:r>
            <a:endParaRPr lang="en-US" altLang="en-US" sz="36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3" name="Текстовое поле 32"/>
          <p:cNvSpPr txBox="1"/>
          <p:nvPr/>
        </p:nvSpPr>
        <p:spPr>
          <a:xfrm>
            <a:off x="1498600" y="2623185"/>
            <a:ext cx="53435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54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разработчик</a:t>
            </a:r>
            <a:endParaRPr lang="ru-RU" altLang="en-US" sz="54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7" name="Текстовое поле 36"/>
          <p:cNvSpPr txBox="1"/>
          <p:nvPr/>
        </p:nvSpPr>
        <p:spPr>
          <a:xfrm>
            <a:off x="10868025" y="2623185"/>
            <a:ext cx="30060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5400" b="1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проект</a:t>
            </a:r>
            <a:endParaRPr lang="ru-RU" altLang="en-US" sz="5400" b="1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8" name="Текстовое поле 37"/>
          <p:cNvSpPr txBox="1"/>
          <p:nvPr/>
        </p:nvSpPr>
        <p:spPr>
          <a:xfrm>
            <a:off x="16979900" y="2623185"/>
            <a:ext cx="5133340" cy="857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ru-RU" altLang="en-US" sz="54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j-lt"/>
              </a:rPr>
              <a:t>версии кода</a:t>
            </a:r>
            <a:endParaRPr lang="ru-RU" altLang="en-US" sz="540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+mj-lt"/>
            </a:endParaRPr>
          </a:p>
        </p:txBody>
      </p:sp>
      <p:sp>
        <p:nvSpPr>
          <p:cNvPr id="39" name="Текстовое поле 38"/>
          <p:cNvSpPr txBox="1"/>
          <p:nvPr/>
        </p:nvSpPr>
        <p:spPr>
          <a:xfrm>
            <a:off x="4970145" y="10170160"/>
            <a:ext cx="1517840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7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j-lt"/>
              </a:rPr>
              <a:t>Как быть с версионированием?</a:t>
            </a:r>
            <a:endParaRPr lang="ru-RU" altLang="en-US" sz="720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7" grpId="1"/>
      <p:bldP spid="29" grpId="0"/>
      <p:bldP spid="30" grpId="0"/>
      <p:bldP spid="31" grpId="0"/>
      <p:bldP spid="32" grpId="0"/>
      <p:bldP spid="38" grpId="0"/>
      <p:bldP spid="29" grpId="1"/>
      <p:bldP spid="30" grpId="1"/>
      <p:bldP spid="31" grpId="1"/>
      <p:bldP spid="32" grpId="1"/>
      <p:bldP spid="38" grpId="1"/>
      <p:bldP spid="39" grpId="0"/>
      <p:bldP spid="3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000000" cy="1755140"/>
          </a:xfrm>
        </p:spPr>
        <p:txBody>
          <a:bodyPr>
            <a:normAutofit/>
          </a:bodyPr>
          <a:lstStyle/>
          <a:p>
            <a:r>
              <a:rPr lang="ru-RU" altLang="en-US" dirty="0"/>
              <a:t>Локальное хранилище</a:t>
            </a:r>
            <a:endParaRPr lang="ru-RU" alt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pic>
        <p:nvPicPr>
          <p:cNvPr id="100" name="Изображение 99"/>
          <p:cNvPicPr/>
          <p:nvPr/>
        </p:nvPicPr>
        <p:blipFill>
          <a:blip r:embed="rId1"/>
          <a:stretch>
            <a:fillRect/>
          </a:stretch>
        </p:blipFill>
        <p:spPr>
          <a:xfrm>
            <a:off x="1570038" y="4409440"/>
            <a:ext cx="5201920" cy="52019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" name="Изображение 105"/>
          <p:cNvPicPr/>
          <p:nvPr/>
        </p:nvPicPr>
        <p:blipFill>
          <a:blip r:embed="rId2"/>
          <a:stretch>
            <a:fillRect/>
          </a:stretch>
        </p:blipFill>
        <p:spPr>
          <a:xfrm>
            <a:off x="18347690" y="3545205"/>
            <a:ext cx="3980180" cy="40430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Изображение 2"/>
          <p:cNvPicPr/>
          <p:nvPr/>
        </p:nvPicPr>
        <p:blipFill>
          <a:blip r:embed="rId2"/>
          <a:stretch>
            <a:fillRect/>
          </a:stretch>
        </p:blipFill>
        <p:spPr>
          <a:xfrm>
            <a:off x="18352770" y="7361555"/>
            <a:ext cx="3980180" cy="40430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Изображение 4"/>
          <p:cNvPicPr/>
          <p:nvPr/>
        </p:nvPicPr>
        <p:blipFill>
          <a:blip r:embed="rId2"/>
          <a:stretch>
            <a:fillRect/>
          </a:stretch>
        </p:blipFill>
        <p:spPr>
          <a:xfrm>
            <a:off x="13738860" y="3473450"/>
            <a:ext cx="3980180" cy="40430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Изображение 5"/>
          <p:cNvPicPr/>
          <p:nvPr/>
        </p:nvPicPr>
        <p:blipFill>
          <a:blip r:embed="rId2"/>
          <a:stretch>
            <a:fillRect/>
          </a:stretch>
        </p:blipFill>
        <p:spPr>
          <a:xfrm>
            <a:off x="13738860" y="7361555"/>
            <a:ext cx="3980180" cy="40430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Текстовое поле 8"/>
          <p:cNvSpPr txBox="1"/>
          <p:nvPr/>
        </p:nvSpPr>
        <p:spPr>
          <a:xfrm>
            <a:off x="15123795" y="5777865"/>
            <a:ext cx="12103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4000">
                <a:latin typeface="+mj-lt"/>
                <a:cs typeface="+mj-lt"/>
              </a:rPr>
              <a:t>V1</a:t>
            </a:r>
            <a:endParaRPr lang="en-US" altLang="ru-RU" sz="4000">
              <a:latin typeface="+mj-lt"/>
              <a:cs typeface="+mj-lt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19737705" y="5904865"/>
            <a:ext cx="12103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4000">
                <a:latin typeface="+mj-lt"/>
                <a:cs typeface="+mj-lt"/>
              </a:rPr>
              <a:t>V2</a:t>
            </a:r>
            <a:endParaRPr lang="en-US" altLang="ru-RU" sz="4000">
              <a:latin typeface="+mj-lt"/>
              <a:cs typeface="+mj-lt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15250795" y="9594215"/>
            <a:ext cx="12103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4000">
                <a:latin typeface="+mj-lt"/>
                <a:cs typeface="+mj-lt"/>
              </a:rPr>
              <a:t>V3</a:t>
            </a:r>
            <a:endParaRPr lang="en-US" altLang="ru-RU" sz="4000">
              <a:latin typeface="+mj-lt"/>
              <a:cs typeface="+mj-lt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19737705" y="9665970"/>
            <a:ext cx="12103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4000">
                <a:latin typeface="+mj-lt"/>
                <a:cs typeface="+mj-lt"/>
              </a:rPr>
              <a:t>V4</a:t>
            </a:r>
            <a:endParaRPr lang="en-US" altLang="ru-RU" sz="4000">
              <a:latin typeface="+mj-lt"/>
              <a:cs typeface="+mj-lt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1498600" y="2623185"/>
            <a:ext cx="53435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54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разработчик</a:t>
            </a:r>
            <a:endParaRPr lang="ru-RU" altLang="en-US" sz="54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14458950" y="2623185"/>
            <a:ext cx="65786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54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версии проекта</a:t>
            </a:r>
            <a:endParaRPr lang="ru-RU" altLang="ru-RU" sz="54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4862810" cy="1755140"/>
          </a:xfrm>
        </p:spPr>
        <p:txBody>
          <a:bodyPr>
            <a:normAutofit/>
          </a:bodyPr>
          <a:lstStyle/>
          <a:p>
            <a:r>
              <a:rPr lang="ru-RU" altLang="ru-RU" dirty="0"/>
              <a:t>Локальная </a:t>
            </a:r>
            <a:r>
              <a:rPr lang="en-US" altLang="ru-RU" dirty="0"/>
              <a:t>VCS</a:t>
            </a:r>
            <a:endParaRPr lang="en-US" alt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pic>
        <p:nvPicPr>
          <p:cNvPr id="100" name="Изображение 99"/>
          <p:cNvPicPr/>
          <p:nvPr/>
        </p:nvPicPr>
        <p:blipFill>
          <a:blip r:embed="rId1"/>
          <a:stretch>
            <a:fillRect/>
          </a:stretch>
        </p:blipFill>
        <p:spPr>
          <a:xfrm>
            <a:off x="1570038" y="4409440"/>
            <a:ext cx="5201920" cy="5201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Текстовое поле 12"/>
          <p:cNvSpPr txBox="1"/>
          <p:nvPr/>
        </p:nvSpPr>
        <p:spPr>
          <a:xfrm>
            <a:off x="1498600" y="2623185"/>
            <a:ext cx="53435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54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разработчик</a:t>
            </a:r>
            <a:endParaRPr lang="ru-RU" altLang="en-US" sz="54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102" name="Изображение 101"/>
          <p:cNvPicPr/>
          <p:nvPr/>
        </p:nvPicPr>
        <p:blipFill>
          <a:blip r:embed="rId2"/>
          <a:stretch>
            <a:fillRect/>
          </a:stretch>
        </p:blipFill>
        <p:spPr>
          <a:xfrm>
            <a:off x="10642283" y="5849620"/>
            <a:ext cx="1885950" cy="2419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" name="Изображение 111"/>
          <p:cNvPicPr/>
          <p:nvPr/>
        </p:nvPicPr>
        <p:blipFill>
          <a:blip r:embed="rId3"/>
          <a:stretch>
            <a:fillRect/>
          </a:stretch>
        </p:blipFill>
        <p:spPr>
          <a:xfrm>
            <a:off x="15323185" y="3617595"/>
            <a:ext cx="7487285" cy="66662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Стрелка вправо 6"/>
          <p:cNvSpPr/>
          <p:nvPr/>
        </p:nvSpPr>
        <p:spPr>
          <a:xfrm>
            <a:off x="13235305" y="6858000"/>
            <a:ext cx="1569085" cy="485775"/>
          </a:xfrm>
          <a:prstGeom prst="rightArrow">
            <a:avLst>
              <a:gd name="adj1" fmla="val 34117"/>
              <a:gd name="adj2" fmla="val 93202"/>
            </a:avLst>
          </a:prstGeom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8851880" y="9090025"/>
            <a:ext cx="1329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4000">
                <a:latin typeface="Arial Black" panose="020B0A04020102020204" pitchFamily="34" charset="0"/>
                <a:cs typeface="Arial Black" panose="020B0A04020102020204" pitchFamily="34" charset="0"/>
              </a:rPr>
              <a:t>V1</a:t>
            </a:r>
            <a:endParaRPr lang="en-US" altLang="en-US" sz="4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18923635" y="8009890"/>
            <a:ext cx="11525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4000">
                <a:latin typeface="Arial Black" panose="020B0A04020102020204" pitchFamily="34" charset="0"/>
                <a:cs typeface="Arial Black" panose="020B0A04020102020204" pitchFamily="34" charset="0"/>
              </a:rPr>
              <a:t>V2</a:t>
            </a:r>
            <a:endParaRPr lang="en-US" altLang="en-US" sz="4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18851880" y="6929755"/>
            <a:ext cx="1329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4000">
                <a:latin typeface="Arial Black" panose="020B0A04020102020204" pitchFamily="34" charset="0"/>
                <a:cs typeface="Arial Black" panose="020B0A04020102020204" pitchFamily="34" charset="0"/>
              </a:rPr>
              <a:t>V3</a:t>
            </a:r>
            <a:endParaRPr lang="en-US" altLang="en-US" sz="4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7" name="Текстовое поле 16"/>
          <p:cNvSpPr txBox="1"/>
          <p:nvPr/>
        </p:nvSpPr>
        <p:spPr>
          <a:xfrm>
            <a:off x="8986520" y="2623185"/>
            <a:ext cx="53435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54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код</a:t>
            </a:r>
            <a:endParaRPr lang="ru-RU" altLang="ru-RU" sz="54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8" name="Текстовое поле 17"/>
          <p:cNvSpPr txBox="1"/>
          <p:nvPr/>
        </p:nvSpPr>
        <p:spPr>
          <a:xfrm>
            <a:off x="15755620" y="2623185"/>
            <a:ext cx="53435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ru-RU" sz="54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VCS</a:t>
            </a:r>
            <a:endParaRPr lang="en-US" altLang="ru-RU" sz="54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9" name="Текстовое поле 38"/>
          <p:cNvSpPr txBox="1"/>
          <p:nvPr/>
        </p:nvSpPr>
        <p:spPr>
          <a:xfrm>
            <a:off x="4970145" y="10170160"/>
            <a:ext cx="1517840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7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j-lt"/>
              </a:rPr>
              <a:t>А как быть если разработчик не один?</a:t>
            </a:r>
            <a:endParaRPr lang="ru-RU" altLang="en-US" sz="720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5" grpId="0"/>
      <p:bldP spid="15" grpId="1"/>
      <p:bldP spid="16" grpId="0"/>
      <p:bldP spid="16" grpId="1"/>
      <p:bldP spid="39" grpId="0"/>
      <p:bldP spid="3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902940" cy="1755140"/>
          </a:xfrm>
        </p:spPr>
        <p:txBody>
          <a:bodyPr>
            <a:normAutofit/>
          </a:bodyPr>
          <a:lstStyle/>
          <a:p>
            <a:r>
              <a:rPr lang="ru-RU" altLang="ru-RU" dirty="0"/>
              <a:t>Централизованные </a:t>
            </a:r>
            <a:r>
              <a:rPr lang="en-US" altLang="ru-RU" dirty="0"/>
              <a:t>VCS</a:t>
            </a:r>
            <a:endParaRPr lang="en-US" alt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pic>
        <p:nvPicPr>
          <p:cNvPr id="113" name="Изображение 112"/>
          <p:cNvPicPr/>
          <p:nvPr/>
        </p:nvPicPr>
        <p:blipFill>
          <a:blip r:embed="rId1"/>
          <a:stretch>
            <a:fillRect/>
          </a:stretch>
        </p:blipFill>
        <p:spPr>
          <a:xfrm>
            <a:off x="2362200" y="8395970"/>
            <a:ext cx="3674745" cy="35172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Изображение 6"/>
          <p:cNvPicPr/>
          <p:nvPr/>
        </p:nvPicPr>
        <p:blipFill>
          <a:blip r:embed="rId1"/>
          <a:stretch>
            <a:fillRect/>
          </a:stretch>
        </p:blipFill>
        <p:spPr>
          <a:xfrm>
            <a:off x="9346565" y="8395970"/>
            <a:ext cx="3674745" cy="35172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Изображение 7"/>
          <p:cNvPicPr/>
          <p:nvPr/>
        </p:nvPicPr>
        <p:blipFill>
          <a:blip r:embed="rId1"/>
          <a:stretch>
            <a:fillRect/>
          </a:stretch>
        </p:blipFill>
        <p:spPr>
          <a:xfrm>
            <a:off x="16403320" y="8395970"/>
            <a:ext cx="3674745" cy="35172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" name="Изображение 113"/>
          <p:cNvPicPr/>
          <p:nvPr/>
        </p:nvPicPr>
        <p:blipFill>
          <a:blip r:embed="rId2"/>
          <a:stretch>
            <a:fillRect/>
          </a:stretch>
        </p:blipFill>
        <p:spPr>
          <a:xfrm>
            <a:off x="8986520" y="2393315"/>
            <a:ext cx="4616450" cy="38334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Двойная стрелка вверх/вниз 15"/>
          <p:cNvSpPr/>
          <p:nvPr/>
        </p:nvSpPr>
        <p:spPr>
          <a:xfrm rot="3240000">
            <a:off x="5706745" y="5133340"/>
            <a:ext cx="360045" cy="4180840"/>
          </a:xfrm>
          <a:prstGeom prst="upDownArrow">
            <a:avLst>
              <a:gd name="adj1" fmla="val 42125"/>
              <a:gd name="adj2" fmla="val 162378"/>
            </a:avLst>
          </a:prstGeom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7" name="Двойная стрелка вверх/вниз 16"/>
          <p:cNvSpPr/>
          <p:nvPr/>
        </p:nvSpPr>
        <p:spPr>
          <a:xfrm>
            <a:off x="11219180" y="5868035"/>
            <a:ext cx="322580" cy="2729865"/>
          </a:xfrm>
          <a:prstGeom prst="upDownArrow">
            <a:avLst>
              <a:gd name="adj1" fmla="val 42125"/>
              <a:gd name="adj2" fmla="val 162378"/>
            </a:avLst>
          </a:prstGeom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8" name="Двойная стрелка вверх/вниз 17"/>
          <p:cNvSpPr/>
          <p:nvPr/>
        </p:nvSpPr>
        <p:spPr>
          <a:xfrm rot="18360000">
            <a:off x="16652240" y="5061585"/>
            <a:ext cx="360045" cy="4180840"/>
          </a:xfrm>
          <a:prstGeom prst="upDownArrow">
            <a:avLst>
              <a:gd name="adj1" fmla="val 42125"/>
              <a:gd name="adj2" fmla="val 162378"/>
            </a:avLst>
          </a:prstGeom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pic>
        <p:nvPicPr>
          <p:cNvPr id="102" name="Изображение 101"/>
          <p:cNvPicPr/>
          <p:nvPr/>
        </p:nvPicPr>
        <p:blipFill>
          <a:blip r:embed="rId3"/>
          <a:stretch>
            <a:fillRect/>
          </a:stretch>
        </p:blipFill>
        <p:spPr>
          <a:xfrm>
            <a:off x="4450080" y="6060440"/>
            <a:ext cx="942975" cy="11283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" name="Изображение 18"/>
          <p:cNvPicPr/>
          <p:nvPr/>
        </p:nvPicPr>
        <p:blipFill>
          <a:blip r:embed="rId3"/>
          <a:stretch>
            <a:fillRect/>
          </a:stretch>
        </p:blipFill>
        <p:spPr>
          <a:xfrm>
            <a:off x="10066655" y="6060440"/>
            <a:ext cx="942975" cy="11283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" name="Изображение 19"/>
          <p:cNvPicPr/>
          <p:nvPr/>
        </p:nvPicPr>
        <p:blipFill>
          <a:blip r:embed="rId3"/>
          <a:stretch>
            <a:fillRect/>
          </a:stretch>
        </p:blipFill>
        <p:spPr>
          <a:xfrm>
            <a:off x="17367885" y="6060440"/>
            <a:ext cx="942975" cy="11283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5" name="Изображение 114"/>
          <p:cNvPicPr/>
          <p:nvPr/>
        </p:nvPicPr>
        <p:blipFill>
          <a:blip r:embed="rId4"/>
          <a:stretch>
            <a:fillRect/>
          </a:stretch>
        </p:blipFill>
        <p:spPr>
          <a:xfrm>
            <a:off x="7906385" y="1169670"/>
            <a:ext cx="6397625" cy="63233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6" name="Изображение 115"/>
          <p:cNvPicPr/>
          <p:nvPr/>
        </p:nvPicPr>
        <p:blipFill>
          <a:blip r:embed="rId4"/>
          <a:stretch>
            <a:fillRect/>
          </a:stretch>
        </p:blipFill>
        <p:spPr>
          <a:xfrm rot="19320000">
            <a:off x="4873625" y="6409690"/>
            <a:ext cx="1732280" cy="17379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" name="Изображение 20"/>
          <p:cNvPicPr/>
          <p:nvPr/>
        </p:nvPicPr>
        <p:blipFill>
          <a:blip r:embed="rId4"/>
          <a:stretch>
            <a:fillRect/>
          </a:stretch>
        </p:blipFill>
        <p:spPr>
          <a:xfrm>
            <a:off x="10514330" y="6442710"/>
            <a:ext cx="1732280" cy="17379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" name="Изображение 21"/>
          <p:cNvPicPr/>
          <p:nvPr/>
        </p:nvPicPr>
        <p:blipFill>
          <a:blip r:embed="rId4"/>
          <a:stretch>
            <a:fillRect/>
          </a:stretch>
        </p:blipFill>
        <p:spPr>
          <a:xfrm rot="18840000">
            <a:off x="15900400" y="6207125"/>
            <a:ext cx="1732280" cy="17379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902940" cy="1755140"/>
          </a:xfrm>
        </p:spPr>
        <p:txBody>
          <a:bodyPr>
            <a:normAutofit/>
          </a:bodyPr>
          <a:lstStyle/>
          <a:p>
            <a:r>
              <a:rPr lang="ru-RU" altLang="ru-RU" dirty="0"/>
              <a:t>Распределенные </a:t>
            </a:r>
            <a:r>
              <a:rPr lang="en-US" altLang="ru-RU" dirty="0"/>
              <a:t>VCS</a:t>
            </a:r>
            <a:endParaRPr lang="en-US" alt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pic>
        <p:nvPicPr>
          <p:cNvPr id="113" name="Изображение 112"/>
          <p:cNvPicPr/>
          <p:nvPr/>
        </p:nvPicPr>
        <p:blipFill>
          <a:blip r:embed="rId1"/>
          <a:stretch>
            <a:fillRect/>
          </a:stretch>
        </p:blipFill>
        <p:spPr>
          <a:xfrm>
            <a:off x="2362200" y="8395970"/>
            <a:ext cx="3674745" cy="35172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Изображение 7"/>
          <p:cNvPicPr/>
          <p:nvPr/>
        </p:nvPicPr>
        <p:blipFill>
          <a:blip r:embed="rId1"/>
          <a:stretch>
            <a:fillRect/>
          </a:stretch>
        </p:blipFill>
        <p:spPr>
          <a:xfrm>
            <a:off x="15539085" y="8395970"/>
            <a:ext cx="3674745" cy="35172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" name="Изображение 113"/>
          <p:cNvPicPr/>
          <p:nvPr/>
        </p:nvPicPr>
        <p:blipFill>
          <a:blip r:embed="rId2"/>
          <a:stretch>
            <a:fillRect/>
          </a:stretch>
        </p:blipFill>
        <p:spPr>
          <a:xfrm>
            <a:off x="8986520" y="2393315"/>
            <a:ext cx="4616450" cy="38334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Двойная стрелка вверх/вниз 15"/>
          <p:cNvSpPr/>
          <p:nvPr/>
        </p:nvSpPr>
        <p:spPr>
          <a:xfrm rot="3240000">
            <a:off x="5706745" y="5133340"/>
            <a:ext cx="360045" cy="4180840"/>
          </a:xfrm>
          <a:prstGeom prst="upDownArrow">
            <a:avLst>
              <a:gd name="adj1" fmla="val 42125"/>
              <a:gd name="adj2" fmla="val 162378"/>
            </a:avLst>
          </a:prstGeom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8" name="Двойная стрелка вверх/вниз 17"/>
          <p:cNvSpPr/>
          <p:nvPr/>
        </p:nvSpPr>
        <p:spPr>
          <a:xfrm rot="18360000">
            <a:off x="16652240" y="5061585"/>
            <a:ext cx="360045" cy="4180840"/>
          </a:xfrm>
          <a:prstGeom prst="upDownArrow">
            <a:avLst>
              <a:gd name="adj1" fmla="val 42125"/>
              <a:gd name="adj2" fmla="val 162378"/>
            </a:avLst>
          </a:prstGeom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pic>
        <p:nvPicPr>
          <p:cNvPr id="102" name="Изображение 101"/>
          <p:cNvPicPr/>
          <p:nvPr/>
        </p:nvPicPr>
        <p:blipFill>
          <a:blip r:embed="rId3"/>
          <a:stretch>
            <a:fillRect/>
          </a:stretch>
        </p:blipFill>
        <p:spPr>
          <a:xfrm>
            <a:off x="4450080" y="6060440"/>
            <a:ext cx="942975" cy="11283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" name="Изображение 19"/>
          <p:cNvPicPr/>
          <p:nvPr/>
        </p:nvPicPr>
        <p:blipFill>
          <a:blip r:embed="rId3"/>
          <a:stretch>
            <a:fillRect/>
          </a:stretch>
        </p:blipFill>
        <p:spPr>
          <a:xfrm>
            <a:off x="17367885" y="6060440"/>
            <a:ext cx="942975" cy="11283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Изображение 2"/>
          <p:cNvPicPr/>
          <p:nvPr/>
        </p:nvPicPr>
        <p:blipFill>
          <a:blip r:embed="rId4"/>
          <a:stretch>
            <a:fillRect/>
          </a:stretch>
        </p:blipFill>
        <p:spPr>
          <a:xfrm>
            <a:off x="6538595" y="8874125"/>
            <a:ext cx="3097530" cy="33096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Изображение 4"/>
          <p:cNvPicPr/>
          <p:nvPr/>
        </p:nvPicPr>
        <p:blipFill>
          <a:blip r:embed="rId4"/>
          <a:stretch>
            <a:fillRect/>
          </a:stretch>
        </p:blipFill>
        <p:spPr>
          <a:xfrm>
            <a:off x="19571970" y="9001125"/>
            <a:ext cx="3097530" cy="33096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902940" cy="1755140"/>
          </a:xfrm>
        </p:spPr>
        <p:txBody>
          <a:bodyPr>
            <a:normAutofit/>
          </a:bodyPr>
          <a:lstStyle/>
          <a:p>
            <a:r>
              <a:rPr lang="en-US" dirty="0"/>
              <a:t>Git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pic>
        <p:nvPicPr>
          <p:cNvPr id="117" name="Изображение 116"/>
          <p:cNvPicPr/>
          <p:nvPr/>
        </p:nvPicPr>
        <p:blipFill>
          <a:blip r:embed="rId1"/>
          <a:stretch>
            <a:fillRect/>
          </a:stretch>
        </p:blipFill>
        <p:spPr>
          <a:xfrm>
            <a:off x="4378325" y="3617595"/>
            <a:ext cx="6759575" cy="66046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8" name="Изображение 117"/>
          <p:cNvPicPr/>
          <p:nvPr/>
        </p:nvPicPr>
        <p:blipFill>
          <a:blip r:embed="rId2"/>
          <a:stretch>
            <a:fillRect/>
          </a:stretch>
        </p:blipFill>
        <p:spPr>
          <a:xfrm>
            <a:off x="13019405" y="4481830"/>
            <a:ext cx="5169535" cy="47853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Текстовое поле 2"/>
          <p:cNvSpPr txBox="1"/>
          <p:nvPr/>
        </p:nvSpPr>
        <p:spPr>
          <a:xfrm>
            <a:off x="5010785" y="10818495"/>
            <a:ext cx="147212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7200" b="1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Git </a:t>
            </a:r>
            <a:r>
              <a:rPr lang="en-US" altLang="ru-RU" sz="7200" b="1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- </a:t>
            </a:r>
            <a:r>
              <a:rPr lang="ru-RU" altLang="en-US" sz="7200" b="1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распределенная </a:t>
            </a:r>
            <a:r>
              <a:rPr lang="en-US" altLang="en-US" sz="7200" b="1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VCS</a:t>
            </a:r>
            <a:endParaRPr lang="en-US" altLang="en-US" sz="7200" b="1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902940" cy="1755140"/>
          </a:xfrm>
        </p:spPr>
        <p:txBody>
          <a:bodyPr>
            <a:normAutofit/>
          </a:bodyPr>
          <a:lstStyle/>
          <a:p>
            <a:r>
              <a:rPr lang="ru-RU" altLang="ru-RU" dirty="0"/>
              <a:t>Репозиторий </a:t>
            </a:r>
            <a:r>
              <a:rPr lang="en-US" altLang="ru-RU" dirty="0"/>
              <a:t>Git</a:t>
            </a:r>
            <a:endParaRPr lang="en-US" alt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849630" y="5116830"/>
            <a:ext cx="20923885" cy="70783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00000"/>
              </a:lnSpc>
            </a:pPr>
            <a:r>
              <a:rPr lang="ru-RU" altLang="en-US" sz="60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Репозиторий Git - это хранилище изменений вашего проекта</a:t>
            </a:r>
            <a:endParaRPr lang="ru-RU" altLang="en-US" sz="60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endParaRPr lang="ru-RU" altLang="en-US" sz="60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8932525" cy="1755140"/>
          </a:xfrm>
        </p:spPr>
        <p:txBody>
          <a:bodyPr>
            <a:normAutofit/>
          </a:bodyPr>
          <a:lstStyle/>
          <a:p>
            <a:r>
              <a:rPr lang="ru-RU" dirty="0"/>
              <a:t>Структура проекта Git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3" name="Блок-схема: завершение 2"/>
          <p:cNvSpPr/>
          <p:nvPr/>
        </p:nvSpPr>
        <p:spPr>
          <a:xfrm>
            <a:off x="1929765" y="3113405"/>
            <a:ext cx="5040630" cy="1656715"/>
          </a:xfrm>
          <a:prstGeom prst="flowChartTermina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5" name="Блок-схема: завершение 4"/>
          <p:cNvSpPr/>
          <p:nvPr/>
        </p:nvSpPr>
        <p:spPr>
          <a:xfrm>
            <a:off x="9851390" y="3113405"/>
            <a:ext cx="5040630" cy="1656715"/>
          </a:xfrm>
          <a:prstGeom prst="flowChartTermina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Блок-схема: завершение 5"/>
          <p:cNvSpPr/>
          <p:nvPr/>
        </p:nvSpPr>
        <p:spPr>
          <a:xfrm>
            <a:off x="17771745" y="3113405"/>
            <a:ext cx="5040630" cy="1656715"/>
          </a:xfrm>
          <a:prstGeom prst="flowChartTermina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cxnSp>
        <p:nvCxnSpPr>
          <p:cNvPr id="7" name="Прямое соединение 6"/>
          <p:cNvCxnSpPr/>
          <p:nvPr/>
        </p:nvCxnSpPr>
        <p:spPr>
          <a:xfrm>
            <a:off x="20436205" y="4770120"/>
            <a:ext cx="635" cy="69126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Прямое соединение 8"/>
          <p:cNvCxnSpPr/>
          <p:nvPr/>
        </p:nvCxnSpPr>
        <p:spPr>
          <a:xfrm>
            <a:off x="12371705" y="4770120"/>
            <a:ext cx="635" cy="69126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Прямое соединение 9"/>
          <p:cNvCxnSpPr/>
          <p:nvPr/>
        </p:nvCxnSpPr>
        <p:spPr>
          <a:xfrm>
            <a:off x="4450080" y="4769485"/>
            <a:ext cx="635" cy="69126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Текстовое поле 10"/>
          <p:cNvSpPr txBox="1"/>
          <p:nvPr/>
        </p:nvSpPr>
        <p:spPr>
          <a:xfrm>
            <a:off x="2380615" y="3257550"/>
            <a:ext cx="41389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 Black" panose="020B0A04020102020204" pitchFamily="34" charset="0"/>
              </a:rPr>
              <a:t>Рабочая копия</a:t>
            </a:r>
            <a:endParaRPr lang="ru-RU" altLang="en-US" sz="4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10301605" y="3588385"/>
            <a:ext cx="41389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 Black" panose="020B0A04020102020204" pitchFamily="34" charset="0"/>
              </a:rPr>
              <a:t>Индекс</a:t>
            </a:r>
            <a:endParaRPr lang="ru-RU" altLang="en-US" sz="4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18275935" y="3257550"/>
            <a:ext cx="41389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ru-RU" sz="4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 Black" panose="020B0A04020102020204" pitchFamily="34" charset="0"/>
              </a:rPr>
              <a:t>.git/ (</a:t>
            </a:r>
            <a:r>
              <a:rPr lang="ru-RU" altLang="ru-RU" sz="4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 Black" panose="020B0A04020102020204" pitchFamily="34" charset="0"/>
              </a:rPr>
              <a:t>репозиторий</a:t>
            </a:r>
            <a:r>
              <a:rPr lang="en-US" altLang="ru-RU" sz="4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 Black" panose="020B0A04020102020204" pitchFamily="34" charset="0"/>
              </a:rPr>
              <a:t>)</a:t>
            </a:r>
            <a:endParaRPr lang="en-US" altLang="ru-RU" sz="4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5" name="Стрелка влево 14"/>
          <p:cNvSpPr/>
          <p:nvPr/>
        </p:nvSpPr>
        <p:spPr>
          <a:xfrm>
            <a:off x="4446270" y="4986020"/>
            <a:ext cx="15982315" cy="2050415"/>
          </a:xfrm>
          <a:prstGeom prst="leftArrow">
            <a:avLst>
              <a:gd name="adj1" fmla="val 50000"/>
              <a:gd name="adj2" fmla="val 10870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6" name="Стрелка вправо 15"/>
          <p:cNvSpPr/>
          <p:nvPr/>
        </p:nvSpPr>
        <p:spPr>
          <a:xfrm>
            <a:off x="4455160" y="7289800"/>
            <a:ext cx="7917180" cy="2049780"/>
          </a:xfrm>
          <a:prstGeom prst="rightArrow">
            <a:avLst>
              <a:gd name="adj1" fmla="val 50000"/>
              <a:gd name="adj2" fmla="val 10604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7" name="Стрелка вправо 16"/>
          <p:cNvSpPr/>
          <p:nvPr/>
        </p:nvSpPr>
        <p:spPr>
          <a:xfrm>
            <a:off x="12371705" y="9305925"/>
            <a:ext cx="8064500" cy="2049780"/>
          </a:xfrm>
          <a:prstGeom prst="rightArrow">
            <a:avLst>
              <a:gd name="adj1" fmla="val 50000"/>
              <a:gd name="adj2" fmla="val 10604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8" name="Текстовое поле 17"/>
          <p:cNvSpPr txBox="1"/>
          <p:nvPr/>
        </p:nvSpPr>
        <p:spPr>
          <a:xfrm>
            <a:off x="10526395" y="5633720"/>
            <a:ext cx="38347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4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 Black" panose="020B0A04020102020204" pitchFamily="34" charset="0"/>
              </a:rPr>
              <a:t>проверка</a:t>
            </a:r>
            <a:endParaRPr lang="ru-RU" altLang="ru-RU" sz="4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9" name="Текстовое поле 18"/>
          <p:cNvSpPr txBox="1"/>
          <p:nvPr/>
        </p:nvSpPr>
        <p:spPr>
          <a:xfrm>
            <a:off x="5026660" y="7938135"/>
            <a:ext cx="5130165" cy="702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4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индексирование</a:t>
            </a:r>
            <a:endParaRPr lang="ru-RU" altLang="en-US" sz="4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</p:txBody>
      </p:sp>
      <p:sp>
        <p:nvSpPr>
          <p:cNvPr id="21" name="Текстовое поле 20"/>
          <p:cNvSpPr txBox="1"/>
          <p:nvPr/>
        </p:nvSpPr>
        <p:spPr>
          <a:xfrm>
            <a:off x="13883640" y="9954260"/>
            <a:ext cx="38347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4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 Black" panose="020B0A04020102020204" pitchFamily="34" charset="0"/>
              </a:rPr>
              <a:t>коммит</a:t>
            </a:r>
            <a:endParaRPr lang="ru-RU" altLang="ru-RU" sz="4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  <p:bldP spid="15" grpId="1" animBg="1"/>
      <p:bldP spid="18" grpId="1"/>
      <p:bldP spid="16" grpId="0" animBg="1"/>
      <p:bldP spid="19" grpId="0"/>
      <p:bldP spid="16" grpId="1" animBg="1"/>
      <p:bldP spid="19" grpId="1"/>
      <p:bldP spid="21" grpId="0"/>
      <p:bldP spid="17" grpId="0" animBg="1"/>
      <p:bldP spid="21" grpId="1"/>
      <p:bldP spid="17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2715220" cy="1755140"/>
          </a:xfrm>
        </p:spPr>
        <p:txBody>
          <a:bodyPr>
            <a:normAutofit/>
          </a:bodyPr>
          <a:lstStyle/>
          <a:p>
            <a:r>
              <a:rPr lang="ru-RU" altLang="ru-RU" dirty="0"/>
              <a:t>Основы работы с репозиторием</a:t>
            </a:r>
            <a:endParaRPr lang="ru-RU" alt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5" name="Блок-схема: завершение 4"/>
          <p:cNvSpPr/>
          <p:nvPr/>
        </p:nvSpPr>
        <p:spPr>
          <a:xfrm>
            <a:off x="993775" y="2609850"/>
            <a:ext cx="5040630" cy="1656715"/>
          </a:xfrm>
          <a:prstGeom prst="flowChartTermina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Блок-схема: завершение 5"/>
          <p:cNvSpPr/>
          <p:nvPr/>
        </p:nvSpPr>
        <p:spPr>
          <a:xfrm>
            <a:off x="18708370" y="2609850"/>
            <a:ext cx="5040630" cy="1656715"/>
          </a:xfrm>
          <a:prstGeom prst="flowChartTerminator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Блок-схема: завершение 6"/>
          <p:cNvSpPr/>
          <p:nvPr/>
        </p:nvSpPr>
        <p:spPr>
          <a:xfrm>
            <a:off x="6898640" y="2609850"/>
            <a:ext cx="5040630" cy="1656715"/>
          </a:xfrm>
          <a:prstGeom prst="flowChartTermina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8" name="Блок-схема: завершение 7"/>
          <p:cNvSpPr/>
          <p:nvPr/>
        </p:nvSpPr>
        <p:spPr>
          <a:xfrm>
            <a:off x="12803505" y="2609850"/>
            <a:ext cx="5040630" cy="1656715"/>
          </a:xfrm>
          <a:prstGeom prst="flowChartTerminator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57250" y="3041650"/>
            <a:ext cx="5216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 Black" panose="020B0A04020102020204" pitchFamily="34" charset="0"/>
              </a:rPr>
              <a:t>Untracked</a:t>
            </a:r>
            <a:endParaRPr lang="ru-RU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7042785" y="3041650"/>
            <a:ext cx="47917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 Black" panose="020B0A04020102020204" pitchFamily="34" charset="0"/>
              </a:rPr>
              <a:t>Modified</a:t>
            </a:r>
            <a:endParaRPr lang="ru-RU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12947650" y="3113405"/>
            <a:ext cx="47917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 Black" panose="020B0A04020102020204" pitchFamily="34" charset="0"/>
              </a:rPr>
              <a:t>Added</a:t>
            </a:r>
            <a:endParaRPr lang="ru-RU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18851880" y="3113405"/>
            <a:ext cx="47917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 Black" panose="020B0A04020102020204" pitchFamily="34" charset="0"/>
              </a:rPr>
              <a:t>Commited</a:t>
            </a:r>
            <a:endParaRPr lang="ru-RU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cxnSp>
        <p:nvCxnSpPr>
          <p:cNvPr id="13" name="Прямое соединение 12"/>
          <p:cNvCxnSpPr/>
          <p:nvPr/>
        </p:nvCxnSpPr>
        <p:spPr>
          <a:xfrm>
            <a:off x="3512820" y="4266565"/>
            <a:ext cx="635" cy="69126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Прямое соединение 13"/>
          <p:cNvCxnSpPr/>
          <p:nvPr/>
        </p:nvCxnSpPr>
        <p:spPr>
          <a:xfrm>
            <a:off x="9418320" y="4265930"/>
            <a:ext cx="635" cy="69126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Прямое соединение 14"/>
          <p:cNvCxnSpPr/>
          <p:nvPr/>
        </p:nvCxnSpPr>
        <p:spPr>
          <a:xfrm>
            <a:off x="15323820" y="4266565"/>
            <a:ext cx="635" cy="69126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Прямое соединение 15"/>
          <p:cNvCxnSpPr/>
          <p:nvPr/>
        </p:nvCxnSpPr>
        <p:spPr>
          <a:xfrm>
            <a:off x="21229320" y="4265930"/>
            <a:ext cx="635" cy="69126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2" name="Изображение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2577783" y="4625975"/>
            <a:ext cx="1885950" cy="2419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Текстовое поле 16"/>
          <p:cNvSpPr txBox="1"/>
          <p:nvPr/>
        </p:nvSpPr>
        <p:spPr>
          <a:xfrm>
            <a:off x="2794635" y="4841875"/>
            <a:ext cx="103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4000">
                <a:latin typeface="Arial Black" panose="020B0A04020102020204" pitchFamily="34" charset="0"/>
                <a:cs typeface="Arial Black" panose="020B0A04020102020204" pitchFamily="34" charset="0"/>
              </a:rPr>
              <a:t>A1</a:t>
            </a:r>
            <a:endParaRPr lang="en-US" altLang="en-US" sz="4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18" name="Изображение 17"/>
          <p:cNvPicPr/>
          <p:nvPr/>
        </p:nvPicPr>
        <p:blipFill>
          <a:blip r:embed="rId1"/>
          <a:stretch>
            <a:fillRect/>
          </a:stretch>
        </p:blipFill>
        <p:spPr>
          <a:xfrm>
            <a:off x="14413548" y="4626610"/>
            <a:ext cx="1885950" cy="2419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Текстовое поле 18"/>
          <p:cNvSpPr txBox="1"/>
          <p:nvPr/>
        </p:nvSpPr>
        <p:spPr>
          <a:xfrm>
            <a:off x="14603095" y="4807585"/>
            <a:ext cx="103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4000">
                <a:latin typeface="Arial Black" panose="020B0A04020102020204" pitchFamily="34" charset="0"/>
                <a:cs typeface="Arial Black" panose="020B0A04020102020204" pitchFamily="34" charset="0"/>
              </a:rPr>
              <a:t>A1</a:t>
            </a:r>
            <a:endParaRPr lang="en-US" altLang="en-US" sz="4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0" name="Стрелка вправо 19"/>
          <p:cNvSpPr/>
          <p:nvPr/>
        </p:nvSpPr>
        <p:spPr>
          <a:xfrm>
            <a:off x="4627880" y="5346700"/>
            <a:ext cx="9711690" cy="1212850"/>
          </a:xfrm>
          <a:prstGeom prst="rightArrow">
            <a:avLst>
              <a:gd name="adj1" fmla="val 50000"/>
              <a:gd name="adj2" fmla="val 11471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charset="0"/>
                <a:cs typeface="Consolas" panose="020B0609020204030204" charset="0"/>
              </a:rPr>
              <a:t>git add</a:t>
            </a:r>
            <a:endParaRPr lang="en-US" altLang="ru-RU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charset="0"/>
              <a:cs typeface="Consolas" panose="020B0609020204030204" charset="0"/>
            </a:endParaRPr>
          </a:p>
        </p:txBody>
      </p:sp>
      <p:pic>
        <p:nvPicPr>
          <p:cNvPr id="22" name="Изображение 21"/>
          <p:cNvPicPr/>
          <p:nvPr/>
        </p:nvPicPr>
        <p:blipFill>
          <a:blip r:embed="rId1"/>
          <a:stretch>
            <a:fillRect/>
          </a:stretch>
        </p:blipFill>
        <p:spPr>
          <a:xfrm>
            <a:off x="20409218" y="4625975"/>
            <a:ext cx="1885950" cy="2419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" name="Текстовое поле 22"/>
          <p:cNvSpPr txBox="1"/>
          <p:nvPr/>
        </p:nvSpPr>
        <p:spPr>
          <a:xfrm>
            <a:off x="20626070" y="4841875"/>
            <a:ext cx="103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4000">
                <a:latin typeface="Arial Black" panose="020B0A04020102020204" pitchFamily="34" charset="0"/>
                <a:cs typeface="Arial Black" panose="020B0A04020102020204" pitchFamily="34" charset="0"/>
              </a:rPr>
              <a:t>A1</a:t>
            </a:r>
            <a:endParaRPr lang="en-US" altLang="en-US" sz="4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27" name="Изображение 26"/>
          <p:cNvPicPr/>
          <p:nvPr/>
        </p:nvPicPr>
        <p:blipFill>
          <a:blip r:embed="rId1"/>
          <a:stretch>
            <a:fillRect/>
          </a:stretch>
        </p:blipFill>
        <p:spPr>
          <a:xfrm>
            <a:off x="8475663" y="8009890"/>
            <a:ext cx="1885950" cy="2419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" name="Текстовое поле 27"/>
          <p:cNvSpPr txBox="1"/>
          <p:nvPr/>
        </p:nvSpPr>
        <p:spPr>
          <a:xfrm>
            <a:off x="8691880" y="8226425"/>
            <a:ext cx="103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4000">
                <a:latin typeface="Arial Black" panose="020B0A04020102020204" pitchFamily="34" charset="0"/>
                <a:cs typeface="Arial Black" panose="020B0A04020102020204" pitchFamily="34" charset="0"/>
              </a:rPr>
              <a:t>B</a:t>
            </a:r>
            <a:r>
              <a:rPr lang="ru-RU" altLang="en-US" sz="4000">
                <a:latin typeface="Arial Black" panose="020B0A04020102020204" pitchFamily="34" charset="0"/>
                <a:cs typeface="Arial Black" panose="020B0A04020102020204" pitchFamily="34" charset="0"/>
              </a:rPr>
              <a:t>2</a:t>
            </a:r>
            <a:endParaRPr lang="ru-RU" altLang="en-US" sz="4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9" name="Стрелка вправо 28"/>
          <p:cNvSpPr/>
          <p:nvPr/>
        </p:nvSpPr>
        <p:spPr>
          <a:xfrm>
            <a:off x="10632440" y="8658225"/>
            <a:ext cx="3787140" cy="1212850"/>
          </a:xfrm>
          <a:prstGeom prst="rightArrow">
            <a:avLst>
              <a:gd name="adj1" fmla="val 50000"/>
              <a:gd name="adj2" fmla="val 11471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charset="0"/>
                <a:cs typeface="Consolas" panose="020B0609020204030204" charset="0"/>
              </a:rPr>
              <a:t>git add</a:t>
            </a:r>
            <a:endParaRPr lang="en-US" altLang="ru-RU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charset="0"/>
              <a:cs typeface="Consolas" panose="020B0609020204030204" charset="0"/>
            </a:endParaRPr>
          </a:p>
        </p:txBody>
      </p:sp>
      <p:pic>
        <p:nvPicPr>
          <p:cNvPr id="30" name="Изображение 29"/>
          <p:cNvPicPr/>
          <p:nvPr/>
        </p:nvPicPr>
        <p:blipFill>
          <a:blip r:embed="rId1"/>
          <a:stretch>
            <a:fillRect/>
          </a:stretch>
        </p:blipFill>
        <p:spPr>
          <a:xfrm>
            <a:off x="14534833" y="8009890"/>
            <a:ext cx="1885950" cy="2419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" name="Текстовое поле 30"/>
          <p:cNvSpPr txBox="1"/>
          <p:nvPr/>
        </p:nvSpPr>
        <p:spPr>
          <a:xfrm>
            <a:off x="14751685" y="8225790"/>
            <a:ext cx="103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4000">
                <a:latin typeface="Arial Black" panose="020B0A04020102020204" pitchFamily="34" charset="0"/>
                <a:cs typeface="Arial Black" panose="020B0A04020102020204" pitchFamily="34" charset="0"/>
              </a:rPr>
              <a:t>B</a:t>
            </a:r>
            <a:r>
              <a:rPr lang="ru-RU" altLang="en-US" sz="4000">
                <a:latin typeface="Arial Black" panose="020B0A04020102020204" pitchFamily="34" charset="0"/>
                <a:cs typeface="Arial Black" panose="020B0A04020102020204" pitchFamily="34" charset="0"/>
              </a:rPr>
              <a:t>2</a:t>
            </a:r>
            <a:endParaRPr lang="ru-RU" altLang="en-US" sz="4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32" name="Изображение 31"/>
          <p:cNvPicPr/>
          <p:nvPr/>
        </p:nvPicPr>
        <p:blipFill>
          <a:blip r:embed="rId1"/>
          <a:stretch>
            <a:fillRect/>
          </a:stretch>
        </p:blipFill>
        <p:spPr>
          <a:xfrm>
            <a:off x="20430173" y="8005445"/>
            <a:ext cx="1885950" cy="2419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" name="Текстовое поле 32"/>
          <p:cNvSpPr txBox="1"/>
          <p:nvPr/>
        </p:nvSpPr>
        <p:spPr>
          <a:xfrm>
            <a:off x="20647025" y="8298180"/>
            <a:ext cx="103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4000">
                <a:latin typeface="Arial Black" panose="020B0A04020102020204" pitchFamily="34" charset="0"/>
                <a:cs typeface="Arial Black" panose="020B0A04020102020204" pitchFamily="34" charset="0"/>
              </a:rPr>
              <a:t>B1</a:t>
            </a:r>
            <a:endParaRPr lang="en-US" altLang="ru-RU" sz="4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4" name="Стрелка вправо 33"/>
          <p:cNvSpPr/>
          <p:nvPr/>
        </p:nvSpPr>
        <p:spPr>
          <a:xfrm>
            <a:off x="16532225" y="8729980"/>
            <a:ext cx="3787140" cy="1212850"/>
          </a:xfrm>
          <a:prstGeom prst="rightArrow">
            <a:avLst>
              <a:gd name="adj1" fmla="val 50000"/>
              <a:gd name="adj2" fmla="val 11471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charset="0"/>
                <a:cs typeface="Consolas" panose="020B0609020204030204" charset="0"/>
              </a:rPr>
              <a:t>git commit</a:t>
            </a:r>
            <a:endParaRPr lang="ru-RU" alt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1" name="Стрелка вправо 20"/>
          <p:cNvSpPr/>
          <p:nvPr/>
        </p:nvSpPr>
        <p:spPr>
          <a:xfrm>
            <a:off x="16520160" y="5273675"/>
            <a:ext cx="3787140" cy="1212850"/>
          </a:xfrm>
          <a:prstGeom prst="rightArrow">
            <a:avLst>
              <a:gd name="adj1" fmla="val 50000"/>
              <a:gd name="adj2" fmla="val 11471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charset="0"/>
                <a:cs typeface="Consolas" panose="020B0609020204030204" charset="0"/>
              </a:rPr>
              <a:t>git commit</a:t>
            </a:r>
            <a:endParaRPr lang="ru-RU" alt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charset="0"/>
              <a:cs typeface="Consolas" panose="020B0609020204030204" charset="0"/>
            </a:endParaRPr>
          </a:p>
        </p:txBody>
      </p:sp>
      <p:pic>
        <p:nvPicPr>
          <p:cNvPr id="35" name="Изображение 34"/>
          <p:cNvPicPr/>
          <p:nvPr/>
        </p:nvPicPr>
        <p:blipFill>
          <a:blip r:embed="rId1"/>
          <a:stretch>
            <a:fillRect/>
          </a:stretch>
        </p:blipFill>
        <p:spPr>
          <a:xfrm>
            <a:off x="20430173" y="8013700"/>
            <a:ext cx="1885950" cy="2419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" name="Текстовое поле 35"/>
          <p:cNvSpPr txBox="1"/>
          <p:nvPr/>
        </p:nvSpPr>
        <p:spPr>
          <a:xfrm>
            <a:off x="20647025" y="8229600"/>
            <a:ext cx="103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4000">
                <a:latin typeface="Arial Black" panose="020B0A04020102020204" pitchFamily="34" charset="0"/>
                <a:cs typeface="Arial Black" panose="020B0A04020102020204" pitchFamily="34" charset="0"/>
              </a:rPr>
              <a:t>B</a:t>
            </a:r>
            <a:r>
              <a:rPr lang="ru-RU" altLang="en-US" sz="4000">
                <a:latin typeface="Arial Black" panose="020B0A04020102020204" pitchFamily="34" charset="0"/>
                <a:cs typeface="Arial Black" panose="020B0A04020102020204" pitchFamily="34" charset="0"/>
              </a:rPr>
              <a:t>2</a:t>
            </a:r>
            <a:endParaRPr lang="ru-RU" altLang="en-US" sz="4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9" grpId="0"/>
      <p:bldP spid="20" grpId="1" animBg="1"/>
      <p:bldP spid="19" grpId="1"/>
      <p:bldP spid="21" grpId="0" animBg="1"/>
      <p:bldP spid="23" grpId="0"/>
      <p:bldP spid="21" grpId="1" animBg="1"/>
      <p:bldP spid="23" grpId="1"/>
      <p:bldP spid="29" grpId="0" animBg="1"/>
      <p:bldP spid="31" grpId="0"/>
      <p:bldP spid="29" grpId="1" animBg="1"/>
      <p:bldP spid="31" grpId="1"/>
      <p:bldP spid="34" grpId="0" animBg="1"/>
      <p:bldP spid="36" grpId="0"/>
      <p:bldP spid="34" grpId="1" animBg="1"/>
      <p:bldP spid="36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902940" cy="1755140"/>
          </a:xfrm>
        </p:spPr>
        <p:txBody>
          <a:bodyPr>
            <a:normAutofit/>
          </a:bodyPr>
          <a:lstStyle/>
          <a:p>
            <a:r>
              <a:rPr lang="ru-RU" altLang="ru-RU" dirty="0"/>
              <a:t>Как </a:t>
            </a:r>
            <a:r>
              <a:rPr lang="en-US" altLang="ru-RU" dirty="0"/>
              <a:t>Git </a:t>
            </a:r>
            <a:r>
              <a:rPr lang="ru-RU" altLang="ru-RU" dirty="0"/>
              <a:t>хранит данные?</a:t>
            </a:r>
            <a:endParaRPr lang="ru-RU" alt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pic>
        <p:nvPicPr>
          <p:cNvPr id="18" name="Изображение 17"/>
          <p:cNvPicPr/>
          <p:nvPr/>
        </p:nvPicPr>
        <p:blipFill>
          <a:blip r:embed="rId1"/>
          <a:stretch>
            <a:fillRect/>
          </a:stretch>
        </p:blipFill>
        <p:spPr>
          <a:xfrm>
            <a:off x="1871663" y="6137910"/>
            <a:ext cx="1885950" cy="2419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Текстовое поле 18"/>
          <p:cNvSpPr txBox="1"/>
          <p:nvPr/>
        </p:nvSpPr>
        <p:spPr>
          <a:xfrm>
            <a:off x="2088515" y="6353810"/>
            <a:ext cx="103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4000">
                <a:latin typeface="Arial Black" panose="020B0A04020102020204" pitchFamily="34" charset="0"/>
                <a:cs typeface="Arial Black" panose="020B0A04020102020204" pitchFamily="34" charset="0"/>
              </a:rPr>
              <a:t>A1</a:t>
            </a:r>
            <a:endParaRPr lang="en-US" altLang="en-US" sz="4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27" name="Изображение 26"/>
          <p:cNvPicPr/>
          <p:nvPr/>
        </p:nvPicPr>
        <p:blipFill>
          <a:blip r:embed="rId1"/>
          <a:stretch>
            <a:fillRect/>
          </a:stretch>
        </p:blipFill>
        <p:spPr>
          <a:xfrm>
            <a:off x="4233863" y="6137910"/>
            <a:ext cx="1885950" cy="2419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" name="Текстовое поле 27"/>
          <p:cNvSpPr txBox="1"/>
          <p:nvPr/>
        </p:nvSpPr>
        <p:spPr>
          <a:xfrm>
            <a:off x="4450715" y="6353810"/>
            <a:ext cx="103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4000">
                <a:latin typeface="Arial Black" panose="020B0A04020102020204" pitchFamily="34" charset="0"/>
                <a:cs typeface="Arial Black" panose="020B0A04020102020204" pitchFamily="34" charset="0"/>
              </a:rPr>
              <a:t>A</a:t>
            </a:r>
            <a:r>
              <a:rPr lang="ru-RU" altLang="en-US" sz="4000">
                <a:latin typeface="Arial Black" panose="020B0A04020102020204" pitchFamily="34" charset="0"/>
                <a:cs typeface="Arial Black" panose="020B0A04020102020204" pitchFamily="34" charset="0"/>
              </a:rPr>
              <a:t>2</a:t>
            </a:r>
            <a:endParaRPr lang="ru-RU" altLang="en-US" sz="4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3" name="Изображение 2"/>
          <p:cNvPicPr/>
          <p:nvPr/>
        </p:nvPicPr>
        <p:blipFill>
          <a:blip r:embed="rId2"/>
        </p:blipFill>
        <p:spPr>
          <a:xfrm>
            <a:off x="9274810" y="4409440"/>
            <a:ext cx="2585720" cy="2697480"/>
          </a:xfrm>
          <a:prstGeom prst="rect">
            <a:avLst/>
          </a:prstGeom>
        </p:spPr>
      </p:pic>
      <p:pic>
        <p:nvPicPr>
          <p:cNvPr id="12" name="Изображение 11"/>
          <p:cNvPicPr/>
          <p:nvPr/>
        </p:nvPicPr>
        <p:blipFill>
          <a:blip r:embed="rId2"/>
        </p:blipFill>
        <p:spPr>
          <a:xfrm>
            <a:off x="11650980" y="4409440"/>
            <a:ext cx="2585720" cy="2697480"/>
          </a:xfrm>
          <a:prstGeom prst="rect">
            <a:avLst/>
          </a:prstGeom>
        </p:spPr>
      </p:pic>
      <p:sp>
        <p:nvSpPr>
          <p:cNvPr id="20" name="Текстовое поле 19"/>
          <p:cNvSpPr txBox="1"/>
          <p:nvPr/>
        </p:nvSpPr>
        <p:spPr>
          <a:xfrm>
            <a:off x="9779000" y="4687570"/>
            <a:ext cx="103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4000">
                <a:latin typeface="Arial Black" panose="020B0A04020102020204" pitchFamily="34" charset="0"/>
                <a:cs typeface="Arial Black" panose="020B0A04020102020204" pitchFamily="34" charset="0"/>
              </a:rPr>
              <a:t>A1</a:t>
            </a:r>
            <a:endParaRPr lang="en-US" altLang="en-US" sz="4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1" name="Текстовое поле 20"/>
          <p:cNvSpPr txBox="1"/>
          <p:nvPr/>
        </p:nvSpPr>
        <p:spPr>
          <a:xfrm>
            <a:off x="12155170" y="4687570"/>
            <a:ext cx="103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4000">
                <a:latin typeface="Arial Black" panose="020B0A04020102020204" pitchFamily="34" charset="0"/>
                <a:cs typeface="Arial Black" panose="020B0A04020102020204" pitchFamily="34" charset="0"/>
              </a:rPr>
              <a:t>A</a:t>
            </a:r>
            <a:r>
              <a:rPr lang="ru-RU" altLang="en-US" sz="4000">
                <a:latin typeface="Arial Black" panose="020B0A04020102020204" pitchFamily="34" charset="0"/>
                <a:cs typeface="Arial Black" panose="020B0A04020102020204" pitchFamily="34" charset="0"/>
              </a:rPr>
              <a:t>2</a:t>
            </a:r>
            <a:endParaRPr lang="ru-RU" altLang="en-US" sz="40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22" name="Изображение 21"/>
          <p:cNvPicPr/>
          <p:nvPr/>
        </p:nvPicPr>
        <p:blipFill>
          <a:blip r:embed="rId3"/>
        </p:blipFill>
        <p:spPr>
          <a:xfrm>
            <a:off x="18491835" y="8298180"/>
            <a:ext cx="2519680" cy="3042920"/>
          </a:xfrm>
          <a:prstGeom prst="rect">
            <a:avLst/>
          </a:prstGeom>
        </p:spPr>
      </p:pic>
      <p:pic>
        <p:nvPicPr>
          <p:cNvPr id="23" name="Изображение 22"/>
          <p:cNvPicPr/>
          <p:nvPr/>
        </p:nvPicPr>
        <p:blipFill>
          <a:blip r:embed="rId4"/>
        </p:blipFill>
        <p:spPr>
          <a:xfrm>
            <a:off x="9507855" y="8992553"/>
            <a:ext cx="2143125" cy="2143125"/>
          </a:xfrm>
          <a:prstGeom prst="rect">
            <a:avLst/>
          </a:prstGeom>
        </p:spPr>
      </p:pic>
      <p:pic>
        <p:nvPicPr>
          <p:cNvPr id="24" name="Изображение 23"/>
          <p:cNvPicPr/>
          <p:nvPr/>
        </p:nvPicPr>
        <p:blipFill>
          <a:blip r:embed="rId5"/>
          <a:stretch>
            <a:fillRect/>
          </a:stretch>
        </p:blipFill>
        <p:spPr>
          <a:xfrm>
            <a:off x="18203545" y="4057015"/>
            <a:ext cx="3097530" cy="33096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" name="Изображение 25"/>
          <p:cNvPicPr/>
          <p:nvPr/>
        </p:nvPicPr>
        <p:blipFill>
          <a:blip r:embed="rId4"/>
        </p:blipFill>
        <p:spPr>
          <a:xfrm>
            <a:off x="11939271" y="8992553"/>
            <a:ext cx="2143125" cy="2143125"/>
          </a:xfrm>
          <a:prstGeom prst="rect">
            <a:avLst/>
          </a:prstGeom>
        </p:spPr>
      </p:pic>
      <p:sp>
        <p:nvSpPr>
          <p:cNvPr id="30" name="Текстовое поле 29"/>
          <p:cNvSpPr txBox="1"/>
          <p:nvPr/>
        </p:nvSpPr>
        <p:spPr>
          <a:xfrm>
            <a:off x="1642110" y="8853805"/>
            <a:ext cx="47066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000" b="1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файлы с кодом</a:t>
            </a:r>
            <a:endParaRPr lang="ru-RU" altLang="en-US" sz="4000" b="1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1" name="Текстовое поле 30"/>
          <p:cNvSpPr txBox="1"/>
          <p:nvPr/>
        </p:nvSpPr>
        <p:spPr>
          <a:xfrm>
            <a:off x="9418955" y="3545840"/>
            <a:ext cx="47066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000" b="1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блобы</a:t>
            </a:r>
            <a:endParaRPr lang="ru-RU" altLang="en-US" sz="4000" b="1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2" name="Текстовое поле 31"/>
          <p:cNvSpPr txBox="1"/>
          <p:nvPr/>
        </p:nvSpPr>
        <p:spPr>
          <a:xfrm>
            <a:off x="9507855" y="11178540"/>
            <a:ext cx="47066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000" b="1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хеш-суммы</a:t>
            </a:r>
            <a:endParaRPr lang="ru-RU" altLang="en-US" sz="4000" b="1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3" name="Текстовое поле 32"/>
          <p:cNvSpPr txBox="1"/>
          <p:nvPr/>
        </p:nvSpPr>
        <p:spPr>
          <a:xfrm>
            <a:off x="16979900" y="3257550"/>
            <a:ext cx="47066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4000" b="1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.git</a:t>
            </a:r>
            <a:endParaRPr lang="en-US" altLang="en-US" sz="4000" b="1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4" name="Текстовое поле 33"/>
          <p:cNvSpPr txBox="1"/>
          <p:nvPr/>
        </p:nvSpPr>
        <p:spPr>
          <a:xfrm>
            <a:off x="17267555" y="11341100"/>
            <a:ext cx="47066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000" b="1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индекс</a:t>
            </a:r>
            <a:endParaRPr lang="ru-RU" altLang="en-US" sz="4000" b="1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5" name="Текстовое поле 34"/>
          <p:cNvSpPr txBox="1"/>
          <p:nvPr/>
        </p:nvSpPr>
        <p:spPr>
          <a:xfrm>
            <a:off x="993775" y="2465705"/>
            <a:ext cx="81680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git add A1 A2</a:t>
            </a:r>
            <a:endParaRPr lang="en-US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6" name="Стрелка вправо 35"/>
          <p:cNvSpPr/>
          <p:nvPr/>
        </p:nvSpPr>
        <p:spPr>
          <a:xfrm rot="20220000">
            <a:off x="6393180" y="5985510"/>
            <a:ext cx="3069590" cy="619125"/>
          </a:xfrm>
          <a:prstGeom prst="rightArrow">
            <a:avLst>
              <a:gd name="adj1" fmla="val 50000"/>
              <a:gd name="adj2" fmla="val 11471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ru-RU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7" name="Стрелка вправо 36"/>
          <p:cNvSpPr/>
          <p:nvPr/>
        </p:nvSpPr>
        <p:spPr>
          <a:xfrm rot="1260000">
            <a:off x="6345555" y="8683625"/>
            <a:ext cx="3069590" cy="619125"/>
          </a:xfrm>
          <a:prstGeom prst="rightArrow">
            <a:avLst>
              <a:gd name="adj1" fmla="val 50000"/>
              <a:gd name="adj2" fmla="val 11471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ru-RU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8" name="Стрелка вправо 37"/>
          <p:cNvSpPr/>
          <p:nvPr/>
        </p:nvSpPr>
        <p:spPr>
          <a:xfrm>
            <a:off x="14531340" y="5346065"/>
            <a:ext cx="3069590" cy="619125"/>
          </a:xfrm>
          <a:prstGeom prst="rightArrow">
            <a:avLst>
              <a:gd name="adj1" fmla="val 50000"/>
              <a:gd name="adj2" fmla="val 11471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ru-RU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9" name="Стрелка вправо 38"/>
          <p:cNvSpPr/>
          <p:nvPr/>
        </p:nvSpPr>
        <p:spPr>
          <a:xfrm>
            <a:off x="14658340" y="9378315"/>
            <a:ext cx="3069590" cy="619125"/>
          </a:xfrm>
          <a:prstGeom prst="rightArrow">
            <a:avLst>
              <a:gd name="adj1" fmla="val 50000"/>
              <a:gd name="adj2" fmla="val 11471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ru-RU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5" grpId="1"/>
      <p:bldP spid="36" grpId="0" animBg="1"/>
      <p:bldP spid="37" grpId="0" animBg="1"/>
      <p:bldP spid="32" grpId="0"/>
      <p:bldP spid="20" grpId="0"/>
      <p:bldP spid="21" grpId="0"/>
      <p:bldP spid="31" grpId="0"/>
      <p:bldP spid="36" grpId="1" animBg="1"/>
      <p:bldP spid="37" grpId="1" animBg="1"/>
      <p:bldP spid="32" grpId="1"/>
      <p:bldP spid="20" grpId="1"/>
      <p:bldP spid="21" grpId="1"/>
      <p:bldP spid="31" grpId="1"/>
      <p:bldP spid="39" grpId="0" animBg="1"/>
      <p:bldP spid="38" grpId="0" animBg="1"/>
      <p:bldP spid="34" grpId="0"/>
      <p:bldP spid="33" grpId="0"/>
      <p:bldP spid="39" grpId="1" animBg="1"/>
      <p:bldP spid="38" grpId="1" animBg="1"/>
      <p:bldP spid="34" grpId="1"/>
      <p:bldP spid="3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902940" cy="1755140"/>
          </a:xfrm>
        </p:spPr>
        <p:txBody>
          <a:bodyPr>
            <a:normAutofit/>
          </a:bodyPr>
          <a:lstStyle/>
          <a:p>
            <a:r>
              <a:rPr lang="ru-RU" altLang="ru-RU" dirty="0"/>
              <a:t>Как </a:t>
            </a:r>
            <a:r>
              <a:rPr lang="en-US" altLang="ru-RU" dirty="0"/>
              <a:t>Git </a:t>
            </a:r>
            <a:r>
              <a:rPr lang="ru-RU" altLang="ru-RU" dirty="0"/>
              <a:t>хранит данные?</a:t>
            </a:r>
            <a:endParaRPr lang="ru-RU" alt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pic>
        <p:nvPicPr>
          <p:cNvPr id="24" name="Изображение 23"/>
          <p:cNvPicPr/>
          <p:nvPr/>
        </p:nvPicPr>
        <p:blipFill>
          <a:blip r:embed="rId1"/>
          <a:stretch>
            <a:fillRect/>
          </a:stretch>
        </p:blipFill>
        <p:spPr>
          <a:xfrm>
            <a:off x="19211925" y="5922010"/>
            <a:ext cx="3097530" cy="33096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" name="Текстовое поле 32"/>
          <p:cNvSpPr txBox="1"/>
          <p:nvPr/>
        </p:nvSpPr>
        <p:spPr>
          <a:xfrm>
            <a:off x="19067780" y="9450070"/>
            <a:ext cx="28543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4000" b="1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.git</a:t>
            </a:r>
            <a:endParaRPr lang="en-US" altLang="en-US" sz="4000" b="1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35" name="Текстовое поле 34"/>
          <p:cNvSpPr txBox="1"/>
          <p:nvPr/>
        </p:nvSpPr>
        <p:spPr>
          <a:xfrm>
            <a:off x="993775" y="2465705"/>
            <a:ext cx="81680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git commit</a:t>
            </a:r>
            <a:endParaRPr lang="en-US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pic>
        <p:nvPicPr>
          <p:cNvPr id="5" name="Изображение 4"/>
          <p:cNvPicPr/>
          <p:nvPr/>
        </p:nvPicPr>
        <p:blipFill>
          <a:blip r:embed="rId2"/>
          <a:stretch>
            <a:fillRect/>
          </a:stretch>
        </p:blipFill>
        <p:spPr>
          <a:xfrm>
            <a:off x="1209675" y="5346065"/>
            <a:ext cx="4627880" cy="4152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Блок-схема: альтернативный процесс 10"/>
          <p:cNvSpPr/>
          <p:nvPr/>
        </p:nvSpPr>
        <p:spPr>
          <a:xfrm>
            <a:off x="7690485" y="6066155"/>
            <a:ext cx="3464560" cy="2419350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92ec2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ctr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blob: 5b1d3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ctr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blob: 911e7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</p:txBody>
      </p:sp>
      <p:sp>
        <p:nvSpPr>
          <p:cNvPr id="17" name="Блок-схема: альтернативный процесс 16"/>
          <p:cNvSpPr/>
          <p:nvPr/>
        </p:nvSpPr>
        <p:spPr>
          <a:xfrm>
            <a:off x="12947015" y="5561965"/>
            <a:ext cx="4437380" cy="3419475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98ca9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tree: 92ec2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parent: null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author: user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commiter: user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</p:txBody>
      </p:sp>
      <p:sp>
        <p:nvSpPr>
          <p:cNvPr id="6" name="Стрелка вправо 5"/>
          <p:cNvSpPr/>
          <p:nvPr/>
        </p:nvSpPr>
        <p:spPr>
          <a:xfrm>
            <a:off x="6034405" y="7112635"/>
            <a:ext cx="1475105" cy="619125"/>
          </a:xfrm>
          <a:prstGeom prst="rightArrow">
            <a:avLst>
              <a:gd name="adj1" fmla="val 50000"/>
              <a:gd name="adj2" fmla="val 11471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ru-RU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Стрелка вправо 6"/>
          <p:cNvSpPr/>
          <p:nvPr/>
        </p:nvSpPr>
        <p:spPr>
          <a:xfrm>
            <a:off x="11362690" y="7112635"/>
            <a:ext cx="1475105" cy="619125"/>
          </a:xfrm>
          <a:prstGeom prst="rightArrow">
            <a:avLst>
              <a:gd name="adj1" fmla="val 50000"/>
              <a:gd name="adj2" fmla="val 11471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ru-RU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Стрелка вправо 7"/>
          <p:cNvSpPr/>
          <p:nvPr/>
        </p:nvSpPr>
        <p:spPr>
          <a:xfrm>
            <a:off x="17627600" y="7112635"/>
            <a:ext cx="1475105" cy="619125"/>
          </a:xfrm>
          <a:prstGeom prst="rightArrow">
            <a:avLst>
              <a:gd name="adj1" fmla="val 50000"/>
              <a:gd name="adj2" fmla="val 11471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ru-RU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209675" y="9090025"/>
            <a:ext cx="381889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4000" b="1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каталоги проекта</a:t>
            </a:r>
            <a:endParaRPr lang="ru-RU" altLang="ru-RU" sz="4000" b="1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7509510" y="9090025"/>
            <a:ext cx="381889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4000" b="1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объект дерева</a:t>
            </a:r>
            <a:endParaRPr lang="ru-RU" altLang="ru-RU" sz="4000" b="1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13256260" y="9162415"/>
            <a:ext cx="381889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4000" b="1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объект коммита</a:t>
            </a:r>
            <a:endParaRPr lang="ru-RU" altLang="ru-RU" sz="4000" b="1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5" grpId="1"/>
      <p:bldP spid="6" grpId="0" animBg="1"/>
      <p:bldP spid="11" grpId="0" bldLvl="0" animBg="1"/>
      <p:bldP spid="13" grpId="0"/>
      <p:bldP spid="6" grpId="1" animBg="1"/>
      <p:bldP spid="11" grpId="1" animBg="1"/>
      <p:bldP spid="13" grpId="1"/>
      <p:bldP spid="7" grpId="0" animBg="1"/>
      <p:bldP spid="17" grpId="0" bldLvl="0" animBg="1"/>
      <p:bldP spid="14" grpId="0"/>
      <p:bldP spid="7" grpId="1" animBg="1"/>
      <p:bldP spid="17" grpId="1" animBg="1"/>
      <p:bldP spid="14" grpId="1"/>
      <p:bldP spid="8" grpId="0" animBg="1"/>
      <p:bldP spid="33" grpId="0"/>
      <p:bldP spid="8" grpId="1" animBg="1"/>
      <p:bldP spid="3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042630" cy="1755140"/>
          </a:xfrm>
        </p:spPr>
        <p:txBody>
          <a:bodyPr>
            <a:normAutofit/>
          </a:bodyPr>
          <a:lstStyle/>
          <a:p>
            <a:r>
              <a:rPr lang="ru-RU" dirty="0"/>
              <a:t>Структура объекта комммита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3" name="Блок-схема: альтернативный процесс 2"/>
          <p:cNvSpPr/>
          <p:nvPr/>
        </p:nvSpPr>
        <p:spPr>
          <a:xfrm>
            <a:off x="1353820" y="5533390"/>
            <a:ext cx="6508750" cy="3573780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98ca9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tree: 92ec2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parent: null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author: user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commiter: user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message: “Add A1 A2”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</p:txBody>
      </p:sp>
      <p:sp>
        <p:nvSpPr>
          <p:cNvPr id="10" name="Блок-схема: альтернативный процесс 9"/>
          <p:cNvSpPr/>
          <p:nvPr/>
        </p:nvSpPr>
        <p:spPr>
          <a:xfrm>
            <a:off x="10139045" y="6066155"/>
            <a:ext cx="4613910" cy="2508885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92ec2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ctr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blob: 5b1d3</a:t>
            </a:r>
            <a:r>
              <a:rPr lang="ru-RU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 </a:t>
            </a:r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A1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ctr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blob: 911e7 A2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</p:txBody>
      </p:sp>
      <p:sp>
        <p:nvSpPr>
          <p:cNvPr id="12" name="Блок-схема: альтернативный процесс 11"/>
          <p:cNvSpPr/>
          <p:nvPr/>
        </p:nvSpPr>
        <p:spPr>
          <a:xfrm>
            <a:off x="17339310" y="3113405"/>
            <a:ext cx="4613910" cy="250888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5b1d3</a:t>
            </a:r>
            <a:r>
              <a:rPr lang="ru-RU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 </a:t>
            </a:r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A1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</p:txBody>
      </p:sp>
      <p:sp>
        <p:nvSpPr>
          <p:cNvPr id="15" name="Блок-схема: альтернативный процесс 14"/>
          <p:cNvSpPr/>
          <p:nvPr/>
        </p:nvSpPr>
        <p:spPr>
          <a:xfrm>
            <a:off x="17339310" y="9018270"/>
            <a:ext cx="4613910" cy="250888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911e7 A2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</p:txBody>
      </p:sp>
      <p:cxnSp>
        <p:nvCxnSpPr>
          <p:cNvPr id="16" name="Прямая со стрелкой 15"/>
          <p:cNvCxnSpPr>
            <a:stCxn id="3" idx="3"/>
            <a:endCxn id="10" idx="1"/>
          </p:cNvCxnSpPr>
          <p:nvPr/>
        </p:nvCxnSpPr>
        <p:spPr>
          <a:xfrm>
            <a:off x="7862570" y="7320280"/>
            <a:ext cx="227647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>
            <a:stCxn id="10" idx="3"/>
            <a:endCxn id="12" idx="1"/>
          </p:cNvCxnSpPr>
          <p:nvPr/>
        </p:nvCxnSpPr>
        <p:spPr>
          <a:xfrm flipV="1">
            <a:off x="14752955" y="4368165"/>
            <a:ext cx="2586355" cy="29527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stCxn id="10" idx="3"/>
            <a:endCxn id="15" idx="1"/>
          </p:cNvCxnSpPr>
          <p:nvPr/>
        </p:nvCxnSpPr>
        <p:spPr>
          <a:xfrm>
            <a:off x="14752955" y="7320915"/>
            <a:ext cx="2586355" cy="29521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902940" cy="1755140"/>
          </a:xfrm>
        </p:spPr>
        <p:txBody>
          <a:bodyPr>
            <a:normAutofit/>
          </a:bodyPr>
          <a:lstStyle/>
          <a:p>
            <a:r>
              <a:rPr lang="ru-RU" altLang="ru-RU" dirty="0"/>
              <a:t>Что такое ветка?</a:t>
            </a:r>
            <a:endParaRPr lang="ru-RU" alt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7" name="Блок-схема: альтернативный процесс 16"/>
          <p:cNvSpPr/>
          <p:nvPr/>
        </p:nvSpPr>
        <p:spPr>
          <a:xfrm>
            <a:off x="1838325" y="2361565"/>
            <a:ext cx="4437380" cy="4095750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98ca9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tree: 92ec2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parent: null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author: user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commiter: user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</p:txBody>
      </p:sp>
      <p:sp>
        <p:nvSpPr>
          <p:cNvPr id="22" name="Блок-схема: завершение 21"/>
          <p:cNvSpPr/>
          <p:nvPr/>
        </p:nvSpPr>
        <p:spPr>
          <a:xfrm>
            <a:off x="1536700" y="7146290"/>
            <a:ext cx="5040630" cy="1656715"/>
          </a:xfrm>
          <a:prstGeom prst="flowChartTermina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 Black" panose="020B0A04020102020204" pitchFamily="34" charset="0"/>
              </a:rPr>
              <a:t>master</a:t>
            </a:r>
            <a:endParaRPr lang="en-US" altLang="ru-RU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cxnSp>
        <p:nvCxnSpPr>
          <p:cNvPr id="23" name="Прямая со стрелкой 22"/>
          <p:cNvCxnSpPr>
            <a:stCxn id="22" idx="0"/>
          </p:cNvCxnSpPr>
          <p:nvPr/>
        </p:nvCxnSpPr>
        <p:spPr>
          <a:xfrm flipV="1">
            <a:off x="4057015" y="6426200"/>
            <a:ext cx="19050" cy="7200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902940" cy="1755140"/>
          </a:xfrm>
        </p:spPr>
        <p:txBody>
          <a:bodyPr>
            <a:normAutofit/>
          </a:bodyPr>
          <a:lstStyle/>
          <a:p>
            <a:r>
              <a:rPr lang="ru-RU" altLang="ru-RU" dirty="0"/>
              <a:t>Что такое ветка?</a:t>
            </a:r>
            <a:endParaRPr lang="ru-RU" alt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7" name="Блок-схема: альтернативный процесс 16"/>
          <p:cNvSpPr/>
          <p:nvPr/>
        </p:nvSpPr>
        <p:spPr>
          <a:xfrm>
            <a:off x="1838325" y="2361565"/>
            <a:ext cx="4437380" cy="4095750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98ca9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tree: 92ec2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parent: null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author: user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commiter: user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</p:txBody>
      </p:sp>
      <p:sp>
        <p:nvSpPr>
          <p:cNvPr id="3" name="Блок-схема: альтернативный процесс 2"/>
          <p:cNvSpPr/>
          <p:nvPr/>
        </p:nvSpPr>
        <p:spPr>
          <a:xfrm>
            <a:off x="10119360" y="2393315"/>
            <a:ext cx="4437380" cy="4095750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34ac2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tree: 184ca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parent: </a:t>
            </a:r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  <a:sym typeface="+mn-ea"/>
              </a:rPr>
              <a:t>98ca9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author: user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commiter: user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</p:txBody>
      </p:sp>
      <p:cxnSp>
        <p:nvCxnSpPr>
          <p:cNvPr id="20" name="Прямая со стрелкой 19"/>
          <p:cNvCxnSpPr>
            <a:stCxn id="3" idx="1"/>
            <a:endCxn id="17" idx="3"/>
          </p:cNvCxnSpPr>
          <p:nvPr/>
        </p:nvCxnSpPr>
        <p:spPr>
          <a:xfrm flipH="1" flipV="1">
            <a:off x="6275705" y="4409440"/>
            <a:ext cx="3843655" cy="317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Блок-схема: завершение 4"/>
          <p:cNvSpPr/>
          <p:nvPr/>
        </p:nvSpPr>
        <p:spPr>
          <a:xfrm>
            <a:off x="9850755" y="7218045"/>
            <a:ext cx="5040630" cy="1656715"/>
          </a:xfrm>
          <a:prstGeom prst="flowChartTermina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 Black" panose="020B0A04020102020204" pitchFamily="34" charset="0"/>
              </a:rPr>
              <a:t>master</a:t>
            </a:r>
            <a:endParaRPr lang="en-US" altLang="ru-RU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cxnSp>
        <p:nvCxnSpPr>
          <p:cNvPr id="6" name="Прямая со стрелкой 5"/>
          <p:cNvCxnSpPr>
            <a:stCxn id="5" idx="0"/>
          </p:cNvCxnSpPr>
          <p:nvPr/>
        </p:nvCxnSpPr>
        <p:spPr>
          <a:xfrm flipV="1">
            <a:off x="12371070" y="6497955"/>
            <a:ext cx="19050" cy="7200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902940" cy="1755140"/>
          </a:xfrm>
        </p:spPr>
        <p:txBody>
          <a:bodyPr>
            <a:normAutofit/>
          </a:bodyPr>
          <a:lstStyle/>
          <a:p>
            <a:r>
              <a:rPr lang="ru-RU" altLang="ru-RU" dirty="0"/>
              <a:t>Что такое ветка?</a:t>
            </a:r>
            <a:endParaRPr lang="ru-RU" alt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rmAutofit/>
          </a:bodyPr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7" name="Блок-схема: альтернативный процесс 16"/>
          <p:cNvSpPr/>
          <p:nvPr/>
        </p:nvSpPr>
        <p:spPr>
          <a:xfrm>
            <a:off x="1838325" y="2361565"/>
            <a:ext cx="4437380" cy="4095750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98ca9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tree: 92ec2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parent: null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author: user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commiter: user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</p:txBody>
      </p:sp>
      <p:sp>
        <p:nvSpPr>
          <p:cNvPr id="3" name="Блок-схема: альтернативный процесс 2"/>
          <p:cNvSpPr/>
          <p:nvPr/>
        </p:nvSpPr>
        <p:spPr>
          <a:xfrm>
            <a:off x="10119360" y="2393315"/>
            <a:ext cx="4437380" cy="4095750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34ac2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tree: 184ca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parent: </a:t>
            </a:r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  <a:sym typeface="+mn-ea"/>
              </a:rPr>
              <a:t>98ca9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author: user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commiter: user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</p:txBody>
      </p:sp>
      <p:sp>
        <p:nvSpPr>
          <p:cNvPr id="12" name="Блок-схема: альтернативный процесс 11"/>
          <p:cNvSpPr/>
          <p:nvPr/>
        </p:nvSpPr>
        <p:spPr>
          <a:xfrm>
            <a:off x="18457545" y="2393315"/>
            <a:ext cx="4437380" cy="4095750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f30ab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tree: 0de24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parent: 34ac2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author: user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  <a:p>
            <a:pPr algn="l"/>
            <a:r>
              <a:rPr lang="en-US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j-lt"/>
              </a:rPr>
              <a:t>commiter: user</a:t>
            </a:r>
            <a:endParaRPr lang="en-US" alt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j-lt"/>
            </a:endParaRPr>
          </a:p>
        </p:txBody>
      </p:sp>
      <p:cxnSp>
        <p:nvCxnSpPr>
          <p:cNvPr id="20" name="Прямая со стрелкой 19"/>
          <p:cNvCxnSpPr>
            <a:stCxn id="3" idx="1"/>
            <a:endCxn id="17" idx="3"/>
          </p:cNvCxnSpPr>
          <p:nvPr/>
        </p:nvCxnSpPr>
        <p:spPr>
          <a:xfrm flipH="1" flipV="1">
            <a:off x="6275705" y="4409440"/>
            <a:ext cx="3843655" cy="317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stCxn id="12" idx="1"/>
            <a:endCxn id="3" idx="3"/>
          </p:cNvCxnSpPr>
          <p:nvPr/>
        </p:nvCxnSpPr>
        <p:spPr>
          <a:xfrm flipH="1">
            <a:off x="14556740" y="4441190"/>
            <a:ext cx="3900805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Блок-схема: завершение 4"/>
          <p:cNvSpPr/>
          <p:nvPr/>
        </p:nvSpPr>
        <p:spPr>
          <a:xfrm>
            <a:off x="18155920" y="7218045"/>
            <a:ext cx="5040630" cy="1656715"/>
          </a:xfrm>
          <a:prstGeom prst="flowChartTermina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 Black" panose="020B0A04020102020204" pitchFamily="34" charset="0"/>
              </a:rPr>
              <a:t>master</a:t>
            </a:r>
            <a:endParaRPr lang="en-US" altLang="ru-RU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cxnSp>
        <p:nvCxnSpPr>
          <p:cNvPr id="6" name="Прямая со стрелкой 5"/>
          <p:cNvCxnSpPr>
            <a:stCxn id="5" idx="0"/>
          </p:cNvCxnSpPr>
          <p:nvPr/>
        </p:nvCxnSpPr>
        <p:spPr>
          <a:xfrm flipV="1">
            <a:off x="20676235" y="6497955"/>
            <a:ext cx="19050" cy="7200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Блок-схема: завершение 6"/>
          <p:cNvSpPr/>
          <p:nvPr/>
        </p:nvSpPr>
        <p:spPr>
          <a:xfrm>
            <a:off x="18155920" y="9594215"/>
            <a:ext cx="5040630" cy="1656715"/>
          </a:xfrm>
          <a:prstGeom prst="flowChartTermina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 Black" panose="020B0A04020102020204" pitchFamily="34" charset="0"/>
              </a:rPr>
              <a:t>HEAD</a:t>
            </a:r>
            <a:endParaRPr lang="en-US" alt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cxnSp>
        <p:nvCxnSpPr>
          <p:cNvPr id="8" name="Прямая со стрелкой 7"/>
          <p:cNvCxnSpPr>
            <a:stCxn id="7" idx="0"/>
          </p:cNvCxnSpPr>
          <p:nvPr/>
        </p:nvCxnSpPr>
        <p:spPr>
          <a:xfrm flipV="1">
            <a:off x="20676235" y="8874125"/>
            <a:ext cx="19050" cy="7200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5746115" y="4050030"/>
            <a:ext cx="15993110" cy="27959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l"/>
            <a:r>
              <a:rPr 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Практическая часть</a:t>
            </a:r>
            <a:endParaRPr 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-light-2">
  <a:themeElements>
    <a:clrScheme name="МФТИ">
      <a:dk1>
        <a:srgbClr val="000000"/>
      </a:dk1>
      <a:lt1>
        <a:srgbClr val="FFFFFF"/>
      </a:lt1>
      <a:dk2>
        <a:srgbClr val="AFABAB"/>
      </a:dk2>
      <a:lt2>
        <a:srgbClr val="E7E6E6"/>
      </a:lt2>
      <a:accent1>
        <a:srgbClr val="0070C0"/>
      </a:accent1>
      <a:accent2>
        <a:srgbClr val="00B0F0"/>
      </a:accent2>
      <a:accent3>
        <a:srgbClr val="C09D29"/>
      </a:accent3>
      <a:accent4>
        <a:srgbClr val="7CB683"/>
      </a:accent4>
      <a:accent5>
        <a:srgbClr val="A05900"/>
      </a:accent5>
      <a:accent6>
        <a:srgbClr val="7030A0"/>
      </a:accent6>
      <a:hlink>
        <a:srgbClr val="0070C0"/>
      </a:hlink>
      <a:folHlink>
        <a:srgbClr val="7030A0"/>
      </a:folHlink>
    </a:clrScheme>
    <a:fontScheme name="МФТИ">
      <a:majorFont>
        <a:latin typeface="Arial Black"/>
        <a:ea typeface=""/>
        <a:cs typeface=""/>
      </a:majorFont>
      <a:minorFont>
        <a:latin typeface="Arial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1394</Words>
  <Application>WPS Presentation</Application>
  <PresentationFormat>Произвольный</PresentationFormat>
  <Paragraphs>256</Paragraphs>
  <Slides>18</Slides>
  <Notes>10</Notes>
  <HiddenSlides>0</HiddenSlides>
  <MMClips>2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SimSun</vt:lpstr>
      <vt:lpstr>Wingdings</vt:lpstr>
      <vt:lpstr>Arial</vt:lpstr>
      <vt:lpstr>Wingdings</vt:lpstr>
      <vt:lpstr>Segoe UI</vt:lpstr>
      <vt:lpstr>Arial Black</vt:lpstr>
      <vt:lpstr>Tahoma</vt:lpstr>
      <vt:lpstr>Franklin Gothic Book</vt:lpstr>
      <vt:lpstr>Consolas</vt:lpstr>
      <vt:lpstr>Microsoft YaHei</vt:lpstr>
      <vt:lpstr>Arial Unicode MS</vt:lpstr>
      <vt:lpstr>simple-light-2</vt:lpstr>
      <vt:lpstr>Введение в Git</vt:lpstr>
      <vt:lpstr>Основы Git</vt:lpstr>
      <vt:lpstr>Проблема</vt:lpstr>
      <vt:lpstr>Локальное хранилище</vt:lpstr>
      <vt:lpstr>Локальная VCS</vt:lpstr>
      <vt:lpstr>Централизованные VCS</vt:lpstr>
      <vt:lpstr>Распределенные VCS</vt:lpstr>
      <vt:lpstr>Git</vt:lpstr>
      <vt:lpstr>Репозиторий Git</vt:lpstr>
      <vt:lpstr>Структура проекта Git</vt:lpstr>
      <vt:lpstr>Основы работы с репозиторием</vt:lpstr>
      <vt:lpstr>Как Git хранит данные?</vt:lpstr>
      <vt:lpstr>Как Git хранит данные?</vt:lpstr>
      <vt:lpstr>Структура объекта комммита</vt:lpstr>
      <vt:lpstr>Что такое ветка?</vt:lpstr>
      <vt:lpstr>Что такое ветка?</vt:lpstr>
      <vt:lpstr>Что такое ветка?</vt:lpstr>
      <vt:lpstr>Практическая часть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MIPT / Phystech</dc:title>
  <dc:creator>Marina</dc:creator>
  <cp:lastModifiedBy>Michail</cp:lastModifiedBy>
  <cp:revision>484</cp:revision>
  <dcterms:created xsi:type="dcterms:W3CDTF">2023-09-07T15:23:00Z</dcterms:created>
  <dcterms:modified xsi:type="dcterms:W3CDTF">2026-09-07T08:31:40Z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939A7A65A70D42D3AFBDFCFAB1B7D962_12</vt:lpwstr>
  </property>
  <property fmtid="{D5CDD505-2E9C-101B-9397-08002B2CF9AE}" pid="3" name="KSOProductBuildVer">
    <vt:lpwstr>1049-12.1.0.28485</vt:lpwstr>
  </property>
</Properties>
</file>